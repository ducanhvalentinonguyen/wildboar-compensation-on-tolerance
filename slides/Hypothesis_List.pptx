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502" r:id="rId2"/>
    <p:sldId id="504" r:id="rId3"/>
    <p:sldId id="503" r:id="rId4"/>
    <p:sldId id="505" r:id="rId5"/>
    <p:sldId id="506" r:id="rId6"/>
    <p:sldId id="510" r:id="rId7"/>
    <p:sldId id="514" r:id="rId8"/>
    <p:sldId id="515" r:id="rId9"/>
    <p:sldId id="513" r:id="rId10"/>
    <p:sldId id="512" r:id="rId1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76"/>
  </p:normalViewPr>
  <p:slideViewPr>
    <p:cSldViewPr snapToGrid="0">
      <p:cViewPr>
        <p:scale>
          <a:sx n="131" d="100"/>
          <a:sy n="131" d="100"/>
        </p:scale>
        <p:origin x="79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20410-AD09-CD4B-B1E6-2E32F440C221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46ED5-96AA-5C46-A306-59F10331EB0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367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A5C2F-9C01-5ADC-8B46-D15EF1BDA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1D263-71DE-8812-4616-AC5319446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F4384-075F-39C8-BAC5-3B9DE2CDD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A8C2F-F64C-9F15-F8FE-07CBB30A3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FFEF7-0715-F544-99E3-CA2203F35FBF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42974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1ED19-2835-919F-EFF1-D0B136920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226D1-4A94-A4F5-3848-2E1496BAE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02CCF-7641-A427-7D00-7D80EB623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277DC-4F0A-32F3-92C9-92EBE282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3AB76-1A6B-51E2-9B9E-B4E7F5D6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696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79ED-9792-4AF4-BB5B-F9F1E877C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08BEF-13A5-B18D-1AC7-33FE4A141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18E27-5004-3163-84B8-4C0021954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846FF-290F-1D57-8EE8-6484F033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63A09-2285-CC0B-017E-98FC75D0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605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AC4C-6929-2BAD-35E5-EF8BA74FC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28D3A-C7E7-08EB-6A41-6B62A721C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D7AAD-BA3D-6A15-5C39-E41B47C22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56AA1-1EE9-77A8-4A18-92E7B635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C4006-4694-B4E8-2329-8C965248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72303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AD2EE-A49B-40DD-DC9E-2C6EC233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279F4-33A2-ABEC-A9C1-16E888E99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A1F00-87AD-2610-0EC8-2A355043F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3D88B-5527-B110-6EA0-6F57AF93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3BED7-9E42-A816-C365-DD1B1E4B6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69B39-BBAC-17A0-10DA-FAFD45080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770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81D9-52AB-2C1F-914A-1FBE9B827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59811-764E-D8A4-11C6-572C4956D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24E67-E8DB-58C8-6BF2-2376535B7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8DA80-793C-5CAC-1E75-A591971D5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5DF5A-1984-DDC1-A601-9CE558A98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4E78D3-6CFD-0E0E-C9ED-BE1BB5E7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5CE07-C607-DE7D-0DCC-BC76AF4A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DF21-0A88-FDA5-ABD1-4E960C87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19804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260F-2701-B8F1-2E69-B7E324C5C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2E8FC-7858-B063-CE00-4B8DBF79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18B60-E438-8143-1EE4-D368D774F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D7A2F-1EA5-4B22-B3C9-A44016CC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7919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115EB-CE05-06BE-85DE-53ED9511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36CDF-3E3F-DC73-2D0D-F20FE57D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193D9-B577-2E8C-4753-9CE8168F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000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EA3F-6274-A9FF-060A-1F74F3C94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E52C6-D6F0-B03F-2E6E-779A216E5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728CC-FD61-55DE-F75C-98B5F460E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D9DA2-5CE9-DA39-A8CF-D4BE7F2E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CEE3C-1D0C-073F-6509-EFF89918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6E9F7-9E70-C2EF-AFBF-3FBC9095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692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5432-B605-3648-A6D3-A102299A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03EFD-372C-7BD5-E0FE-F555CE38BB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B5AE4-0C16-3579-D00D-87B467811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E868B-3A52-7C64-2E86-F047C6E3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34A67-15AE-6AEE-0F42-1F008CC8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76290-AEED-D904-E1C9-3A75988E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11749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E1D8-2C31-BBEC-072E-25F2F003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D53F7-BB98-2093-FBA7-BAF3B2D3B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80235-14F4-9088-6B1D-E5AF1ADBC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8D3DD-9801-9BCC-8A52-F5BE8D3F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B9114-FB3D-FD05-42AA-8146F1122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12246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FD52C1-A190-54A6-656A-2E3D5A8B4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027A2-84B1-7C97-779F-A20B70257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A3378-3B6E-362A-08CE-E263B2D21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2B58F-3DAE-5E7E-4C17-26CF4091D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029E8-30DD-5859-8F9D-38E54429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65386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B1625F-524D-E8E8-8CB2-5B6CB1D5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1F276-92E8-D943-3F0F-6C7A7DCF0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ED65F-644F-2410-8E58-7E3EED7DF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4C373-5E2F-8C4D-B57A-AD1C3BE0925C}" type="datetimeFigureOut">
              <a:rPr lang="en-DE" smtClean="0"/>
              <a:t>09.10.26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41170-F476-2096-0295-9D1361B50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5EF32-0DF1-390B-5EEE-D871DCCE3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719CA-6189-E242-A797-527AA51E35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0909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biocon.2014.09.008" TargetMode="External"/><Relationship Id="rId13" Type="http://schemas.openxmlformats.org/officeDocument/2006/relationships/hyperlink" Target="https://doi.org/10.1002/ece3.5299" TargetMode="External"/><Relationship Id="rId3" Type="http://schemas.openxmlformats.org/officeDocument/2006/relationships/hyperlink" Target="https://doi.org/10.3390/su132212346" TargetMode="External"/><Relationship Id="rId7" Type="http://schemas.openxmlformats.org/officeDocument/2006/relationships/hyperlink" Target="https://doi.org/10.1016/j.biocon.2016.07.002" TargetMode="External"/><Relationship Id="rId12" Type="http://schemas.openxmlformats.org/officeDocument/2006/relationships/hyperlink" Target="https://doi.org/10.1017/S0030605318001072" TargetMode="External"/><Relationship Id="rId17" Type="http://schemas.openxmlformats.org/officeDocument/2006/relationships/hyperlink" Target="https://doi.org/10.1016/j.gecco.2022.e02353" TargetMode="External"/><Relationship Id="rId2" Type="http://schemas.openxmlformats.org/officeDocument/2006/relationships/hyperlink" Target="https://doi.org/10.1016/j.cropro.2016.11.030" TargetMode="External"/><Relationship Id="rId16" Type="http://schemas.openxmlformats.org/officeDocument/2006/relationships/hyperlink" Target="https://doi.org/10.3390/ani14213079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371/journal.pone.0175243" TargetMode="External"/><Relationship Id="rId11" Type="http://schemas.openxmlformats.org/officeDocument/2006/relationships/hyperlink" Target="https://doi.org/10.1007/s10745-008-9189-y" TargetMode="External"/><Relationship Id="rId5" Type="http://schemas.openxmlformats.org/officeDocument/2006/relationships/hyperlink" Target="https://doi.org/10.1002/wlb3.01243" TargetMode="External"/><Relationship Id="rId15" Type="http://schemas.openxmlformats.org/officeDocument/2006/relationships/hyperlink" Target="https://doi.org/10.1002/jwmg.398" TargetMode="External"/><Relationship Id="rId10" Type="http://schemas.openxmlformats.org/officeDocument/2006/relationships/hyperlink" Target="https://doi.org/10.1111/j.1523-1739.2003.00060.x" TargetMode="External"/><Relationship Id="rId4" Type="http://schemas.openxmlformats.org/officeDocument/2006/relationships/hyperlink" Target="https://doi.org/10.1080/08941920.2011.638362" TargetMode="External"/><Relationship Id="rId9" Type="http://schemas.openxmlformats.org/officeDocument/2006/relationships/hyperlink" Target="https://doi.org/10.1002/inc3.30" TargetMode="External"/><Relationship Id="rId14" Type="http://schemas.openxmlformats.org/officeDocument/2006/relationships/hyperlink" Target="https://doi.org/10.1002/pan3.7037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1B46D-5CAE-291A-D45F-7198AFAD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6BD735-C05D-C2E8-E55F-0023C2228CA5}"/>
              </a:ext>
            </a:extLst>
          </p:cNvPr>
          <p:cNvCxnSpPr>
            <a:cxnSpLocks/>
          </p:cNvCxnSpPr>
          <p:nvPr/>
        </p:nvCxnSpPr>
        <p:spPr>
          <a:xfrm>
            <a:off x="4648365" y="6466265"/>
            <a:ext cx="9285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4FD59C-B118-7461-ED9D-C09A79EBAC48}"/>
              </a:ext>
            </a:extLst>
          </p:cNvPr>
          <p:cNvCxnSpPr>
            <a:cxnSpLocks/>
          </p:cNvCxnSpPr>
          <p:nvPr/>
        </p:nvCxnSpPr>
        <p:spPr>
          <a:xfrm>
            <a:off x="1697821" y="6466265"/>
            <a:ext cx="9285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D16C39-EEEB-DE6F-E777-817E8B405787}"/>
              </a:ext>
            </a:extLst>
          </p:cNvPr>
          <p:cNvSpPr txBox="1"/>
          <p:nvPr/>
        </p:nvSpPr>
        <p:spPr>
          <a:xfrm>
            <a:off x="2743966" y="6312376"/>
            <a:ext cx="1515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>
                <a:solidFill>
                  <a:schemeClr val="accent2"/>
                </a:solidFill>
                <a:latin typeface="Heiti SC Medium" pitchFamily="2" charset="-128"/>
                <a:ea typeface="Heiti SC Medium" pitchFamily="2" charset="-128"/>
              </a:rPr>
              <a:t>Positive 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E3AA6-EB41-21FF-A17C-B5475E73D223}"/>
              </a:ext>
            </a:extLst>
          </p:cNvPr>
          <p:cNvSpPr txBox="1"/>
          <p:nvPr/>
        </p:nvSpPr>
        <p:spPr>
          <a:xfrm>
            <a:off x="5694510" y="6312376"/>
            <a:ext cx="17800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>
                <a:solidFill>
                  <a:schemeClr val="accent1">
                    <a:lumMod val="75000"/>
                  </a:schemeClr>
                </a:solidFill>
                <a:latin typeface="Heiti SC Medium" pitchFamily="2" charset="-128"/>
                <a:ea typeface="Heiti SC Medium" pitchFamily="2" charset="-128"/>
              </a:rPr>
              <a:t>Negative Impact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7889DC1-AA13-9156-7E79-9B80ACF099DD}"/>
              </a:ext>
            </a:extLst>
          </p:cNvPr>
          <p:cNvCxnSpPr>
            <a:cxnSpLocks/>
          </p:cNvCxnSpPr>
          <p:nvPr/>
        </p:nvCxnSpPr>
        <p:spPr>
          <a:xfrm>
            <a:off x="7862942" y="6466265"/>
            <a:ext cx="9285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B1BEC2B-52E9-78B6-3DA8-15C1EB9308E3}"/>
              </a:ext>
            </a:extLst>
          </p:cNvPr>
          <p:cNvSpPr txBox="1"/>
          <p:nvPr/>
        </p:nvSpPr>
        <p:spPr>
          <a:xfrm>
            <a:off x="8909087" y="6312376"/>
            <a:ext cx="17800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>
                <a:solidFill>
                  <a:schemeClr val="bg1">
                    <a:lumMod val="65000"/>
                  </a:schemeClr>
                </a:solidFill>
                <a:latin typeface="Heiti SC Medium" pitchFamily="2" charset="-128"/>
                <a:ea typeface="Heiti SC Medium" pitchFamily="2" charset="-128"/>
              </a:rPr>
              <a:t>No Impact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3210849-AD8C-9D55-3067-0641A42D153A}"/>
              </a:ext>
            </a:extLst>
          </p:cNvPr>
          <p:cNvGrpSpPr/>
          <p:nvPr/>
        </p:nvGrpSpPr>
        <p:grpSpPr>
          <a:xfrm>
            <a:off x="280649" y="952500"/>
            <a:ext cx="11630702" cy="5218910"/>
            <a:chOff x="274281" y="758923"/>
            <a:chExt cx="11630702" cy="5218910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95B2194-8F8B-1CF5-BBA6-17C875CC0D8A}"/>
                </a:ext>
              </a:extLst>
            </p:cNvPr>
            <p:cNvGrpSpPr/>
            <p:nvPr/>
          </p:nvGrpSpPr>
          <p:grpSpPr>
            <a:xfrm>
              <a:off x="7493160" y="2077125"/>
              <a:ext cx="2199396" cy="2248240"/>
              <a:chOff x="6525786" y="1076519"/>
              <a:chExt cx="2386303" cy="2248240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39972C-2EE2-CC6B-9E8F-A2F1F8703144}"/>
                  </a:ext>
                </a:extLst>
              </p:cNvPr>
              <p:cNvSpPr txBox="1"/>
              <p:nvPr/>
            </p:nvSpPr>
            <p:spPr>
              <a:xfrm>
                <a:off x="6525786" y="1076519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Tangible Cost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FFFBA3-4DEC-F551-A583-2F17A7AD9DDA}"/>
                  </a:ext>
                </a:extLst>
              </p:cNvPr>
              <p:cNvSpPr txBox="1"/>
              <p:nvPr/>
            </p:nvSpPr>
            <p:spPr>
              <a:xfrm>
                <a:off x="6525789" y="1970943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Cost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C3CEF7-C2F9-5F1D-E66A-849F53B752F7}"/>
                  </a:ext>
                </a:extLst>
              </p:cNvPr>
              <p:cNvSpPr txBox="1"/>
              <p:nvPr/>
            </p:nvSpPr>
            <p:spPr>
              <a:xfrm>
                <a:off x="6525786" y="3016982"/>
                <a:ext cx="238630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Intangible Benefit</a:t>
                </a: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BFD9E0B-2796-19B4-3CEF-1911C72A807D}"/>
                </a:ext>
              </a:extLst>
            </p:cNvPr>
            <p:cNvSpPr txBox="1"/>
            <p:nvPr/>
          </p:nvSpPr>
          <p:spPr>
            <a:xfrm>
              <a:off x="10405840" y="2077125"/>
              <a:ext cx="14991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400" dirty="0"/>
                <a:t>Tolerance</a:t>
              </a:r>
            </a:p>
          </p:txBody>
        </p: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F6E7AB90-6B7C-D790-041B-C3D30EFFAE7E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>
              <a:off x="3158320" y="2232595"/>
              <a:ext cx="7275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B47C6D66-3CB0-B38E-F35E-186A9A07C480}"/>
                </a:ext>
              </a:extLst>
            </p:cNvPr>
            <p:cNvCxnSpPr>
              <a:cxnSpLocks/>
              <a:stCxn id="17" idx="3"/>
              <a:endCxn id="73" idx="1"/>
            </p:cNvCxnSpPr>
            <p:nvPr/>
          </p:nvCxnSpPr>
          <p:spPr>
            <a:xfrm>
              <a:off x="9692553" y="2231014"/>
              <a:ext cx="7132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A0E7486-24C2-749C-DDF0-0CF8AD6389CF}"/>
                </a:ext>
              </a:extLst>
            </p:cNvPr>
            <p:cNvCxnSpPr>
              <a:cxnSpLocks/>
              <a:stCxn id="13" idx="3"/>
              <a:endCxn id="56" idx="1"/>
            </p:cNvCxnSpPr>
            <p:nvPr/>
          </p:nvCxnSpPr>
          <p:spPr>
            <a:xfrm>
              <a:off x="3158320" y="2232595"/>
              <a:ext cx="727560" cy="68756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7B9982A-0510-3B1E-02DE-3FDD3F7AC00F}"/>
                </a:ext>
              </a:extLst>
            </p:cNvPr>
            <p:cNvCxnSpPr>
              <a:cxnSpLocks/>
              <a:stCxn id="13" idx="3"/>
              <a:endCxn id="15" idx="1"/>
            </p:cNvCxnSpPr>
            <p:nvPr/>
          </p:nvCxnSpPr>
          <p:spPr>
            <a:xfrm>
              <a:off x="3158320" y="2232595"/>
              <a:ext cx="727558" cy="157934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84B2622-F89E-21A5-FCE1-D1652A6CE74C}"/>
                </a:ext>
              </a:extLst>
            </p:cNvPr>
            <p:cNvCxnSpPr>
              <a:cxnSpLocks/>
              <a:stCxn id="13" idx="3"/>
              <a:endCxn id="16" idx="1"/>
            </p:cNvCxnSpPr>
            <p:nvPr/>
          </p:nvCxnSpPr>
          <p:spPr>
            <a:xfrm>
              <a:off x="3158320" y="2232595"/>
              <a:ext cx="727560" cy="261475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57956B7-798E-5CA1-5916-C4F73778266C}"/>
                </a:ext>
              </a:extLst>
            </p:cNvPr>
            <p:cNvCxnSpPr>
              <a:cxnSpLocks/>
              <a:stCxn id="29" idx="3"/>
              <a:endCxn id="14" idx="1"/>
            </p:cNvCxnSpPr>
            <p:nvPr/>
          </p:nvCxnSpPr>
          <p:spPr>
            <a:xfrm flipV="1">
              <a:off x="3158321" y="2232595"/>
              <a:ext cx="727560" cy="121879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A081BF5-6CEA-5A3D-7AB3-6CA242AE7D34}"/>
                </a:ext>
              </a:extLst>
            </p:cNvPr>
            <p:cNvCxnSpPr>
              <a:cxnSpLocks/>
              <a:stCxn id="29" idx="3"/>
              <a:endCxn id="56" idx="1"/>
            </p:cNvCxnSpPr>
            <p:nvPr/>
          </p:nvCxnSpPr>
          <p:spPr>
            <a:xfrm flipV="1">
              <a:off x="3158321" y="2920159"/>
              <a:ext cx="727559" cy="53123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06B5382-4600-9DB0-7A14-07043E972572}"/>
                </a:ext>
              </a:extLst>
            </p:cNvPr>
            <p:cNvCxnSpPr>
              <a:cxnSpLocks/>
              <a:stCxn id="29" idx="3"/>
              <a:endCxn id="15" idx="1"/>
            </p:cNvCxnSpPr>
            <p:nvPr/>
          </p:nvCxnSpPr>
          <p:spPr>
            <a:xfrm>
              <a:off x="3158321" y="3451392"/>
              <a:ext cx="727557" cy="36054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EC16E17-8238-6BB2-5CB6-6A82FF306894}"/>
                </a:ext>
              </a:extLst>
            </p:cNvPr>
            <p:cNvCxnSpPr>
              <a:cxnSpLocks/>
              <a:stCxn id="29" idx="3"/>
              <a:endCxn id="16" idx="1"/>
            </p:cNvCxnSpPr>
            <p:nvPr/>
          </p:nvCxnSpPr>
          <p:spPr>
            <a:xfrm>
              <a:off x="3158321" y="3451392"/>
              <a:ext cx="727559" cy="139595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FB45E7D7-5042-4543-678F-26DD35F431A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962399" y="-1360362"/>
              <a:ext cx="1581" cy="6876556"/>
            </a:xfrm>
            <a:prstGeom prst="bentConnector3">
              <a:avLst>
                <a:gd name="adj1" fmla="val 48448324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526E0D5C-6273-34F8-A249-F97BE45C937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723945" y="-1024635"/>
              <a:ext cx="918246" cy="7124928"/>
            </a:xfrm>
            <a:prstGeom prst="bentConnector4">
              <a:avLst>
                <a:gd name="adj1" fmla="val -97275"/>
                <a:gd name="adj2" fmla="val 99953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7" name="Elbow Connector 116">
              <a:extLst>
                <a:ext uri="{FF2B5EF4-FFF2-40B4-BE49-F238E27FC236}">
                  <a16:creationId xmlns:a16="http://schemas.microsoft.com/office/drawing/2014/main" id="{522FE574-ADAE-61E5-7D60-7198D886553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048782" y="272799"/>
              <a:ext cx="718693" cy="7383654"/>
            </a:xfrm>
            <a:prstGeom prst="bentConnector3">
              <a:avLst>
                <a:gd name="adj1" fmla="val 30463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lbow Connector 77">
              <a:extLst>
                <a:ext uri="{FF2B5EF4-FFF2-40B4-BE49-F238E27FC236}">
                  <a16:creationId xmlns:a16="http://schemas.microsoft.com/office/drawing/2014/main" id="{9027C5DD-59EE-EEF2-BC73-AC8DF6FADDDF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rot="16200000" flipH="1">
              <a:off x="4448977" y="-653971"/>
              <a:ext cx="1924117" cy="7389470"/>
            </a:xfrm>
            <a:prstGeom prst="bentConnector4">
              <a:avLst>
                <a:gd name="adj1" fmla="val -52679"/>
                <a:gd name="adj2" fmla="val 99915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Elbow Connector 120">
              <a:extLst>
                <a:ext uri="{FF2B5EF4-FFF2-40B4-BE49-F238E27FC236}">
                  <a16:creationId xmlns:a16="http://schemas.microsoft.com/office/drawing/2014/main" id="{043D15DE-2A09-FBDB-036F-93389AA77D7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19421" y="-128582"/>
              <a:ext cx="326670" cy="7125551"/>
            </a:xfrm>
            <a:prstGeom prst="bentConnector3">
              <a:avLst>
                <a:gd name="adj1" fmla="val -639141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16950663-9FB2-1755-6A83-C0A9650EFD9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048503" y="-136997"/>
              <a:ext cx="1829378" cy="6876564"/>
            </a:xfrm>
            <a:prstGeom prst="bentConnector5">
              <a:avLst>
                <a:gd name="adj1" fmla="val 33493"/>
                <a:gd name="adj2" fmla="val -34"/>
                <a:gd name="adj3" fmla="val -7423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6284958C-D7C5-8B99-0FF8-FD345D479A96}"/>
                </a:ext>
              </a:extLst>
            </p:cNvPr>
            <p:cNvCxnSpPr>
              <a:cxnSpLocks/>
              <a:stCxn id="14" idx="3"/>
              <a:endCxn id="17" idx="1"/>
            </p:cNvCxnSpPr>
            <p:nvPr/>
          </p:nvCxnSpPr>
          <p:spPr>
            <a:xfrm flipV="1">
              <a:off x="6753569" y="2231014"/>
              <a:ext cx="739591" cy="158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C4222792-CAB0-A5CD-3B72-50179E44F2A2}"/>
                </a:ext>
              </a:extLst>
            </p:cNvPr>
            <p:cNvCxnSpPr>
              <a:cxnSpLocks/>
              <a:stCxn id="14" idx="3"/>
              <a:endCxn id="18" idx="1"/>
            </p:cNvCxnSpPr>
            <p:nvPr/>
          </p:nvCxnSpPr>
          <p:spPr>
            <a:xfrm>
              <a:off x="6753569" y="2232595"/>
              <a:ext cx="739594" cy="89284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C998C6B4-61F4-7926-C7D6-390F84D2F4E4}"/>
                </a:ext>
              </a:extLst>
            </p:cNvPr>
            <p:cNvCxnSpPr>
              <a:cxnSpLocks/>
              <a:stCxn id="14" idx="3"/>
              <a:endCxn id="19" idx="1"/>
            </p:cNvCxnSpPr>
            <p:nvPr/>
          </p:nvCxnSpPr>
          <p:spPr>
            <a:xfrm>
              <a:off x="6753569" y="2232595"/>
              <a:ext cx="739591" cy="19388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F9CEEEA5-0D36-DF51-403E-9A2B9681414C}"/>
                </a:ext>
              </a:extLst>
            </p:cNvPr>
            <p:cNvCxnSpPr>
              <a:cxnSpLocks/>
              <a:stCxn id="56" idx="3"/>
              <a:endCxn id="17" idx="1"/>
            </p:cNvCxnSpPr>
            <p:nvPr/>
          </p:nvCxnSpPr>
          <p:spPr>
            <a:xfrm flipV="1">
              <a:off x="6753568" y="2231014"/>
              <a:ext cx="739592" cy="68914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Arrow Connector 217">
              <a:extLst>
                <a:ext uri="{FF2B5EF4-FFF2-40B4-BE49-F238E27FC236}">
                  <a16:creationId xmlns:a16="http://schemas.microsoft.com/office/drawing/2014/main" id="{6E1BED6E-4E46-74C9-5A7C-C7FF80267655}"/>
                </a:ext>
              </a:extLst>
            </p:cNvPr>
            <p:cNvCxnSpPr>
              <a:cxnSpLocks/>
              <a:stCxn id="56" idx="3"/>
              <a:endCxn id="18" idx="1"/>
            </p:cNvCxnSpPr>
            <p:nvPr/>
          </p:nvCxnSpPr>
          <p:spPr>
            <a:xfrm>
              <a:off x="6753568" y="2920159"/>
              <a:ext cx="739595" cy="2052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A59EB4F4-E41F-9ACC-B905-56219EF1603C}"/>
                </a:ext>
              </a:extLst>
            </p:cNvPr>
            <p:cNvCxnSpPr>
              <a:cxnSpLocks/>
              <a:stCxn id="56" idx="3"/>
              <a:endCxn id="19" idx="1"/>
            </p:cNvCxnSpPr>
            <p:nvPr/>
          </p:nvCxnSpPr>
          <p:spPr>
            <a:xfrm>
              <a:off x="6753568" y="2920159"/>
              <a:ext cx="739592" cy="12513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E32AAA6E-F714-9B6E-46F8-8570FFB0EBFB}"/>
                </a:ext>
              </a:extLst>
            </p:cNvPr>
            <p:cNvCxnSpPr>
              <a:cxnSpLocks/>
              <a:stCxn id="15" idx="3"/>
              <a:endCxn id="17" idx="1"/>
            </p:cNvCxnSpPr>
            <p:nvPr/>
          </p:nvCxnSpPr>
          <p:spPr>
            <a:xfrm flipV="1">
              <a:off x="6753566" y="2231014"/>
              <a:ext cx="739594" cy="158092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CC671122-5577-2E89-F5A3-0F98EDDC051B}"/>
                </a:ext>
              </a:extLst>
            </p:cNvPr>
            <p:cNvCxnSpPr>
              <a:cxnSpLocks/>
              <a:stCxn id="15" idx="3"/>
              <a:endCxn id="18" idx="1"/>
            </p:cNvCxnSpPr>
            <p:nvPr/>
          </p:nvCxnSpPr>
          <p:spPr>
            <a:xfrm flipV="1">
              <a:off x="6753566" y="3125438"/>
              <a:ext cx="739597" cy="68650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353D1F33-A6CC-7A55-C1FB-15B227275694}"/>
                </a:ext>
              </a:extLst>
            </p:cNvPr>
            <p:cNvCxnSpPr>
              <a:cxnSpLocks/>
              <a:stCxn id="15" idx="3"/>
              <a:endCxn id="19" idx="1"/>
            </p:cNvCxnSpPr>
            <p:nvPr/>
          </p:nvCxnSpPr>
          <p:spPr>
            <a:xfrm>
              <a:off x="6753566" y="3811940"/>
              <a:ext cx="739594" cy="3595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6EFAAC48-24EA-53DD-D17C-8D765D42E6A2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 flipV="1">
              <a:off x="6753568" y="2231014"/>
              <a:ext cx="739592" cy="261633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B4FBA04A-2D0C-72C0-AB1F-BB798761FB18}"/>
                </a:ext>
              </a:extLst>
            </p:cNvPr>
            <p:cNvCxnSpPr>
              <a:cxnSpLocks/>
              <a:stCxn id="16" idx="3"/>
              <a:endCxn id="18" idx="1"/>
            </p:cNvCxnSpPr>
            <p:nvPr/>
          </p:nvCxnSpPr>
          <p:spPr>
            <a:xfrm flipV="1">
              <a:off x="6753568" y="3125438"/>
              <a:ext cx="739595" cy="172191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4BD6BF28-B350-260B-5859-B5276113BDA5}"/>
                </a:ext>
              </a:extLst>
            </p:cNvPr>
            <p:cNvCxnSpPr>
              <a:cxnSpLocks/>
              <a:stCxn id="16" idx="3"/>
              <a:endCxn id="19" idx="1"/>
            </p:cNvCxnSpPr>
            <p:nvPr/>
          </p:nvCxnSpPr>
          <p:spPr>
            <a:xfrm flipV="1">
              <a:off x="6753568" y="4171477"/>
              <a:ext cx="739592" cy="67587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id="{ABD816D0-5538-B60E-78AB-F0CA561341B7}"/>
                </a:ext>
              </a:extLst>
            </p:cNvPr>
            <p:cNvCxnSpPr>
              <a:cxnSpLocks/>
              <a:stCxn id="18" idx="3"/>
              <a:endCxn id="73" idx="1"/>
            </p:cNvCxnSpPr>
            <p:nvPr/>
          </p:nvCxnSpPr>
          <p:spPr>
            <a:xfrm flipV="1">
              <a:off x="9692556" y="2231014"/>
              <a:ext cx="713284" cy="89442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Arrow Connector 247">
              <a:extLst>
                <a:ext uri="{FF2B5EF4-FFF2-40B4-BE49-F238E27FC236}">
                  <a16:creationId xmlns:a16="http://schemas.microsoft.com/office/drawing/2014/main" id="{3FB27FFE-DF64-54C3-C35C-2CD0914DF256}"/>
                </a:ext>
              </a:extLst>
            </p:cNvPr>
            <p:cNvCxnSpPr>
              <a:cxnSpLocks/>
              <a:stCxn id="19" idx="3"/>
              <a:endCxn id="73" idx="1"/>
            </p:cNvCxnSpPr>
            <p:nvPr/>
          </p:nvCxnSpPr>
          <p:spPr>
            <a:xfrm flipV="1">
              <a:off x="9692553" y="2231014"/>
              <a:ext cx="713287" cy="194046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3" name="Elbow Connector 252">
              <a:extLst>
                <a:ext uri="{FF2B5EF4-FFF2-40B4-BE49-F238E27FC236}">
                  <a16:creationId xmlns:a16="http://schemas.microsoft.com/office/drawing/2014/main" id="{11AFD957-9376-4970-F47A-4B53EFD5944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835443" y="-839927"/>
              <a:ext cx="1581" cy="5835687"/>
            </a:xfrm>
            <a:prstGeom prst="bentConnector3">
              <a:avLst>
                <a:gd name="adj1" fmla="val 14559203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0" name="Elbow Connector 259">
              <a:extLst>
                <a:ext uri="{FF2B5EF4-FFF2-40B4-BE49-F238E27FC236}">
                  <a16:creationId xmlns:a16="http://schemas.microsoft.com/office/drawing/2014/main" id="{A954442E-89B8-CA52-85C7-43B64352B53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616353" y="-496146"/>
              <a:ext cx="689145" cy="5835688"/>
            </a:xfrm>
            <a:prstGeom prst="bentConnector3">
              <a:avLst>
                <a:gd name="adj1" fmla="val 149758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5" name="Elbow Connector 264">
              <a:extLst>
                <a:ext uri="{FF2B5EF4-FFF2-40B4-BE49-F238E27FC236}">
                  <a16:creationId xmlns:a16="http://schemas.microsoft.com/office/drawing/2014/main" id="{CACDA45B-799F-3245-C660-6E1FC2B1857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295153" y="-51136"/>
              <a:ext cx="1580926" cy="5835690"/>
            </a:xfrm>
            <a:prstGeom prst="bentConnector3">
              <a:avLst>
                <a:gd name="adj1" fmla="val 12892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lbow Connector 268">
              <a:extLst>
                <a:ext uri="{FF2B5EF4-FFF2-40B4-BE49-F238E27FC236}">
                  <a16:creationId xmlns:a16="http://schemas.microsoft.com/office/drawing/2014/main" id="{1FDEF980-67B7-001B-8D79-5400FE716A9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902851" y="463073"/>
              <a:ext cx="2616336" cy="5835688"/>
            </a:xfrm>
            <a:prstGeom prst="bentConnector3">
              <a:avLst>
                <a:gd name="adj1" fmla="val 121446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lbow Connector 272">
              <a:extLst>
                <a:ext uri="{FF2B5EF4-FFF2-40B4-BE49-F238E27FC236}">
                  <a16:creationId xmlns:a16="http://schemas.microsoft.com/office/drawing/2014/main" id="{0AE50022-8EF7-D9A3-5732-15132B8D2A0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531319" y="-2641639"/>
              <a:ext cx="1581" cy="9439111"/>
            </a:xfrm>
            <a:prstGeom prst="bentConnector3">
              <a:avLst>
                <a:gd name="adj1" fmla="val 71765528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Elbow Connector 281">
              <a:extLst>
                <a:ext uri="{FF2B5EF4-FFF2-40B4-BE49-F238E27FC236}">
                  <a16:creationId xmlns:a16="http://schemas.microsoft.com/office/drawing/2014/main" id="{F38FD3E7-CAA5-002C-B187-B073D879635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924463" y="-1723328"/>
              <a:ext cx="1216718" cy="9440536"/>
            </a:xfrm>
            <a:prstGeom prst="bentConnector3">
              <a:avLst>
                <a:gd name="adj1" fmla="val -189516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8AC294A-618D-F211-13F1-497A1F2048E5}"/>
                </a:ext>
              </a:extLst>
            </p:cNvPr>
            <p:cNvGrpSpPr/>
            <p:nvPr/>
          </p:nvGrpSpPr>
          <p:grpSpPr>
            <a:xfrm>
              <a:off x="274281" y="2078706"/>
              <a:ext cx="2884040" cy="1526574"/>
              <a:chOff x="691862" y="1130805"/>
              <a:chExt cx="3238822" cy="159700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B64C22-6EE0-9BF9-7FE6-ECC537021B34}"/>
                  </a:ext>
                </a:extLst>
              </p:cNvPr>
              <p:cNvSpPr txBox="1"/>
              <p:nvPr/>
            </p:nvSpPr>
            <p:spPr>
              <a:xfrm>
                <a:off x="691862" y="1130805"/>
                <a:ext cx="3238821" cy="3219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GB" sz="1400" b="1" dirty="0">
                    <a:latin typeface="Heiti SC Medium" pitchFamily="2" charset="-128"/>
                    <a:ea typeface="Heiti SC Medium" pitchFamily="2" charset="-128"/>
                    <a:cs typeface="+mj-cs"/>
                  </a:rPr>
                  <a:t>Conflict Experience - Wild boar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5D7633-BCFF-CF54-1E0F-9AB680621927}"/>
                  </a:ext>
                </a:extLst>
              </p:cNvPr>
              <p:cNvSpPr txBox="1"/>
              <p:nvPr/>
            </p:nvSpPr>
            <p:spPr>
              <a:xfrm>
                <a:off x="691862" y="2405831"/>
                <a:ext cx="3238822" cy="3219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GB" sz="1400" b="1" dirty="0">
                    <a:latin typeface="Heiti SC Medium" pitchFamily="2" charset="-128"/>
                    <a:ea typeface="Heiti SC Medium" pitchFamily="2" charset="-128"/>
                  </a:rPr>
                  <a:t>Conflict Experience - All</a:t>
                </a:r>
              </a:p>
            </p:txBody>
          </p:sp>
        </p:grp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2BEC9E9B-0DCE-2710-396D-8295CBC7FE73}"/>
                </a:ext>
              </a:extLst>
            </p:cNvPr>
            <p:cNvSpPr txBox="1"/>
            <p:nvPr/>
          </p:nvSpPr>
          <p:spPr>
            <a:xfrm>
              <a:off x="10032848" y="4017588"/>
              <a:ext cx="1015681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100" dirty="0"/>
                <a:t>Gender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1BF42557-FC43-753D-7F33-C45BCC48442B}"/>
                </a:ext>
              </a:extLst>
            </p:cNvPr>
            <p:cNvSpPr txBox="1"/>
            <p:nvPr/>
          </p:nvSpPr>
          <p:spPr>
            <a:xfrm>
              <a:off x="10032846" y="4350208"/>
              <a:ext cx="1015679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100" dirty="0"/>
                <a:t>Age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B7FE0F6F-6D31-E074-F632-E71C92B159B7}"/>
                </a:ext>
              </a:extLst>
            </p:cNvPr>
            <p:cNvSpPr txBox="1"/>
            <p:nvPr/>
          </p:nvSpPr>
          <p:spPr>
            <a:xfrm>
              <a:off x="10023381" y="4686234"/>
              <a:ext cx="1015679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100" dirty="0"/>
                <a:t>Education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E088D3D2-C39F-CA13-2DA1-70C0FE03B967}"/>
                </a:ext>
              </a:extLst>
            </p:cNvPr>
            <p:cNvSpPr txBox="1"/>
            <p:nvPr/>
          </p:nvSpPr>
          <p:spPr>
            <a:xfrm>
              <a:off x="10019480" y="5018854"/>
              <a:ext cx="1015679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100" dirty="0"/>
                <a:t>Income</a:t>
              </a: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2A6F38FE-5F9D-3D7B-4498-488BC0339214}"/>
                </a:ext>
              </a:extLst>
            </p:cNvPr>
            <p:cNvSpPr txBox="1"/>
            <p:nvPr/>
          </p:nvSpPr>
          <p:spPr>
            <a:xfrm>
              <a:off x="10019479" y="5351474"/>
              <a:ext cx="1015679" cy="4308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en-DE"/>
              </a:defPPr>
              <a:lvl1pPr algn="ctr">
                <a:buNone/>
                <a:defRPr sz="1600" b="1">
                  <a:latin typeface="Heiti SC Medium" pitchFamily="2" charset="-128"/>
                  <a:ea typeface="Heiti SC Medium" pitchFamily="2" charset="-128"/>
                  <a:cs typeface="+mj-cs"/>
                </a:defRPr>
              </a:lvl1pPr>
            </a:lstStyle>
            <a:p>
              <a:r>
                <a:rPr lang="en-GB" sz="1100" dirty="0"/>
                <a:t>Household Asset</a:t>
              </a:r>
            </a:p>
          </p:txBody>
        </p:sp>
        <p:cxnSp>
          <p:nvCxnSpPr>
            <p:cNvPr id="325" name="Straight Arrow Connector 324">
              <a:extLst>
                <a:ext uri="{FF2B5EF4-FFF2-40B4-BE49-F238E27FC236}">
                  <a16:creationId xmlns:a16="http://schemas.microsoft.com/office/drawing/2014/main" id="{E911145A-8E2A-4029-967B-AD8EB0CB4722}"/>
                </a:ext>
              </a:extLst>
            </p:cNvPr>
            <p:cNvCxnSpPr>
              <a:cxnSpLocks/>
              <a:stCxn id="318" idx="0"/>
            </p:cNvCxnSpPr>
            <p:nvPr/>
          </p:nvCxnSpPr>
          <p:spPr>
            <a:xfrm flipV="1">
              <a:off x="10540689" y="2384902"/>
              <a:ext cx="0" cy="16326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DD62AF7-DC00-974B-F456-150F88218857}"/>
                </a:ext>
              </a:extLst>
            </p:cNvPr>
            <p:cNvGrpSpPr/>
            <p:nvPr/>
          </p:nvGrpSpPr>
          <p:grpSpPr>
            <a:xfrm>
              <a:off x="3885878" y="2078706"/>
              <a:ext cx="2867691" cy="2922532"/>
              <a:chOff x="2517157" y="3186676"/>
              <a:chExt cx="2983133" cy="2922532"/>
            </a:xfrm>
            <a:solidFill>
              <a:schemeClr val="bg1"/>
            </a:solidFill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FA9D22-ABF9-0E16-5D55-E651A9BA0D7C}"/>
                  </a:ext>
                </a:extLst>
              </p:cNvPr>
              <p:cNvSpPr txBox="1"/>
              <p:nvPr/>
            </p:nvSpPr>
            <p:spPr>
              <a:xfrm>
                <a:off x="2517160" y="3186676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Perceived Control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9907AF-6741-7BA7-8568-49B083F472B4}"/>
                  </a:ext>
                </a:extLst>
              </p:cNvPr>
              <p:cNvSpPr txBox="1"/>
              <p:nvPr/>
            </p:nvSpPr>
            <p:spPr>
              <a:xfrm>
                <a:off x="2517157" y="4766021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Compensation Anticipation 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EC5CE1-5BEC-3103-4596-2CEE479D2FE0}"/>
                  </a:ext>
                </a:extLst>
              </p:cNvPr>
              <p:cNvSpPr txBox="1"/>
              <p:nvPr/>
            </p:nvSpPr>
            <p:spPr>
              <a:xfrm>
                <a:off x="2517159" y="5801431"/>
                <a:ext cx="2983130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6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sz="1400" dirty="0"/>
                  <a:t>Policy Dependency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FAE93B4-0F62-78AB-FDFB-3814E4FD8468}"/>
                  </a:ext>
                </a:extLst>
              </p:cNvPr>
              <p:cNvSpPr txBox="1"/>
              <p:nvPr/>
            </p:nvSpPr>
            <p:spPr>
              <a:xfrm>
                <a:off x="2517159" y="3874240"/>
                <a:ext cx="2983130" cy="30777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DE"/>
                </a:defPPr>
                <a:lvl1pPr algn="ctr">
                  <a:buNone/>
                  <a:defRPr sz="1400" b="1">
                    <a:latin typeface="Heiti SC Medium" pitchFamily="2" charset="-128"/>
                    <a:ea typeface="Heiti SC Medium" pitchFamily="2" charset="-128"/>
                    <a:cs typeface="+mj-cs"/>
                  </a:defRPr>
                </a:lvl1pPr>
              </a:lstStyle>
              <a:p>
                <a:r>
                  <a:rPr lang="en-GB" dirty="0"/>
                  <a:t>Compensation Participation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51E6029-39E5-75E2-0E2D-5E106CA3DB1D}"/>
                </a:ext>
              </a:extLst>
            </p:cNvPr>
            <p:cNvSpPr txBox="1"/>
            <p:nvPr/>
          </p:nvSpPr>
          <p:spPr>
            <a:xfrm>
              <a:off x="1930417" y="1129647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H1.1.4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4F5E387-060E-59F5-ED1F-4F1D3309A5B7}"/>
                </a:ext>
              </a:extLst>
            </p:cNvPr>
            <p:cNvSpPr txBox="1"/>
            <p:nvPr/>
          </p:nvSpPr>
          <p:spPr>
            <a:xfrm>
              <a:off x="2462399" y="1001162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H1.1.3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DEE0E41-053E-F9CC-B25B-F2FDE3298BF3}"/>
                </a:ext>
              </a:extLst>
            </p:cNvPr>
            <p:cNvSpPr txBox="1"/>
            <p:nvPr/>
          </p:nvSpPr>
          <p:spPr>
            <a:xfrm>
              <a:off x="2994381" y="883426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H1.1.2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DB6D99-8C77-C23C-F37F-CD84932E54D6}"/>
                </a:ext>
              </a:extLst>
            </p:cNvPr>
            <p:cNvSpPr txBox="1"/>
            <p:nvPr/>
          </p:nvSpPr>
          <p:spPr>
            <a:xfrm>
              <a:off x="3522099" y="758923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H1.1.1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95E896-85A7-E00A-D296-AC8BFD3F9DC5}"/>
                </a:ext>
              </a:extLst>
            </p:cNvPr>
            <p:cNvSpPr txBox="1"/>
            <p:nvPr/>
          </p:nvSpPr>
          <p:spPr>
            <a:xfrm>
              <a:off x="1930416" y="5382823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H1.2.4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61C402B-381B-9993-3FFE-84E5380466C3}"/>
                </a:ext>
              </a:extLst>
            </p:cNvPr>
            <p:cNvSpPr txBox="1"/>
            <p:nvPr/>
          </p:nvSpPr>
          <p:spPr>
            <a:xfrm>
              <a:off x="2406477" y="5509443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H1.2.3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9916BE-A3EB-8C45-E3E1-BA7D9582C554}"/>
                </a:ext>
              </a:extLst>
            </p:cNvPr>
            <p:cNvSpPr txBox="1"/>
            <p:nvPr/>
          </p:nvSpPr>
          <p:spPr>
            <a:xfrm>
              <a:off x="2994381" y="5615436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H1.2.2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D3D7F2C-40D4-A068-D8ED-6B6A3E285410}"/>
                </a:ext>
              </a:extLst>
            </p:cNvPr>
            <p:cNvSpPr txBox="1"/>
            <p:nvPr/>
          </p:nvSpPr>
          <p:spPr>
            <a:xfrm>
              <a:off x="3522099" y="5731612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H1.2.1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425CF23-31AA-6EA3-18A6-14435C80B471}"/>
                </a:ext>
              </a:extLst>
            </p:cNvPr>
            <p:cNvSpPr txBox="1"/>
            <p:nvPr/>
          </p:nvSpPr>
          <p:spPr>
            <a:xfrm>
              <a:off x="3247167" y="2033584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H1.1.5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712F14F-2FD3-AB6A-3BD3-E9ACD958ECE9}"/>
                </a:ext>
              </a:extLst>
            </p:cNvPr>
            <p:cNvSpPr txBox="1"/>
            <p:nvPr/>
          </p:nvSpPr>
          <p:spPr>
            <a:xfrm rot="2574845">
              <a:off x="3188533" y="2354763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H1.1.6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B5C0E78-F64F-6889-E448-250C19943F67}"/>
                </a:ext>
              </a:extLst>
            </p:cNvPr>
            <p:cNvSpPr txBox="1"/>
            <p:nvPr/>
          </p:nvSpPr>
          <p:spPr>
            <a:xfrm rot="18093891">
              <a:off x="2986296" y="2904230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H1.2.5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295B03-8A71-8241-A6BB-7078D5F824F3}"/>
                </a:ext>
              </a:extLst>
            </p:cNvPr>
            <p:cNvSpPr txBox="1"/>
            <p:nvPr/>
          </p:nvSpPr>
          <p:spPr>
            <a:xfrm rot="3898164">
              <a:off x="3139256" y="2643159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H1.1.7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7ECDA11-269A-BB14-18E7-038975E23118}"/>
                </a:ext>
              </a:extLst>
            </p:cNvPr>
            <p:cNvSpPr txBox="1"/>
            <p:nvPr/>
          </p:nvSpPr>
          <p:spPr>
            <a:xfrm rot="4486416">
              <a:off x="2912606" y="2705947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H1.1.8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09EC839-0B10-C8AA-32A8-E1341C98F9F7}"/>
                </a:ext>
              </a:extLst>
            </p:cNvPr>
            <p:cNvSpPr txBox="1"/>
            <p:nvPr/>
          </p:nvSpPr>
          <p:spPr>
            <a:xfrm rot="19343265">
              <a:off x="3276917" y="2884491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H1.2.6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D0A5555-8B6E-1E42-EB04-1179F7471217}"/>
                </a:ext>
              </a:extLst>
            </p:cNvPr>
            <p:cNvSpPr txBox="1"/>
            <p:nvPr/>
          </p:nvSpPr>
          <p:spPr>
            <a:xfrm rot="1604262">
              <a:off x="3252168" y="3452526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H1.2.7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C3EE828-EF11-5E8D-11DB-FF1D44447CD0}"/>
                </a:ext>
              </a:extLst>
            </p:cNvPr>
            <p:cNvSpPr txBox="1"/>
            <p:nvPr/>
          </p:nvSpPr>
          <p:spPr>
            <a:xfrm rot="3724574">
              <a:off x="3205233" y="3889341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H1.2.8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3B1425C-5DA2-7194-4811-0B74D24E6E8F}"/>
                </a:ext>
              </a:extLst>
            </p:cNvPr>
            <p:cNvSpPr txBox="1"/>
            <p:nvPr/>
          </p:nvSpPr>
          <p:spPr>
            <a:xfrm>
              <a:off x="5477691" y="1670933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H2.1.1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BC416DE-3FAE-97F7-AEA6-51AFF24E718E}"/>
                </a:ext>
              </a:extLst>
            </p:cNvPr>
            <p:cNvSpPr txBox="1"/>
            <p:nvPr/>
          </p:nvSpPr>
          <p:spPr>
            <a:xfrm>
              <a:off x="5961432" y="1555612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H2.2.1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9ECEFBF-7354-DB32-B302-C2C89C55291E}"/>
                </a:ext>
              </a:extLst>
            </p:cNvPr>
            <p:cNvSpPr txBox="1"/>
            <p:nvPr/>
          </p:nvSpPr>
          <p:spPr>
            <a:xfrm>
              <a:off x="6450873" y="1447613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H2.3.1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190619-42F6-72E2-2E72-BC8DCE670894}"/>
                </a:ext>
              </a:extLst>
            </p:cNvPr>
            <p:cNvSpPr txBox="1"/>
            <p:nvPr/>
          </p:nvSpPr>
          <p:spPr>
            <a:xfrm>
              <a:off x="7076094" y="1324502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H2.4.1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4EA50B7-2534-D7BC-B63B-892B46D7B0E7}"/>
                </a:ext>
              </a:extLst>
            </p:cNvPr>
            <p:cNvSpPr txBox="1"/>
            <p:nvPr/>
          </p:nvSpPr>
          <p:spPr>
            <a:xfrm>
              <a:off x="9750018" y="2025253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H3.1.1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090A901-3E8F-A5B2-7B6F-C51CEB325488}"/>
                </a:ext>
              </a:extLst>
            </p:cNvPr>
            <p:cNvSpPr txBox="1"/>
            <p:nvPr/>
          </p:nvSpPr>
          <p:spPr>
            <a:xfrm rot="18510576">
              <a:off x="9679480" y="2451759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H3.2.1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736DA35-1E6C-DE64-1E81-92AC9F13D0A2}"/>
                </a:ext>
              </a:extLst>
            </p:cNvPr>
            <p:cNvSpPr txBox="1"/>
            <p:nvPr/>
          </p:nvSpPr>
          <p:spPr>
            <a:xfrm rot="17344600">
              <a:off x="9622255" y="3074790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H3.3.1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C3368D9-E2FF-218E-8A80-02A14B9EE0A7}"/>
                </a:ext>
              </a:extLst>
            </p:cNvPr>
            <p:cNvSpPr txBox="1"/>
            <p:nvPr/>
          </p:nvSpPr>
          <p:spPr>
            <a:xfrm>
              <a:off x="9970215" y="3786942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H3.4.1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C413C4E-443A-4639-BF7E-6E2FD4198B50}"/>
                </a:ext>
              </a:extLst>
            </p:cNvPr>
            <p:cNvSpPr txBox="1"/>
            <p:nvPr/>
          </p:nvSpPr>
          <p:spPr>
            <a:xfrm>
              <a:off x="6851530" y="2032803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H2.1.4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2C4E098-E8BE-6E78-DB43-029C7F21A863}"/>
                </a:ext>
              </a:extLst>
            </p:cNvPr>
            <p:cNvSpPr txBox="1"/>
            <p:nvPr/>
          </p:nvSpPr>
          <p:spPr>
            <a:xfrm rot="3009750">
              <a:off x="6723239" y="2356048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H2.1.3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1143263-2E87-706F-0E81-64B7F281F778}"/>
                </a:ext>
              </a:extLst>
            </p:cNvPr>
            <p:cNvSpPr txBox="1"/>
            <p:nvPr/>
          </p:nvSpPr>
          <p:spPr>
            <a:xfrm rot="4114190">
              <a:off x="6489056" y="2508355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H2.1.2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D1E93F4-AF63-89E1-D404-F35F0547BD77}"/>
                </a:ext>
              </a:extLst>
            </p:cNvPr>
            <p:cNvSpPr txBox="1"/>
            <p:nvPr/>
          </p:nvSpPr>
          <p:spPr>
            <a:xfrm rot="18966847">
              <a:off x="6764855" y="2542616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H2.2.4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02C7F96-B314-9845-0860-B7345E46223C}"/>
                </a:ext>
              </a:extLst>
            </p:cNvPr>
            <p:cNvSpPr txBox="1"/>
            <p:nvPr/>
          </p:nvSpPr>
          <p:spPr>
            <a:xfrm rot="959584">
              <a:off x="6737406" y="2833103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H2.2.3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2EEFCDB-7FD5-3B3B-B5A9-7BFFA5DD47D3}"/>
                </a:ext>
              </a:extLst>
            </p:cNvPr>
            <p:cNvSpPr txBox="1"/>
            <p:nvPr/>
          </p:nvSpPr>
          <p:spPr>
            <a:xfrm rot="3455819">
              <a:off x="6689214" y="3123994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H2.2.2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8BA7153-19E2-FD5B-31FA-96DB1A832B14}"/>
                </a:ext>
              </a:extLst>
            </p:cNvPr>
            <p:cNvSpPr txBox="1"/>
            <p:nvPr/>
          </p:nvSpPr>
          <p:spPr>
            <a:xfrm rot="17742157">
              <a:off x="6525947" y="3287629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H2.3.4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6B24E33-A8D9-4200-8EB6-D925F9881ACC}"/>
                </a:ext>
              </a:extLst>
            </p:cNvPr>
            <p:cNvSpPr txBox="1"/>
            <p:nvPr/>
          </p:nvSpPr>
          <p:spPr>
            <a:xfrm rot="19005846">
              <a:off x="6675893" y="3529561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H2.3.3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D96EC-2814-F51A-4204-ED257F0A7019}"/>
                </a:ext>
              </a:extLst>
            </p:cNvPr>
            <p:cNvSpPr txBox="1"/>
            <p:nvPr/>
          </p:nvSpPr>
          <p:spPr>
            <a:xfrm rot="1496257">
              <a:off x="6676819" y="3908440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H2.3.2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D3D6281-2C5C-1776-1828-A822CACEC5A7}"/>
                </a:ext>
              </a:extLst>
            </p:cNvPr>
            <p:cNvSpPr txBox="1"/>
            <p:nvPr/>
          </p:nvSpPr>
          <p:spPr>
            <a:xfrm rot="17141656">
              <a:off x="6489056" y="4158989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H2.4.4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9AD04D7-95C0-D86F-B45C-3C5F3120823E}"/>
                </a:ext>
              </a:extLst>
            </p:cNvPr>
            <p:cNvSpPr txBox="1"/>
            <p:nvPr/>
          </p:nvSpPr>
          <p:spPr>
            <a:xfrm rot="17626356">
              <a:off x="6723238" y="4182531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H2.4.3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208B5A4-C2CF-ECA6-81BE-D6AC700D62C8}"/>
                </a:ext>
              </a:extLst>
            </p:cNvPr>
            <p:cNvSpPr txBox="1"/>
            <p:nvPr/>
          </p:nvSpPr>
          <p:spPr>
            <a:xfrm rot="19085027">
              <a:off x="6781017" y="4479219"/>
              <a:ext cx="6959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/>
                <a:t>H2.4.2</a:t>
              </a:r>
            </a:p>
          </p:txBody>
        </p:sp>
      </p:grpSp>
      <p:sp>
        <p:nvSpPr>
          <p:cNvPr id="65" name="Title 1">
            <a:extLst>
              <a:ext uri="{FF2B5EF4-FFF2-40B4-BE49-F238E27FC236}">
                <a16:creationId xmlns:a16="http://schemas.microsoft.com/office/drawing/2014/main" id="{BE241BAF-7A05-DA45-8840-812864BC463E}"/>
              </a:ext>
            </a:extLst>
          </p:cNvPr>
          <p:cNvSpPr txBox="1">
            <a:spLocks/>
          </p:cNvSpPr>
          <p:nvPr/>
        </p:nvSpPr>
        <p:spPr>
          <a:xfrm>
            <a:off x="418012" y="375568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Hypotheses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in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general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</a:rPr>
              <a:t> (N = 625)</a:t>
            </a:r>
            <a:endParaRPr lang="zh-CN" altLang="en-US" sz="2000" b="1" dirty="0">
              <a:latin typeface="Heiti SC Medium" pitchFamily="2" charset="-128"/>
              <a:ea typeface="Heiti SC Medium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597AF-C053-8CAF-4E80-C197140F9A7D}"/>
              </a:ext>
            </a:extLst>
          </p:cNvPr>
          <p:cNvSpPr txBox="1">
            <a:spLocks/>
          </p:cNvSpPr>
          <p:nvPr/>
        </p:nvSpPr>
        <p:spPr>
          <a:xfrm>
            <a:off x="418012" y="375568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Hypothesis list and reference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C6B7E-60CA-C572-3233-DEC2D39DA304}"/>
              </a:ext>
            </a:extLst>
          </p:cNvPr>
          <p:cNvSpPr txBox="1"/>
          <p:nvPr/>
        </p:nvSpPr>
        <p:spPr>
          <a:xfrm>
            <a:off x="418012" y="1417611"/>
            <a:ext cx="10885528" cy="446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§"/>
              <a:defRPr sz="189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en-GB" sz="1600" b="1" dirty="0">
                <a:latin typeface="Heiti SC Medium" pitchFamily="2" charset="-128"/>
                <a:ea typeface="Heiti SC Medium" pitchFamily="2" charset="-128"/>
                <a:cs typeface="+mj-cs"/>
              </a:rPr>
              <a:t>The hypotheses use “associated with” because questionnaire data support tests of relationships rather than causal impacts.</a:t>
            </a: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§"/>
              <a:defRPr sz="189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endParaRPr lang="en-GB" sz="1600" b="1" dirty="0">
              <a:latin typeface="Heiti SC Medium" pitchFamily="2" charset="-128"/>
              <a:ea typeface="Heiti SC Medium" pitchFamily="2" charset="-128"/>
              <a:cs typeface="+mj-cs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§"/>
              <a:defRPr sz="189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en-GB" sz="1600" b="1" dirty="0">
                <a:latin typeface="Heiti SC Medium" pitchFamily="2" charset="-128"/>
                <a:ea typeface="Heiti SC Medium" pitchFamily="2" charset="-128"/>
                <a:cs typeface="+mj-cs"/>
              </a:rPr>
              <a:t>All outcomes concern wild boars. H1.1 uses human</a:t>
            </a:r>
            <a:r>
              <a:rPr lang="en-US" altLang="zh-CN" sz="1600" b="1" dirty="0">
                <a:latin typeface="Heiti SC Medium" pitchFamily="2" charset="-128"/>
                <a:ea typeface="Heiti SC Medium" pitchFamily="2" charset="-128"/>
                <a:cs typeface="+mj-cs"/>
              </a:rPr>
              <a:t>-</a:t>
            </a:r>
            <a:r>
              <a:rPr lang="en-GB" sz="1600" b="1" dirty="0">
                <a:latin typeface="Heiti SC Medium" pitchFamily="2" charset="-128"/>
                <a:ea typeface="Heiti SC Medium" pitchFamily="2" charset="-128"/>
                <a:cs typeface="+mj-cs"/>
              </a:rPr>
              <a:t>wild</a:t>
            </a:r>
            <a:r>
              <a:rPr lang="zh-CN" altLang="en-US" sz="16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lang="en-GB" sz="1600" b="1" dirty="0">
                <a:latin typeface="Heiti SC Medium" pitchFamily="2" charset="-128"/>
                <a:ea typeface="Heiti SC Medium" pitchFamily="2" charset="-128"/>
                <a:cs typeface="+mj-cs"/>
              </a:rPr>
              <a:t>boar conflict experience; H1.2 uses conflict experience involving all wildlife.</a:t>
            </a: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§"/>
              <a:defRPr sz="189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endParaRPr lang="en-GB" sz="1600" b="1" dirty="0">
              <a:latin typeface="Heiti SC Medium" pitchFamily="2" charset="-128"/>
              <a:ea typeface="Heiti SC Medium" pitchFamily="2" charset="-128"/>
              <a:cs typeface="+mj-cs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  <a:defRPr sz="189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en-GB" sz="1600" b="1" dirty="0">
                <a:latin typeface="Heiti SC Medium" pitchFamily="2" charset="-128"/>
                <a:ea typeface="Heiti SC Medium" pitchFamily="2" charset="-128"/>
                <a:cs typeface="+mj-cs"/>
              </a:rPr>
              <a:t>The research distinguish related evidence, exploratory predictions, and mixed findings</a:t>
            </a:r>
            <a:r>
              <a:rPr lang="zh-CN" altLang="en-US" sz="1600" b="1" dirty="0">
                <a:latin typeface="Heiti SC Medium" pitchFamily="2" charset="-128"/>
                <a:ea typeface="Heiti SC Medium" pitchFamily="2" charset="-128"/>
                <a:cs typeface="+mj-cs"/>
              </a:rPr>
              <a:t>：</a:t>
            </a:r>
            <a:endParaRPr lang="en-US" altLang="zh-CN" sz="1600" b="1" dirty="0">
              <a:latin typeface="Heiti SC Medium" pitchFamily="2" charset="-128"/>
              <a:ea typeface="Heiti SC Medium" pitchFamily="2" charset="-128"/>
              <a:cs typeface="+mj-cs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  <a:defRPr sz="189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en-GB" sz="1600" b="1" dirty="0">
                <a:solidFill>
                  <a:schemeClr val="accent1"/>
                </a:solidFill>
                <a:latin typeface="Heiti SC Medium" pitchFamily="2" charset="-128"/>
                <a:ea typeface="Heiti SC Medium" pitchFamily="2" charset="-128"/>
                <a:cs typeface="+mj-cs"/>
              </a:rPr>
              <a:t>Related evidence: Studies examine a similar relationship, sometimes with another species or measure.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  <a:defRPr sz="189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en-GB" sz="1600" b="1" dirty="0">
                <a:solidFill>
                  <a:schemeClr val="accent1"/>
                </a:solidFill>
                <a:latin typeface="Heiti SC Medium" pitchFamily="2" charset="-128"/>
                <a:ea typeface="Heiti SC Medium" pitchFamily="2" charset="-128"/>
                <a:cs typeface="+mj-cs"/>
              </a:rPr>
              <a:t>Exploratory: The references provide a possible rationale, but do not establish the exact predicted direction.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  <a:defRPr sz="189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en-GB" sz="1600" b="1" dirty="0">
                <a:solidFill>
                  <a:schemeClr val="accent1"/>
                </a:solidFill>
                <a:latin typeface="Heiti SC Medium" pitchFamily="2" charset="-128"/>
                <a:ea typeface="Heiti SC Medium" pitchFamily="2" charset="-128"/>
                <a:cs typeface="+mj-cs"/>
              </a:rPr>
              <a:t>Mixed: Published findings differ.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  <a:defRPr sz="189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endParaRPr lang="en-GB" sz="1600" b="1" dirty="0">
              <a:solidFill>
                <a:srgbClr val="6B7280"/>
              </a:solidFill>
              <a:latin typeface="Heiti SC Medium" pitchFamily="2" charset="-128"/>
              <a:ea typeface="Heiti SC Medium" pitchFamily="2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4276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7E9F1-2A00-E1EF-8CB5-A7CD49F20A1F}"/>
              </a:ext>
            </a:extLst>
          </p:cNvPr>
          <p:cNvSpPr txBox="1">
            <a:spLocks/>
          </p:cNvSpPr>
          <p:nvPr/>
        </p:nvSpPr>
        <p:spPr>
          <a:xfrm>
            <a:off x="418012" y="375568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Conflict experience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580A1C05-EA6F-5DD3-BD19-C751B9B10566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H1.1.1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H1.1.4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&amp;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lang="en-GB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H1.</a:t>
            </a:r>
            <a:r>
              <a:rPr lang="en-US" altLang="zh-CN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2</a:t>
            </a:r>
            <a:r>
              <a:rPr lang="en-GB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.1 – H1.</a:t>
            </a:r>
            <a:r>
              <a:rPr lang="en-US" altLang="zh-CN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2</a:t>
            </a:r>
            <a:r>
              <a:rPr lang="en-GB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.4</a:t>
            </a:r>
            <a:r>
              <a:rPr lang="en-GB" altLang="zh-CN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endParaRPr sz="2000" b="1" dirty="0">
              <a:latin typeface="Heiti SC Medium" pitchFamily="2" charset="-128"/>
              <a:ea typeface="Heiti SC Medium" pitchFamily="2" charset="-128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603C9E-5C86-825B-5020-AB10C89132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8120274"/>
              </p:ext>
            </p:extLst>
          </p:nvPr>
        </p:nvGraphicFramePr>
        <p:xfrm>
          <a:off x="495300" y="1504950"/>
          <a:ext cx="11201400" cy="489585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tx1"/>
                          </a:solidFill>
                        </a:rPr>
                        <a:t>Number</a:t>
                      </a:r>
                      <a:endParaRPr sz="1600" b="1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Hypothesis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References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Evidence fit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H1.1.1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DE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.1</a:t>
                      </a:r>
                    </a:p>
                    <a:p>
                      <a:pPr algn="l"/>
                      <a:endParaRPr lang="en-GB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Greater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human-wild boar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 conflict experience is associated with lower tolerance toward wild boars.</a:t>
                      </a:r>
                      <a:endParaRPr sz="1600" b="0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GB" sz="1600" b="0" u="none" dirty="0">
                          <a:solidFill>
                            <a:schemeClr val="tx1"/>
                          </a:solidFill>
                        </a:rPr>
                        <a:t>Kansky et al., 2016)</a:t>
                      </a:r>
                    </a:p>
                    <a:p>
                      <a:pPr algn="l"/>
                      <a:r>
                        <a:rPr lang="en-GB" sz="1600" b="0" u="none" dirty="0">
                          <a:solidFill>
                            <a:schemeClr val="tx1"/>
                          </a:solidFill>
                        </a:rPr>
                        <a:t>(Zhou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Related evidence; effects may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directly related or 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operate through costs and benefits.</a:t>
                      </a:r>
                      <a:endParaRPr sz="1600" b="0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H1.1.2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GB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Greater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human-wild boar conflict experience 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is associated with lower perceived intangible benefits of wild boars.</a:t>
                      </a:r>
                      <a:endParaRPr sz="1600" b="0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GB" sz="1600" b="0" u="none" dirty="0">
                          <a:solidFill>
                            <a:schemeClr val="tx1"/>
                          </a:solidFill>
                        </a:rPr>
                        <a:t>Kansky et al., 2016)</a:t>
                      </a:r>
                    </a:p>
                    <a:p>
                      <a:pPr algn="l"/>
                      <a:r>
                        <a:rPr lang="en-GB" sz="1600" b="0" u="none" dirty="0">
                          <a:solidFill>
                            <a:schemeClr val="tx1"/>
                          </a:solidFill>
                        </a:rPr>
                        <a:t>(Yu et al.,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Related evidence;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including ecological value and emotional value</a:t>
                      </a:r>
                      <a:endParaRPr sz="1600" b="0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H1.1.3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GB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Greater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human-wild boar conflict experience 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is associated with higher perceived intangible costs of wild boars.</a:t>
                      </a:r>
                      <a:endParaRPr sz="1600" b="0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GB" sz="1600" b="0" u="none" dirty="0">
                          <a:solidFill>
                            <a:schemeClr val="tx1"/>
                          </a:solidFill>
                        </a:rPr>
                        <a:t>Kansky et al., 2016)</a:t>
                      </a:r>
                    </a:p>
                    <a:p>
                      <a:pPr algn="l"/>
                      <a:r>
                        <a:rPr lang="en-GB" sz="1600" b="0" u="none" dirty="0">
                          <a:solidFill>
                            <a:schemeClr val="tx1"/>
                          </a:solidFill>
                        </a:rPr>
                        <a:t>(Yu et al.,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Related evidence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on negative experiences, fear, and psychological costs.</a:t>
                      </a:r>
                      <a:endParaRPr sz="1600" b="0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H1.1.4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GB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Greater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human-wild boar conflict experience 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is associated with higher tangible costs.</a:t>
                      </a:r>
                      <a:endParaRPr sz="1600" b="0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u="none" dirty="0">
                          <a:solidFill>
                            <a:schemeClr val="tx1"/>
                          </a:solidFill>
                        </a:rPr>
                        <a:t>(Bobek et al., 2017)</a:t>
                      </a:r>
                    </a:p>
                    <a:p>
                      <a:pPr algn="l"/>
                      <a:r>
                        <a:rPr lang="en-US" sz="1600" b="0" u="non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GB" sz="1600" b="0" u="none" dirty="0">
                          <a:solidFill>
                            <a:schemeClr val="tx1"/>
                          </a:solidFill>
                        </a:rPr>
                        <a:t>Kansky et al., 2016)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Related evidence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</a:rPr>
                        <a:t> linking exposure or population density with damage.</a:t>
                      </a:r>
                      <a:endParaRPr sz="1600" b="0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45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A9ACC-249F-1430-0E2A-1B3F8C0F3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18AD-445B-15DF-F289-E7CDC9807C63}"/>
              </a:ext>
            </a:extLst>
          </p:cNvPr>
          <p:cNvSpPr txBox="1">
            <a:spLocks/>
          </p:cNvSpPr>
          <p:nvPr/>
        </p:nvSpPr>
        <p:spPr>
          <a:xfrm>
            <a:off x="418012" y="375568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Conflict experience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58459CFE-221A-BB47-36C3-AFA83D69315B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H1.1.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5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H1.1.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8</a:t>
            </a:r>
            <a:r>
              <a:rPr lang="zh-CN" alt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lang="en-US" altLang="zh-CN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&amp;</a:t>
            </a:r>
            <a:r>
              <a:rPr lang="zh-CN" altLang="en-US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en-GB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H1.</a:t>
            </a:r>
            <a:r>
              <a:rPr lang="en-US" altLang="zh-CN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2</a:t>
            </a:r>
            <a:r>
              <a:rPr lang="en-GB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.</a:t>
            </a:r>
            <a:r>
              <a:rPr lang="en-US" altLang="zh-CN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5</a:t>
            </a:r>
            <a:r>
              <a:rPr lang="en-GB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 – H1.</a:t>
            </a:r>
            <a:r>
              <a:rPr lang="en-US" altLang="zh-CN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2</a:t>
            </a:r>
            <a:r>
              <a:rPr lang="en-GB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.</a:t>
            </a:r>
            <a:r>
              <a:rPr lang="en-US" altLang="zh-CN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8</a:t>
            </a:r>
            <a:r>
              <a:rPr lang="en-GB" altLang="zh-CN" sz="2000" b="1" dirty="0">
                <a:solidFill>
                  <a:srgbClr val="6B728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endParaRPr sz="2000" b="1" dirty="0">
              <a:latin typeface="Heiti SC Medium" pitchFamily="2" charset="-128"/>
              <a:ea typeface="Heiti SC Medium" pitchFamily="2" charset="-128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C15694-87C4-28AF-EF0B-9D239EA00A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726792"/>
              </p:ext>
            </p:extLst>
          </p:nvPr>
        </p:nvGraphicFramePr>
        <p:xfrm>
          <a:off x="495300" y="1504950"/>
          <a:ext cx="11201400" cy="489585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tx1"/>
                          </a:solidFill>
                        </a:rPr>
                        <a:t>Number</a:t>
                      </a:r>
                      <a:endParaRPr sz="1600" b="1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Hypothesis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References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Evidence fit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H1.1.5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GB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human-wild boar conflict experience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associated with lower perceived prevention effectiveness.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(Zhou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persistent damage and ineffective management provide a rationale.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H1.1.6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GB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human-wild boar conflict experience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associated with a higher likelihood of applying for compensation.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(Ogra &amp;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Badola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2008)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more damage might prompt farmers to seek help.</a:t>
                      </a:r>
                      <a:endParaRPr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H1.1.7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GB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human-wild boar conflict experience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associated with stronger compensation anticipation.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(Xu et al., 2019)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(Ogra &amp;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Badola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2008)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Related rationale; 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farmers will expect higher compensation proportion with more damage.</a:t>
                      </a:r>
                      <a:endParaRPr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H1.1.8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GB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human-wild boar conflict experience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associated with greater policy dependency.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(Ogra &amp; </a:t>
                      </a:r>
                      <a:r>
                        <a:rPr lang="en-GB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Badola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2008)</a:t>
                      </a:r>
                    </a:p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(DeMotts &amp; Hoon, 2012)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farmers will seek for more support from different institutes with more damage.</a:t>
                      </a:r>
                    </a:p>
                    <a:p>
                      <a:pPr algn="l"/>
                      <a:endParaRPr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0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9BBEB-E512-1196-1D85-2732A931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D41A-FCF6-BA83-666B-214F478BBE14}"/>
              </a:ext>
            </a:extLst>
          </p:cNvPr>
          <p:cNvSpPr txBox="1">
            <a:spLocks/>
          </p:cNvSpPr>
          <p:nvPr/>
        </p:nvSpPr>
        <p:spPr>
          <a:xfrm>
            <a:off x="418012" y="375568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Perceived Control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D937F82E-6933-3CC0-DFAF-4DE879EDAAC3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2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.1.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1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2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.1.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4</a:t>
            </a:r>
            <a:endParaRPr sz="2000" b="1" dirty="0">
              <a:latin typeface="Heiti SC Medium" pitchFamily="2" charset="-128"/>
              <a:ea typeface="Heiti SC Medium" pitchFamily="2" charset="-128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217534-F254-FA79-95B6-F01431B928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2402227"/>
              </p:ext>
            </p:extLst>
          </p:nvPr>
        </p:nvGraphicFramePr>
        <p:xfrm>
          <a:off x="495300" y="1504950"/>
          <a:ext cx="11201400" cy="489585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tx1"/>
                          </a:solidFill>
                        </a:rPr>
                        <a:t>Number</a:t>
                      </a:r>
                      <a:endParaRPr sz="1600" b="1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Hypothesis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References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Evidence fit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Higher perceived prevention 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control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associated with higher tolerance toward wild boars.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(Zajac et al., 2012)</a:t>
                      </a:r>
                    </a:p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(Li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Related evidence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on personal control and perceived fence usefulness.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Higher perceived prevention 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control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associated with greater perceived intangible benefits.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(Zajac et al., 2012)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(Kansky et al., 2016)</a:t>
                      </a:r>
                    </a:p>
                    <a:p>
                      <a:pPr algn="l"/>
                      <a:endParaRPr 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Related evidence; 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personal control can indirectly raise stakeholders' acceptance by reducing risk perception and increasing perception of benefit.</a:t>
                      </a:r>
                      <a:endParaRPr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Higher perceived prevention 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control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associated with lower perceived intangible costs.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(Zajac et al., 2012)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(Kansky et al., 2016)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Related evidence; personal control can indirectly raise stakeholders' acceptance by reducing risk perception and increasing perception of benefit.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Higher perceived prevention 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control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associated with lower 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perceived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tangible costs.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(Zhang et al.,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Related evidence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effective prevention reduced actual wild-boar damage.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93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28E94-BC2C-6C39-2E71-5834934B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EE144-7A2E-8727-EF06-CAE08BE306BD}"/>
              </a:ext>
            </a:extLst>
          </p:cNvPr>
          <p:cNvSpPr txBox="1">
            <a:spLocks/>
          </p:cNvSpPr>
          <p:nvPr/>
        </p:nvSpPr>
        <p:spPr>
          <a:xfrm>
            <a:off x="418012" y="375568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Compensation participation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83F79C65-87CC-BBFB-CE36-496582B57CCB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2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2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1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2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2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4</a:t>
            </a:r>
            <a:endParaRPr sz="2000" b="1" dirty="0">
              <a:latin typeface="Heiti SC Medium" pitchFamily="2" charset="-128"/>
              <a:ea typeface="Heiti SC Medium" pitchFamily="2" charset="-128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C3884B-020B-A4A0-1155-22DF95A007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0976599"/>
              </p:ext>
            </p:extLst>
          </p:nvPr>
        </p:nvGraphicFramePr>
        <p:xfrm>
          <a:off x="495300" y="1504950"/>
          <a:ext cx="11201400" cy="489585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tx1"/>
                          </a:solidFill>
                        </a:rPr>
                        <a:t>Number</a:t>
                      </a:r>
                      <a:endParaRPr sz="1600" b="1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Hypothesis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References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Evidence fit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Residents who applied for compensation show greater tolerance toward wild boars.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Hemminger et al., 2025)</a:t>
                      </a:r>
                    </a:p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(Naughton-Treves et al., 2003)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Mixed; compensation increased tolerated losses in one study, while recipients were not more tolerant in another.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Compensation participation is associated with greater perceived intangible benefits.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(Hemminger et al., 2025)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(Kansky et al., 2016)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neither tests application increasing perceived ecological value.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Compensation participation is associated with lower perceived intangible costs.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(Ogra &amp;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Badola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2008)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Hemminger et al.,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Exploratory/mixed; administrative problems can sustain frustration despite compensation.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Compensation participation is associated with lower 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perceived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tangible costs.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Hemminger et al., 2025)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(Ogra &amp;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Badola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2008)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payment may offset losses, but application alone does not.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69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D223E-19D3-6618-A650-DFB2936CE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FF58B-3843-F4A3-84C7-0F458A38D252}"/>
              </a:ext>
            </a:extLst>
          </p:cNvPr>
          <p:cNvSpPr txBox="1">
            <a:spLocks/>
          </p:cNvSpPr>
          <p:nvPr/>
        </p:nvSpPr>
        <p:spPr>
          <a:xfrm>
            <a:off x="418012" y="375568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Compensation anticipation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FB584621-6F63-F4C6-4BD4-DA7161A5C781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2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3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1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2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3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4</a:t>
            </a:r>
            <a:endParaRPr sz="2000" b="1" dirty="0">
              <a:latin typeface="Heiti SC Medium" pitchFamily="2" charset="-128"/>
              <a:ea typeface="Heiti SC Medium" pitchFamily="2" charset="-128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31B22A-D17F-072A-F7CF-13281ECD76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6602889"/>
              </p:ext>
            </p:extLst>
          </p:nvPr>
        </p:nvGraphicFramePr>
        <p:xfrm>
          <a:off x="495300" y="1504950"/>
          <a:ext cx="11201400" cy="489585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tx1"/>
                          </a:solidFill>
                        </a:rPr>
                        <a:t>Number</a:t>
                      </a:r>
                      <a:endParaRPr sz="1600" b="1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Hypothesis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References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Evidence fit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compensation anticipation is associated with lower tolerance toward wild boars.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(Ogra &amp;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Badola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2008)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background on expectations and dissatisfaction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exact negative relationship untested.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compensation anticipation is associated with lower perceived intangible benefits.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(Byl, 2021)</a:t>
                      </a:r>
                    </a:p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(Hemminger et al.,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financial incentives and conservation motivation provide a possible mechanism, rather than direct evidence about benefits.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compensation anticipation is associated with higher perceived intangible costs.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(Ogra &amp;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Badola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2008)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background on frustrated expectations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anticipation itself was not tested as this predictor.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compensation anticipation is associated with higher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perceived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tangible costs.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(Xu et al., 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Related evidence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connects compensation demands with losses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the reverse direction, costs influencing demands, is plausible.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28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8FEA9-5AF5-9790-1BC4-887F8304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2C06-363E-4098-A9E5-8EEA66207E9D}"/>
              </a:ext>
            </a:extLst>
          </p:cNvPr>
          <p:cNvSpPr txBox="1">
            <a:spLocks/>
          </p:cNvSpPr>
          <p:nvPr/>
        </p:nvSpPr>
        <p:spPr>
          <a:xfrm>
            <a:off x="418012" y="375568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Policy dependency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B1190815-C184-11C9-F947-8593501DDB63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2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4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1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2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4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4</a:t>
            </a:r>
            <a:endParaRPr sz="2000" b="1" dirty="0">
              <a:latin typeface="Heiti SC Medium" pitchFamily="2" charset="-128"/>
              <a:ea typeface="Heiti SC Medium" pitchFamily="2" charset="-128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0B3D4B-E7F6-AF78-A776-33149F8372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5811105"/>
              </p:ext>
            </p:extLst>
          </p:nvPr>
        </p:nvGraphicFramePr>
        <p:xfrm>
          <a:off x="495300" y="1504950"/>
          <a:ext cx="11201400" cy="489585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tx1"/>
                          </a:solidFill>
                        </a:rPr>
                        <a:t>Number</a:t>
                      </a:r>
                      <a:endParaRPr sz="1600" b="1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Hypothesis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References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Evidence fit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policy dependency is associated with lower tolerance toward wild boars.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DeMotts &amp; Hoon, 2012)</a:t>
                      </a:r>
                    </a:p>
                    <a:p>
                      <a:pPr algn="l"/>
                      <a:r>
                        <a:rPr lang="en-GB" sz="1600" b="0" u="none" dirty="0">
                          <a:solidFill>
                            <a:schemeClr val="tx1"/>
                          </a:solidFill>
                        </a:rPr>
                        <a:t>(Yu et al.,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better institutional performance can instead predict higher tolerance.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policy dependency is associated with lower perceived intangible benefits.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(Kansky et al., 2016)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DeMotts &amp; Hoon, 2012)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contextual institutional rationale only.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policy dependency is associated with higher perceived intangible costs.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DeMotts &amp; Hoon, 2012)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(Kansky et al., 2016)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limited agency and unresolved conflict may create burdens.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H2.4.4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Greater policy dependency is associated with higher 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perceived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tangible costs.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DeMotts &amp; Hoon, 2012)</a:t>
                      </a:r>
                    </a:p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(Xu et al., 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Exploratory; larger losses may instead stimulate help-seeking.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184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5D4AF-38FD-7400-E704-539B070E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01A5-38A0-686B-7D22-AE0CF9F01B65}"/>
              </a:ext>
            </a:extLst>
          </p:cNvPr>
          <p:cNvSpPr txBox="1">
            <a:spLocks/>
          </p:cNvSpPr>
          <p:nvPr/>
        </p:nvSpPr>
        <p:spPr>
          <a:xfrm>
            <a:off x="418012" y="375568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Costs benefits and gender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3DF5079A-30AD-8D2A-78EB-6490861ED6F7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1163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</a:lstStyle>
          <a:p>
            <a:pPr>
              <a:defRPr sz="1702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3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.1.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1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–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 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H</a:t>
            </a:r>
            <a:r>
              <a:rPr lang="en-US" altLang="zh-CN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3</a:t>
            </a:r>
            <a:r>
              <a:rPr sz="2000" b="1" dirty="0">
                <a:latin typeface="Heiti SC Medium" pitchFamily="2" charset="-128"/>
                <a:ea typeface="Heiti SC Medium" pitchFamily="2" charset="-128"/>
                <a:cs typeface="+mj-cs"/>
              </a:rPr>
              <a:t>.1.</a:t>
            </a:r>
            <a:r>
              <a:rPr lang="en-US" sz="2000" b="1" dirty="0">
                <a:latin typeface="Heiti SC Medium" pitchFamily="2" charset="-128"/>
                <a:ea typeface="Heiti SC Medium" pitchFamily="2" charset="-128"/>
                <a:cs typeface="+mj-cs"/>
              </a:rPr>
              <a:t>4</a:t>
            </a:r>
            <a:endParaRPr sz="2000" b="1" dirty="0">
              <a:latin typeface="Heiti SC Medium" pitchFamily="2" charset="-128"/>
              <a:ea typeface="Heiti SC Medium" pitchFamily="2" charset="-128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773B36-FC8C-B7C1-260D-4E2AC40C86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1363932"/>
              </p:ext>
            </p:extLst>
          </p:nvPr>
        </p:nvGraphicFramePr>
        <p:xfrm>
          <a:off x="495300" y="1504950"/>
          <a:ext cx="11201400" cy="489585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chemeClr val="tx1"/>
                          </a:solidFill>
                        </a:rPr>
                        <a:t>Number</a:t>
                      </a:r>
                      <a:endParaRPr sz="1600" b="1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Hypothesis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References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Evidence fit</a:t>
                      </a:r>
                      <a:endParaRPr sz="1600" b="1" dirty="0">
                        <a:solidFill>
                          <a:schemeClr val="tx1"/>
                        </a:solidFill>
                        <a:latin typeface="HEITI TC MEDIUM" pitchFamily="2" charset="-128"/>
                        <a:ea typeface="HEITI TC MEDIUM" pitchFamily="2" charset="-128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702" b="1" dirty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H3.1.1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Perceived t</a:t>
                      </a:r>
                      <a:r>
                        <a:rPr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angible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costs have no independent association with tolerance after accounting for the other model variables.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(Kansky et al., 2016)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Saif et al.,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Related evidence; b</a:t>
                      </a:r>
                      <a:r>
                        <a:rPr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oth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studies found a non-significant tangible-cost pathway.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702" b="1" dirty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H3.2.1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Higher perceived intangible costs are associated with lower tolerance.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(Kansky et al., 2016)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(Yu et al., 2026)</a:t>
                      </a:r>
                    </a:p>
                    <a:p>
                      <a:pPr algn="l"/>
                      <a:endParaRPr 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Related evidence;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empirical support in other species and contexts.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702" b="1" dirty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H3.3.1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Higher perceived intangible benefits are associated with higher tolerance.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(Kansky et al., 2016)</a:t>
                      </a:r>
                    </a:p>
                    <a:p>
                      <a:pPr algn="l"/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(Yu et al.,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Related evidence;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empirical support in other species and contexts.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 algn="l"/>
                      <a:r>
                        <a:rPr sz="1702" b="1" dirty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H3.4.1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Gender has no independent association with tolerance.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(Kansky &amp; Knight, 2014)</a:t>
                      </a:r>
                    </a:p>
                    <a:p>
                      <a:pPr algn="l"/>
                      <a:r>
                        <a:rPr lang="en-GB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(Hosaka et al., 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Mixed: demographic predictors were generally weak, but the Japanese wild-boar study found gender differences.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575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F6085-695A-2D40-33E9-6B9CD1DC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34D825-DFED-9B84-1AF7-DD9850CEA22B}"/>
              </a:ext>
            </a:extLst>
          </p:cNvPr>
          <p:cNvSpPr txBox="1"/>
          <p:nvPr/>
        </p:nvSpPr>
        <p:spPr>
          <a:xfrm>
            <a:off x="447196" y="942772"/>
            <a:ext cx="11167631" cy="579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9088" indent="-319088">
              <a:lnSpc>
                <a:spcPct val="114000"/>
              </a:lnSpc>
            </a:pPr>
            <a:r>
              <a:rPr lang="en-DE" sz="1050" dirty="0"/>
              <a:t>Bobek, B., Furtek, J., Bobek, J., Merta, D., &amp; Wojciuch-Płoskonka, M. (2017). Spatio-temporal characteristics of crop damage caused by wild boar in north-eastern Poland. Crop Protection, 93, 106–112. </a:t>
            </a:r>
            <a:r>
              <a:rPr lang="en-DE" sz="1050" dirty="0">
                <a:hlinkClick r:id="rId2"/>
              </a:rPr>
              <a:t>https://doi.org/10.1016/j.cropro.2016.11.030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Byl, J. P. (2021). Three barriers to effective programs with payment for ecosystem services: Behavioral responses in a computer-based experiment. Sustainability, 13(22), Article 12346. </a:t>
            </a:r>
            <a:r>
              <a:rPr lang="en-DE" sz="1050" dirty="0">
                <a:hlinkClick r:id="rId3"/>
              </a:rPr>
              <a:t>https://doi.org/10.3390/su132212346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DeMotts, R., &amp; Hoon, P. (2012). Whose elephants? Conserving, compensating, and competing in northern Botswana. Society &amp; Natural Resources, 25(9), 837–851. </a:t>
            </a:r>
            <a:r>
              <a:rPr lang="en-DE" sz="1050" dirty="0">
                <a:hlinkClick r:id="rId4"/>
              </a:rPr>
              <a:t>https://doi.org/10.1080/08941920.2011.638362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Hemminger, K., Eriksson, L., Nilsson, L., Månsson, J., König, H., Bellingrath-Kimura, S. D., Hallengren, A., Ostermann-Myashita, E.-F., &amp; Kiffner, C. (2025). Farmers’ tolerance for crop damage caused by wildlife: The role of compensation. Wildlife Biology, 2025(4), Article e01243. </a:t>
            </a:r>
            <a:r>
              <a:rPr lang="en-DE" sz="1050" dirty="0">
                <a:hlinkClick r:id="rId5"/>
              </a:rPr>
              <a:t>https://doi.org/10.1002/wlb3.01243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Hosaka, T., Sugimoto, K., &amp; Numata, S. (2017). Effects of childhood experience with nature on tolerance of urban residents toward hornets and wild boars in Japan. PLOS ONE, 12(4), Article e0175243. </a:t>
            </a:r>
            <a:r>
              <a:rPr lang="en-DE" sz="1050" dirty="0">
                <a:hlinkClick r:id="rId6"/>
              </a:rPr>
              <a:t>https://doi.org/10.1371/journal.pone.0175243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Kansky, R., Kidd, M., &amp; Knight, A. T. (2016). A wildlife tolerance model and case study for understanding human wildlife conflicts. Biological Conservation, 201, 137–145. </a:t>
            </a:r>
            <a:r>
              <a:rPr lang="en-DE" sz="1050" dirty="0">
                <a:hlinkClick r:id="rId7"/>
              </a:rPr>
              <a:t>https://doi.org/10.1016/j.biocon.2016.07.002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Kansky, R., &amp; Knight, A. T. (2014). Key factors driving attitudes towards large mammals in conflict with humans. Biological Conservation, 179, 93–105. </a:t>
            </a:r>
            <a:r>
              <a:rPr lang="en-DE" sz="1050" dirty="0">
                <a:hlinkClick r:id="rId8"/>
              </a:rPr>
              <a:t>https://doi.org/10.1016/j.biocon.2014.09.008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Li, M., Jiang, W., Li, B., &amp; Butt, N. (2023). Social and cultural aspects of human–wildlife conflicts: Understanding people's attitudes to crop-raiding animals and other wildlife in agricultural systems of the Tibetan Plateau. Integrative Conservation, 2(4), 214–225. </a:t>
            </a:r>
            <a:r>
              <a:rPr lang="en-DE" sz="1050" dirty="0">
                <a:hlinkClick r:id="rId9"/>
              </a:rPr>
              <a:t>https://doi.org/10.1002/inc3.30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Naughton-Treves, L., Grossberg, R., &amp; Treves, A. (2003). Paying for tolerance: Rural citizens’ attitudes toward wolf depredation and compensation. Conservation Biology, 17(6), 1500–1511. </a:t>
            </a:r>
            <a:r>
              <a:rPr lang="en-DE" sz="1050" dirty="0">
                <a:hlinkClick r:id="rId10"/>
              </a:rPr>
              <a:t>https://doi.org/10.1111/j.1523-1739.2003.00060.x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Ogra, M., &amp; Badola, R. (2008). Compensating human–wildlife conflict in protected area communities: Ground-level perspectives from Uttarakhand, India. Human Ecology, 36, 717–729. </a:t>
            </a:r>
            <a:r>
              <a:rPr lang="en-DE" sz="1050" dirty="0">
                <a:hlinkClick r:id="rId11"/>
              </a:rPr>
              <a:t>https://doi.org/10.1007/s10745-008-9189-y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Saif, O., Kansky, R., Palash, A., Kidd, M., &amp; Knight, A. T. (2020). Costs of coexistence: Understanding the drivers of tolerance towards Asian elephants Elephas maximus in rural Bangladesh. Oryx, 54(5), 603–611. </a:t>
            </a:r>
            <a:r>
              <a:rPr lang="en-DE" sz="1050" dirty="0">
                <a:hlinkClick r:id="rId12"/>
              </a:rPr>
              <a:t>https://doi.org/10.1017/S0030605318001072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Xu, J., Wei, J., &amp; Liu, W. (2019). Escalating human–wildlife conflict in the Wolong Nature Reserve, China: A dynamic and paradoxical process. Ecology and Evolution, 9(12), 7273–7283. </a:t>
            </a:r>
            <a:r>
              <a:rPr lang="en-DE" sz="1050" dirty="0">
                <a:hlinkClick r:id="rId13"/>
              </a:rPr>
              <a:t>https://doi.org/10.1002/ece3.5299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Yu, X., Wang, B., Wang, L., Chen, F., &amp; Campos-Arceiz, A. (2026). Intangible drivers of tolerance shape human–elephant coexistence in Southwest China. People and Nature, 8(8), 2763–2780. </a:t>
            </a:r>
            <a:r>
              <a:rPr lang="en-DE" sz="1050" dirty="0">
                <a:hlinkClick r:id="rId14"/>
              </a:rPr>
              <a:t>https://doi.org/10.1002/pan3.70370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Zajac, R. M., Bruskotter, J. T., Wilson, R. S., &amp; Prange, S. (2012). Learning to live with black bears: A psychological model of acceptance. The Journal of Wildlife Management, 76(7), 1331–1340. </a:t>
            </a:r>
            <a:r>
              <a:rPr lang="en-DE" sz="1050" dirty="0">
                <a:hlinkClick r:id="rId15"/>
              </a:rPr>
              <a:t>https://doi.org/10.1002/jwmg.398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Zhang, N., Hong, Y., Yuan, X., Zhao, L., &amp; Zhang, M. (2024). Characteristics of wild boar-damaged farmland and assessment of effectiveness of prevention measures in Northeast China. Animals, 14(21), Article 3079. </a:t>
            </a:r>
            <a:r>
              <a:rPr lang="en-DE" sz="1050" dirty="0">
                <a:hlinkClick r:id="rId16"/>
              </a:rPr>
              <a:t>https://doi.org/10.3390/ani14213079</a:t>
            </a:r>
            <a:endParaRPr lang="en-DE" sz="1050" dirty="0"/>
          </a:p>
          <a:p>
            <a:pPr marL="319088" indent="-319088">
              <a:lnSpc>
                <a:spcPct val="114000"/>
              </a:lnSpc>
            </a:pPr>
            <a:r>
              <a:rPr lang="en-DE" sz="1050" dirty="0"/>
              <a:t>Zhou, X.-H., Zhang, W., Tang, D.-Y., Miao, Z., Wang, Q., &amp; MacMillan, D. C. (2023). A quantitative analysis of public preferences for the wild boar management in urban and rural China. Global Ecology and Conservation, 41, Article e02353. </a:t>
            </a:r>
            <a:r>
              <a:rPr lang="en-DE" sz="1050" dirty="0">
                <a:hlinkClick r:id="rId17"/>
              </a:rPr>
              <a:t>https://doi.org/10.1016/j.gecco.2022.e02353</a:t>
            </a:r>
            <a:endParaRPr lang="en-DE" sz="10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BEE0F0-5A83-557B-5632-4C036870F4A5}"/>
              </a:ext>
            </a:extLst>
          </p:cNvPr>
          <p:cNvSpPr txBox="1">
            <a:spLocks/>
          </p:cNvSpPr>
          <p:nvPr/>
        </p:nvSpPr>
        <p:spPr>
          <a:xfrm>
            <a:off x="418012" y="375568"/>
            <a:ext cx="5190308" cy="5769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000" b="1" dirty="0">
                <a:latin typeface="Heiti SC Medium" pitchFamily="2" charset="-128"/>
                <a:ea typeface="Heiti SC Medium" pitchFamily="2" charset="-128"/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2468057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2327</Words>
  <Application>Microsoft Macintosh PowerPoint</Application>
  <PresentationFormat>Widescreen</PresentationFormat>
  <Paragraphs>266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Heiti SC Medium</vt:lpstr>
      <vt:lpstr>Heiti TC Medium</vt:lpstr>
      <vt:lpstr>Heiti TC Medium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Mengxi Kou</dc:creator>
  <cp:lastModifiedBy>Mengxi Kou</cp:lastModifiedBy>
  <cp:revision>13</cp:revision>
  <dcterms:created xsi:type="dcterms:W3CDTF">2026-10-09T10:08:25Z</dcterms:created>
  <dcterms:modified xsi:type="dcterms:W3CDTF">2026-10-10T12:40:02Z</dcterms:modified>
</cp:coreProperties>
</file>