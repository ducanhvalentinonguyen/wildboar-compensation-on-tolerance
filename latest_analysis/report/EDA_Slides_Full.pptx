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c:v>
                </c:pt>
              </c:strCache>
            </c:strRef>
          </c:tx>
          <c:spPr>
            <a:solidFill>
              <a:srgbClr val="00883F"/>
            </a:solidFill>
            <a:effectLst/>
          </c:spPr>
          <c:invertIfNegative val="0"/>
          <c:dLbls>
            <c:numFmt formatCode="#,##0" sourceLinked="0"/>
            <c:txPr>
              <a:bodyPr/>
              <a:lstStyle/>
              <a:p>
                <a:pPr>
                  <a:defRPr b="0" i="0" strike="noStrike" sz="1400" u="none">
                    <a:solidFill>
                      <a:srgbClr val="1D1D1B"/>
                    </a:solidFill>
                    <a:latin typeface="Arial"/>
                  </a:defRPr>
                </a:pPr>
              </a:p>
            </c:txPr>
            <c:showLegendKey val="0"/>
            <c:showVal val="1"/>
            <c:showCatName val="0"/>
            <c:showSerName val="0"/>
            <c:showPercent val="0"/>
            <c:showBubbleSize val="0"/>
            <c:showLeaderLines val="0"/>
          </c:dLbls>
          <c:dPt>
            <c:idx val="0"/>
            <c:invertIfNegative val="0"/>
            <c:bubble3D val="0"/>
            <c:spPr>
              <a:solidFill>
                <a:srgbClr val="00883F"/>
              </a:solidFill>
              <a:effectLst/>
            </c:spPr>
          </c:dPt>
          <c:dPt>
            <c:idx val="1"/>
            <c:invertIfNegative val="0"/>
            <c:bubble3D val="0"/>
            <c:spPr>
              <a:solidFill>
                <a:srgbClr val="B9B9B7"/>
              </a:solidFill>
              <a:effectLst/>
            </c:spPr>
          </c:dPt>
          <c:cat>
            <c:multiLvlStrRef>
              <c:f>Sheet1!$A$2:$A$3</c:f>
              <c:multiLvlStrCache>
                <c:ptCount val="2"/>
                <c:lvl>
                  <c:pt idx="0">
                    <c:v>Baoxing
Aug 2024</c:v>
                  </c:pt>
                  <c:pt idx="1">
                    <c:v>Qingchuan
Mar–Apr 2025</c:v>
                  </c:pt>
                </c:lvl>
              </c:multiLvlStrCache>
            </c:multiLvlStrRef>
          </c:cat>
          <c:val>
            <c:numRef>
              <c:f>Sheet1!$B$2:$B$3</c:f>
              <c:numCache>
                <c:formatCode>General</c:formatCode>
                <c:ptCount val="2"/>
                <c:pt idx="0">
                  <c:v>160</c:v>
                </c:pt>
                <c:pt idx="1">
                  <c:v>465</c:v>
                </c:pt>
              </c:numCache>
            </c:numRef>
          </c:val>
        </c:ser>
        <c:dLbls>
          <c:numFmt formatCode="#,##0" sourceLinked="0"/>
          <c:txPr>
            <a:bodyPr/>
            <a:lstStyle/>
            <a:p>
              <a:pPr>
                <a:defRPr b="0" i="0" strike="noStrike" sz="1400" u="none">
                  <a:solidFill>
                    <a:srgbClr val="1D1D1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D1D1B"/>
                </a:solidFill>
                <a:latin typeface="DejaVu Sans"/>
              </a:defRPr>
            </a:pPr>
            <a:endParaRPr lang="en-US"/>
          </a:p>
        </c:txPr>
        <c:crossAx val="2094734552"/>
        <c:crosses val="autoZero"/>
        <c:auto val="1"/>
        <c:lblAlgn val="ctr"/>
        <c:noMultiLvlLbl val="1"/>
      </c:catAx>
      <c:valAx>
        <c:axId val="2094734552"/>
        <c:scaling>
          <c:orientation val="minMax"/>
          <c:max val="52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Applied for compensation</c:v>
                </c:pt>
              </c:strCache>
            </c:strRef>
          </c:tx>
          <c:spPr>
            <a:solidFill>
              <a:srgbClr val="00883F"/>
            </a:solidFill>
            <a:effectLst/>
          </c:spPr>
          <c:invertIfNegative val="0"/>
          <c:dLbls>
            <c:numFmt formatCode="0&quot;%&quot;" sourceLinked="0"/>
            <c:txPr>
              <a:bodyPr/>
              <a:lstStyle/>
              <a:p>
                <a:pPr>
                  <a:defRPr b="0" i="0" strike="noStrike" sz="1400" u="none">
                    <a:solidFill>
                      <a:srgbClr val="1D1D1B"/>
                    </a:solidFill>
                    <a:latin typeface="Arial"/>
                  </a:defRPr>
                </a:pPr>
              </a:p>
            </c:txPr>
            <c:showLegendKey val="0"/>
            <c:showVal val="1"/>
            <c:showCatName val="0"/>
            <c:showSerName val="0"/>
            <c:showPercent val="0"/>
            <c:showBubbleSize val="0"/>
            <c:showLeaderLines val="0"/>
          </c:dLbls>
          <c:dPt>
            <c:idx val="0"/>
            <c:invertIfNegative val="0"/>
            <c:bubble3D val="0"/>
            <c:spPr>
              <a:solidFill>
                <a:srgbClr val="00883F"/>
              </a:solidFill>
              <a:effectLst/>
            </c:spPr>
          </c:dPt>
          <c:dPt>
            <c:idx val="1"/>
            <c:invertIfNegative val="0"/>
            <c:bubble3D val="0"/>
            <c:spPr>
              <a:solidFill>
                <a:srgbClr val="B9B9B7"/>
              </a:solidFill>
              <a:effectLst/>
            </c:spPr>
          </c:dPt>
          <c:cat>
            <c:multiLvlStrRef>
              <c:f>Sheet1!$A$2:$A$3</c:f>
              <c:multiLvlStrCache>
                <c:ptCount val="2"/>
                <c:lvl>
                  <c:pt idx="0">
                    <c:v>Baoxing
(n=160)</c:v>
                  </c:pt>
                  <c:pt idx="1">
                    <c:v>Qingchuan
(n=465)</c:v>
                  </c:pt>
                </c:lvl>
              </c:multiLvlStrCache>
            </c:multiLvlStrRef>
          </c:cat>
          <c:val>
            <c:numRef>
              <c:f>Sheet1!$B$2:$B$3</c:f>
              <c:numCache>
                <c:formatCode>General</c:formatCode>
                <c:ptCount val="2"/>
                <c:pt idx="0">
                  <c:v>74</c:v>
                </c:pt>
                <c:pt idx="1">
                  <c:v>34</c:v>
                </c:pt>
              </c:numCache>
            </c:numRef>
          </c:val>
        </c:ser>
        <c:dLbls>
          <c:numFmt formatCode="0&quot;%&quot;" sourceLinked="0"/>
          <c:txPr>
            <a:bodyPr/>
            <a:lstStyle/>
            <a:p>
              <a:pPr>
                <a:defRPr b="0" i="0" strike="noStrike" sz="1400" u="none">
                  <a:solidFill>
                    <a:srgbClr val="1D1D1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D1D1B"/>
                </a:solidFill>
                <a:latin typeface="DejaVu Sans"/>
              </a:defRPr>
            </a:pPr>
            <a:endParaRPr lang="en-US"/>
          </a:p>
        </c:txPr>
        <c:crossAx val="2094734552"/>
        <c:crosses val="autoZero"/>
        <c:auto val="1"/>
        <c:lblAlgn val="ctr"/>
        <c:noMultiLvlLbl val="1"/>
      </c:catAx>
      <c:valAx>
        <c:axId val="2094734552"/>
        <c:scaling>
          <c:orientation val="minMax"/>
          <c:max val="9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Sets the scene before any modelling: 625 respondents, two counties near Giant Panda National Park, surveyed seven months apart. We worked from two linked sources -- the cleaned analysis sheet Mengxi's team built, and the original raw Qualtrics export, which still contains several fields (personal encounter history, mitigation-strategy detail, hunting perceptions) that never made it into the cleaned file and that we recovered for the extended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EDA fact for interpreting anything about compensation later. Compensation participation cannot be read on its own: it is entangled with which county someone lives in, and those counties were surveyed at different times of year, a season apart. Every model comparing compensation groups needs an explicit county/site control -- we do this throughout the modelling section, and show the compensation effect survives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key EDA fact: who actually applies for compensation? Households with more cropland, more livestock, more household assets, and a higher share of income from farming are significantly more likely to have applied -- makes sense, they have more at stake to claim against. But age, gender, education and income show no significant difference. So compensation status is not simply standing in for wealth or demographics in general -- it specifically tracks farm/livestock exposure and, as the previous slide showed, county.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modelling, we always look at the shape of continuous variables. Income, household assets, damage-related economic loss and insurance willingness-to-pay are all heavily right-skewed with a long tail of large values -- typical for monetary survey data. Left untransformed, a small number of wealthy or heavily-affected households would dominate any linear relationship involving them. We log-transform all four (log(1+x), which keeps zero-valued households in the data) before they enter any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data-quality fact from EDA: missingness in this dataset is not one uniform thing, it has (at least) three different causes that each need different treatment. A blank third word is not a neutral opinion. A blank payment-satisfaction score for someone who never got a payment is not a zero. And a compensation request for more than 100% of assessed loss is not obviously a typo. We flag all three here descriptively; the Missing Value Treatment slide covers exactly how each is handled in the cleaned analysis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EDA fact before we move to measurement and modelling: a routine multivariate outlier screen, using Mahalanobis distance across the core Wildlife Tolerance Model indicators, flags 14 of 625 respondents (2.2%) as extreme at the p&lt;.001 threshold. We don't remove them by default -- an outlier isn't automatically an error, it could be a real household with an unusual profile. Instead we carry them into the main analysis and separately re-run every core structural path excluding them, later, as a robustness check. They turn out not to change any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29184"/>
            <a:ext cx="8961120" cy="256032"/>
          </a:xfrm>
          <a:prstGeom prst="rect">
            <a:avLst/>
          </a:prstGeom>
          <a:noFill/>
          <a:ln/>
        </p:spPr>
        <p:txBody>
          <a:bodyPr wrap="square" lIns="0" tIns="0" rIns="0" bIns="0" rtlCol="0" anchor="ctr"/>
          <a:lstStyle/>
          <a:p>
            <a:pPr indent="0" marL="0">
              <a:buNone/>
            </a:pPr>
            <a:r>
              <a:rPr lang="en-US" sz="1000" b="1" dirty="0">
                <a:solidFill>
                  <a:srgbClr val="00883F"/>
                </a:solidFill>
                <a:latin typeface="DejaVu Sans" pitchFamily="34" charset="0"/>
                <a:ea typeface="DejaVu Sans" pitchFamily="34" charset="-122"/>
                <a:cs typeface="DejaVu Sans" pitchFamily="34" charset="-120"/>
              </a:rPr>
              <a:t>EDA → SAMPLE</a:t>
            </a:r>
            <a:endParaRPr lang="en-US" sz="1000" dirty="0"/>
          </a:p>
        </p:txBody>
      </p:sp>
      <p:pic>
        <p:nvPicPr>
          <p:cNvPr id="3" name="Image 0" descr="/tmp/claude-1003/-home-duc-Wildboar-Compensation-on-Tolerance/15230097-a62e-459e-b45e-9fbee29760f4/scratchpad/lmu_slide/lmu_logo.png">    </p:cNvPr>
          <p:cNvPicPr>
            <a:picLocks noChangeAspect="1"/>
          </p:cNvPicPr>
          <p:nvPr/>
        </p:nvPicPr>
        <p:blipFill>
          <a:blip r:embed="rId1"/>
          <a:stretch>
            <a:fillRect/>
          </a:stretch>
        </p:blipFill>
        <p:spPr>
          <a:xfrm>
            <a:off x="10222992" y="182880"/>
            <a:ext cx="1389888" cy="731520"/>
          </a:xfrm>
          <a:prstGeom prst="rect">
            <a:avLst/>
          </a:prstGeom>
        </p:spPr>
      </p:pic>
      <p:sp>
        <p:nvSpPr>
          <p:cNvPr id="4" name="Text 1"/>
          <p:cNvSpPr txBox="1"/>
          <p:nvPr/>
        </p:nvSpPr>
        <p:spPr>
          <a:xfrm>
            <a:off x="530352" y="640080"/>
            <a:ext cx="9418320" cy="1115568"/>
          </a:xfrm>
          <a:prstGeom prst="rect">
            <a:avLst/>
          </a:prstGeom>
          <a:noFill/>
          <a:ln/>
        </p:spPr>
        <p:txBody>
          <a:bodyPr wrap="square" lIns="0" tIns="0" rIns="0" bIns="0" rtlCol="0" anchor="ctr"/>
          <a:lstStyle/>
          <a:p>
            <a:pPr indent="0" marL="0">
              <a:lnSpc>
                <a:spcPct val="105000"/>
              </a:lnSpc>
              <a:buNone/>
            </a:pPr>
            <a:r>
              <a:rPr lang="en-US" sz="2700" b="1" dirty="0">
                <a:solidFill>
                  <a:srgbClr val="1D1D1B"/>
                </a:solidFill>
                <a:latin typeface="DejaVu Sans" pitchFamily="34" charset="0"/>
                <a:ea typeface="DejaVu Sans" pitchFamily="34" charset="-122"/>
                <a:cs typeface="DejaVu Sans" pitchFamily="34" charset="-120"/>
              </a:rPr>
              <a:t>Who We Surveyed, Where, and When</a:t>
            </a:r>
            <a:endParaRPr lang="en-US" sz="2700" dirty="0"/>
          </a:p>
        </p:txBody>
      </p:sp>
      <p:sp>
        <p:nvSpPr>
          <p:cNvPr id="5" name="Text 2"/>
          <p:cNvSpPr txBox="1"/>
          <p:nvPr/>
        </p:nvSpPr>
        <p:spPr>
          <a:xfrm>
            <a:off x="640080" y="1965960"/>
            <a:ext cx="5212080" cy="914400"/>
          </a:xfrm>
          <a:prstGeom prst="rect">
            <a:avLst/>
          </a:prstGeom>
          <a:noFill/>
          <a:ln/>
        </p:spPr>
        <p:txBody>
          <a:bodyPr wrap="square" lIns="0" tIns="0" rIns="0" bIns="0" rtlCol="0" anchor="t"/>
          <a:lstStyle/>
          <a:p>
            <a:pPr indent="0" marL="0">
              <a:lnSpc>
                <a:spcPct val="112000"/>
              </a:lnSpc>
              <a:buNone/>
            </a:pPr>
            <a:r>
              <a:rPr lang="en-US" sz="1550" dirty="0">
                <a:solidFill>
                  <a:srgbClr val="1D1D1B"/>
                </a:solidFill>
                <a:latin typeface="DejaVu Sans" pitchFamily="34" charset="0"/>
                <a:ea typeface="DejaVu Sans" pitchFamily="34" charset="-122"/>
                <a:cs typeface="DejaVu Sans" pitchFamily="34" charset="-120"/>
              </a:rPr>
              <a:t>• 625 household respondents across two counties in Sichuan Province, China, both bordering Giant Panda National Park.</a:t>
            </a:r>
            <a:endParaRPr lang="en-US" sz="1550" dirty="0"/>
          </a:p>
        </p:txBody>
      </p:sp>
      <p:sp>
        <p:nvSpPr>
          <p:cNvPr id="6" name="Text 3"/>
          <p:cNvSpPr txBox="1"/>
          <p:nvPr/>
        </p:nvSpPr>
        <p:spPr>
          <a:xfrm>
            <a:off x="640080" y="2926080"/>
            <a:ext cx="5212080" cy="914400"/>
          </a:xfrm>
          <a:prstGeom prst="rect">
            <a:avLst/>
          </a:prstGeom>
          <a:noFill/>
          <a:ln/>
        </p:spPr>
        <p:txBody>
          <a:bodyPr wrap="square" lIns="0" tIns="0" rIns="0" bIns="0" rtlCol="0" anchor="t"/>
          <a:lstStyle/>
          <a:p>
            <a:pPr indent="0" marL="0">
              <a:lnSpc>
                <a:spcPct val="112000"/>
              </a:lnSpc>
              <a:buNone/>
            </a:pPr>
            <a:r>
              <a:rPr lang="en-US" sz="1550" dirty="0">
                <a:solidFill>
                  <a:srgbClr val="1D1D1B"/>
                </a:solidFill>
                <a:latin typeface="DejaVu Sans" pitchFamily="34" charset="0"/>
                <a:ea typeface="DejaVu Sans" pitchFamily="34" charset="-122"/>
                <a:cs typeface="DejaVu Sans" pitchFamily="34" charset="-120"/>
              </a:rPr>
              <a:t>• Baoxing county: n=160, surveyed 15–31 August 2024.</a:t>
            </a:r>
            <a:endParaRPr lang="en-US" sz="1550" dirty="0"/>
          </a:p>
        </p:txBody>
      </p:sp>
      <p:sp>
        <p:nvSpPr>
          <p:cNvPr id="7" name="Text 4"/>
          <p:cNvSpPr txBox="1"/>
          <p:nvPr/>
        </p:nvSpPr>
        <p:spPr>
          <a:xfrm>
            <a:off x="640080" y="3886200"/>
            <a:ext cx="5212080" cy="914400"/>
          </a:xfrm>
          <a:prstGeom prst="rect">
            <a:avLst/>
          </a:prstGeom>
          <a:noFill/>
          <a:ln/>
        </p:spPr>
        <p:txBody>
          <a:bodyPr wrap="square" lIns="0" tIns="0" rIns="0" bIns="0" rtlCol="0" anchor="t"/>
          <a:lstStyle/>
          <a:p>
            <a:pPr indent="0" marL="0">
              <a:lnSpc>
                <a:spcPct val="112000"/>
              </a:lnSpc>
              <a:buNone/>
            </a:pPr>
            <a:r>
              <a:rPr lang="en-US" sz="1550" dirty="0">
                <a:solidFill>
                  <a:srgbClr val="1D1D1B"/>
                </a:solidFill>
                <a:latin typeface="DejaVu Sans" pitchFamily="34" charset="0"/>
                <a:ea typeface="DejaVu Sans" pitchFamily="34" charset="-122"/>
                <a:cs typeface="DejaVu Sans" pitchFamily="34" charset="-120"/>
              </a:rPr>
              <a:t>• Qingchuan county: n=465, surveyed 10 March – 10 April 2025 — seven months later.</a:t>
            </a:r>
            <a:endParaRPr lang="en-US" sz="1550" dirty="0"/>
          </a:p>
        </p:txBody>
      </p:sp>
      <p:sp>
        <p:nvSpPr>
          <p:cNvPr id="8" name="Text 5"/>
          <p:cNvSpPr txBox="1"/>
          <p:nvPr/>
        </p:nvSpPr>
        <p:spPr>
          <a:xfrm>
            <a:off x="640080" y="4846320"/>
            <a:ext cx="5212080" cy="914400"/>
          </a:xfrm>
          <a:prstGeom prst="rect">
            <a:avLst/>
          </a:prstGeom>
          <a:noFill/>
          <a:ln/>
        </p:spPr>
        <p:txBody>
          <a:bodyPr wrap="square" lIns="0" tIns="0" rIns="0" bIns="0" rtlCol="0" anchor="t"/>
          <a:lstStyle/>
          <a:p>
            <a:pPr indent="0" marL="0">
              <a:lnSpc>
                <a:spcPct val="112000"/>
              </a:lnSpc>
              <a:buNone/>
            </a:pPr>
            <a:r>
              <a:rPr lang="en-US" sz="1550" dirty="0">
                <a:solidFill>
                  <a:srgbClr val="1D1D1B"/>
                </a:solidFill>
                <a:latin typeface="DejaVu Sans" pitchFamily="34" charset="0"/>
                <a:ea typeface="DejaVu Sans" pitchFamily="34" charset="-122"/>
                <a:cs typeface="DejaVu Sans" pitchFamily="34" charset="-120"/>
              </a:rPr>
              <a:t>• Two linked data sources: a cleaned 625×57 analysis file, and the original 625×~200 raw Qualtrics export, which we mined for additional fields not in the cleaned file.</a:t>
            </a:r>
            <a:endParaRPr lang="en-US" sz="1550" dirty="0"/>
          </a:p>
        </p:txBody>
      </p:sp>
      <p:sp>
        <p:nvSpPr>
          <p:cNvPr id="9" name="Text 6"/>
          <p:cNvSpPr txBox="1"/>
          <p:nvPr/>
        </p:nvSpPr>
        <p:spPr>
          <a:xfrm>
            <a:off x="6309360" y="1783080"/>
            <a:ext cx="5212080" cy="320040"/>
          </a:xfrm>
          <a:prstGeom prst="rect">
            <a:avLst/>
          </a:prstGeom>
          <a:noFill/>
          <a:ln/>
        </p:spPr>
        <p:txBody>
          <a:bodyPr wrap="square" lIns="0" tIns="0" rIns="0" bIns="0" rtlCol="0" anchor="ctr"/>
          <a:lstStyle/>
          <a:p>
            <a:pPr indent="0" marL="0">
              <a:buNone/>
            </a:pPr>
            <a:r>
              <a:rPr lang="en-US" sz="1300" b="1" dirty="0">
                <a:solidFill>
                  <a:srgbClr val="1D1D1B"/>
                </a:solidFill>
                <a:latin typeface="DejaVu Sans" pitchFamily="34" charset="0"/>
                <a:ea typeface="DejaVu Sans" pitchFamily="34" charset="-122"/>
                <a:cs typeface="DejaVu Sans" pitchFamily="34" charset="-120"/>
              </a:rPr>
              <a:t>Respondents by county</a:t>
            </a:r>
            <a:endParaRPr lang="en-US" sz="1300" dirty="0"/>
          </a:p>
        </p:txBody>
      </p:sp>
      <p:graphicFrame>
        <p:nvGraphicFramePr>
          <p:cNvPr id="10" name="Chart 0" descr=""/>
          <p:cNvGraphicFramePr/>
          <p:nvPr/>
        </p:nvGraphicFramePr>
        <p:xfrm>
          <a:off x="6309360" y="2148840"/>
          <a:ext cx="5212080" cy="356616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530352" y="6446520"/>
            <a:ext cx="11155680" cy="274320"/>
          </a:xfrm>
          <a:prstGeom prst="rect">
            <a:avLst/>
          </a:prstGeom>
          <a:noFill/>
          <a:ln/>
        </p:spPr>
        <p:txBody>
          <a:bodyPr wrap="square" lIns="0" tIns="0" rIns="0" bIns="0" rtlCol="0" anchor="ctr"/>
          <a:lstStyle/>
          <a:p>
            <a:pPr indent="0" marL="0">
              <a:buNone/>
            </a:pPr>
            <a:r>
              <a:rPr lang="en-US" sz="900" dirty="0">
                <a:solidFill>
                  <a:srgbClr val="6B6B6B"/>
                </a:solidFill>
                <a:latin typeface="DejaVu Sans" pitchFamily="34" charset="0"/>
                <a:ea typeface="DejaVu Sans" pitchFamily="34" charset="-122"/>
                <a:cs typeface="DejaVu Sans" pitchFamily="34" charset="-120"/>
              </a:rPr>
              <a:t>Source: data/3_Data.xlsx (Input Data + Raw data sheets), n=625; claude_analysis/output/tables/00_data_quality_summary.csv</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29184"/>
            <a:ext cx="8961120" cy="256032"/>
          </a:xfrm>
          <a:prstGeom prst="rect">
            <a:avLst/>
          </a:prstGeom>
          <a:noFill/>
          <a:ln/>
        </p:spPr>
        <p:txBody>
          <a:bodyPr wrap="square" lIns="0" tIns="0" rIns="0" bIns="0" rtlCol="0" anchor="ctr"/>
          <a:lstStyle/>
          <a:p>
            <a:pPr indent="0" marL="0">
              <a:buNone/>
            </a:pPr>
            <a:r>
              <a:rPr lang="en-US" sz="1000" b="1" dirty="0">
                <a:solidFill>
                  <a:srgbClr val="00883F"/>
                </a:solidFill>
                <a:latin typeface="DejaVu Sans" pitchFamily="34" charset="0"/>
                <a:ea typeface="DejaVu Sans" pitchFamily="34" charset="-122"/>
                <a:cs typeface="DejaVu Sans" pitchFamily="34" charset="-120"/>
              </a:rPr>
              <a:t>EDA → CONFOUNDING</a:t>
            </a:r>
            <a:endParaRPr lang="en-US" sz="1000" dirty="0"/>
          </a:p>
        </p:txBody>
      </p:sp>
      <p:pic>
        <p:nvPicPr>
          <p:cNvPr id="3" name="Image 0" descr="/tmp/claude-1003/-home-duc-Wildboar-Compensation-on-Tolerance/15230097-a62e-459e-b45e-9fbee29760f4/scratchpad/lmu_slide/lmu_logo.png">    </p:cNvPr>
          <p:cNvPicPr>
            <a:picLocks noChangeAspect="1"/>
          </p:cNvPicPr>
          <p:nvPr/>
        </p:nvPicPr>
        <p:blipFill>
          <a:blip r:embed="rId1"/>
          <a:stretch>
            <a:fillRect/>
          </a:stretch>
        </p:blipFill>
        <p:spPr>
          <a:xfrm>
            <a:off x="10222992" y="182880"/>
            <a:ext cx="1389888" cy="731520"/>
          </a:xfrm>
          <a:prstGeom prst="rect">
            <a:avLst/>
          </a:prstGeom>
        </p:spPr>
      </p:pic>
      <p:sp>
        <p:nvSpPr>
          <p:cNvPr id="4" name="Text 1"/>
          <p:cNvSpPr txBox="1"/>
          <p:nvPr/>
        </p:nvSpPr>
        <p:spPr>
          <a:xfrm>
            <a:off x="530352" y="640080"/>
            <a:ext cx="9418320" cy="1115568"/>
          </a:xfrm>
          <a:prstGeom prst="rect">
            <a:avLst/>
          </a:prstGeom>
          <a:noFill/>
          <a:ln/>
        </p:spPr>
        <p:txBody>
          <a:bodyPr wrap="square" lIns="0" tIns="0" rIns="0" bIns="0" rtlCol="0" anchor="ctr"/>
          <a:lstStyle/>
          <a:p>
            <a:pPr indent="0" marL="0">
              <a:lnSpc>
                <a:spcPct val="105000"/>
              </a:lnSpc>
              <a:buNone/>
            </a:pPr>
            <a:r>
              <a:rPr lang="en-US" sz="2700" b="1" dirty="0">
                <a:solidFill>
                  <a:srgbClr val="1D1D1B"/>
                </a:solidFill>
                <a:latin typeface="DejaVu Sans" pitchFamily="34" charset="0"/>
                <a:ea typeface="DejaVu Sans" pitchFamily="34" charset="-122"/>
                <a:cs typeface="DejaVu Sans" pitchFamily="34" charset="-120"/>
              </a:rPr>
              <a:t>Compensation Participation Is Confounded with County</a:t>
            </a:r>
            <a:endParaRPr lang="en-US" sz="2700" dirty="0"/>
          </a:p>
        </p:txBody>
      </p:sp>
      <p:sp>
        <p:nvSpPr>
          <p:cNvPr id="5" name="Text 2"/>
          <p:cNvSpPr txBox="1"/>
          <p:nvPr/>
        </p:nvSpPr>
        <p:spPr>
          <a:xfrm>
            <a:off x="640080" y="1938528"/>
            <a:ext cx="5166360" cy="841248"/>
          </a:xfrm>
          <a:prstGeom prst="rect">
            <a:avLst/>
          </a:prstGeom>
          <a:noFill/>
          <a:ln/>
        </p:spPr>
        <p:txBody>
          <a:bodyPr wrap="square" lIns="0" tIns="0" rIns="0" bIns="0" rtlCol="0" anchor="t"/>
          <a:lstStyle/>
          <a:p>
            <a:pPr indent="0" marL="0">
              <a:lnSpc>
                <a:spcPct val="112000"/>
              </a:lnSpc>
              <a:buNone/>
            </a:pPr>
            <a:r>
              <a:rPr lang="en-US" sz="1550" dirty="0">
                <a:solidFill>
                  <a:srgbClr val="1D1D1B"/>
                </a:solidFill>
                <a:latin typeface="DejaVu Sans" pitchFamily="34" charset="0"/>
                <a:ea typeface="DejaVu Sans" pitchFamily="34" charset="-122"/>
                <a:cs typeface="DejaVu Sans" pitchFamily="34" charset="-120"/>
              </a:rPr>
              <a:t>• In Baoxing, 119 of 160 respondents (74%) reported applying for compensation.</a:t>
            </a:r>
            <a:endParaRPr lang="en-US" sz="1550" dirty="0"/>
          </a:p>
        </p:txBody>
      </p:sp>
      <p:sp>
        <p:nvSpPr>
          <p:cNvPr id="6" name="Text 3"/>
          <p:cNvSpPr txBox="1"/>
          <p:nvPr/>
        </p:nvSpPr>
        <p:spPr>
          <a:xfrm>
            <a:off x="640080" y="2834640"/>
            <a:ext cx="5166360" cy="841248"/>
          </a:xfrm>
          <a:prstGeom prst="rect">
            <a:avLst/>
          </a:prstGeom>
          <a:noFill/>
          <a:ln/>
        </p:spPr>
        <p:txBody>
          <a:bodyPr wrap="square" lIns="0" tIns="0" rIns="0" bIns="0" rtlCol="0" anchor="t"/>
          <a:lstStyle/>
          <a:p>
            <a:pPr indent="0" marL="0">
              <a:lnSpc>
                <a:spcPct val="112000"/>
              </a:lnSpc>
              <a:buNone/>
            </a:pPr>
            <a:r>
              <a:rPr lang="en-US" sz="1550" dirty="0">
                <a:solidFill>
                  <a:srgbClr val="1D1D1B"/>
                </a:solidFill>
                <a:latin typeface="DejaVu Sans" pitchFamily="34" charset="0"/>
                <a:ea typeface="DejaVu Sans" pitchFamily="34" charset="-122"/>
                <a:cs typeface="DejaVu Sans" pitchFamily="34" charset="-120"/>
              </a:rPr>
              <a:t>• In Qingchuan, only 158 of 465 (34%) did — a chi-square test confirms this gap is not chance (χ²=77.1, df=1, p&lt;.001).</a:t>
            </a:r>
            <a:endParaRPr lang="en-US" sz="1550" dirty="0"/>
          </a:p>
        </p:txBody>
      </p:sp>
      <p:sp>
        <p:nvSpPr>
          <p:cNvPr id="7" name="Text 4"/>
          <p:cNvSpPr txBox="1"/>
          <p:nvPr/>
        </p:nvSpPr>
        <p:spPr>
          <a:xfrm>
            <a:off x="640080" y="3730752"/>
            <a:ext cx="5166360" cy="841248"/>
          </a:xfrm>
          <a:prstGeom prst="rect">
            <a:avLst/>
          </a:prstGeom>
          <a:noFill/>
          <a:ln/>
        </p:spPr>
        <p:txBody>
          <a:bodyPr wrap="square" lIns="0" tIns="0" rIns="0" bIns="0" rtlCol="0" anchor="t"/>
          <a:lstStyle/>
          <a:p>
            <a:pPr indent="0" marL="0">
              <a:lnSpc>
                <a:spcPct val="112000"/>
              </a:lnSpc>
              <a:buNone/>
            </a:pPr>
            <a:r>
              <a:rPr lang="en-US" sz="1550" dirty="0">
                <a:solidFill>
                  <a:srgbClr val="1D1D1B"/>
                </a:solidFill>
                <a:latin typeface="DejaVu Sans" pitchFamily="34" charset="0"/>
                <a:ea typeface="DejaVu Sans" pitchFamily="34" charset="-122"/>
                <a:cs typeface="DejaVu Sans" pitchFamily="34" charset="-120"/>
              </a:rPr>
              <a:t>• The two counties were also surveyed seven months apart: Baoxing in August 2024, Qingchuan in March–April 2025.</a:t>
            </a:r>
            <a:endParaRPr lang="en-US" sz="1550" dirty="0"/>
          </a:p>
        </p:txBody>
      </p:sp>
      <p:sp>
        <p:nvSpPr>
          <p:cNvPr id="8" name="Text 5"/>
          <p:cNvSpPr txBox="1"/>
          <p:nvPr/>
        </p:nvSpPr>
        <p:spPr>
          <a:xfrm>
            <a:off x="640080" y="4626864"/>
            <a:ext cx="5166360" cy="841248"/>
          </a:xfrm>
          <a:prstGeom prst="rect">
            <a:avLst/>
          </a:prstGeom>
          <a:noFill/>
          <a:ln/>
        </p:spPr>
        <p:txBody>
          <a:bodyPr wrap="square" lIns="0" tIns="0" rIns="0" bIns="0" rtlCol="0" anchor="t"/>
          <a:lstStyle/>
          <a:p>
            <a:pPr indent="0" marL="0">
              <a:lnSpc>
                <a:spcPct val="112000"/>
              </a:lnSpc>
              <a:buNone/>
            </a:pPr>
            <a:r>
              <a:rPr lang="en-US" sz="1550" dirty="0">
                <a:solidFill>
                  <a:srgbClr val="1D1D1B"/>
                </a:solidFill>
                <a:latin typeface="DejaVu Sans" pitchFamily="34" charset="0"/>
                <a:ea typeface="DejaVu Sans" pitchFamily="34" charset="-122"/>
                <a:cs typeface="DejaVu Sans" pitchFamily="34" charset="-120"/>
              </a:rPr>
              <a:t>• Geography and timing move together with compensation status — any comparison across compensation groups must control for county/survey wave.</a:t>
            </a:r>
            <a:endParaRPr lang="en-US" sz="1550" dirty="0"/>
          </a:p>
        </p:txBody>
      </p:sp>
      <p:sp>
        <p:nvSpPr>
          <p:cNvPr id="9" name="Text 6"/>
          <p:cNvSpPr txBox="1"/>
          <p:nvPr/>
        </p:nvSpPr>
        <p:spPr>
          <a:xfrm>
            <a:off x="6172200" y="1783080"/>
            <a:ext cx="5394960" cy="320040"/>
          </a:xfrm>
          <a:prstGeom prst="rect">
            <a:avLst/>
          </a:prstGeom>
          <a:noFill/>
          <a:ln/>
        </p:spPr>
        <p:txBody>
          <a:bodyPr wrap="square" lIns="0" tIns="0" rIns="0" bIns="0" rtlCol="0" anchor="ctr"/>
          <a:lstStyle/>
          <a:p>
            <a:pPr indent="0" marL="0">
              <a:buNone/>
            </a:pPr>
            <a:r>
              <a:rPr lang="en-US" sz="1300" b="1" dirty="0">
                <a:solidFill>
                  <a:srgbClr val="1D1D1B"/>
                </a:solidFill>
                <a:latin typeface="DejaVu Sans" pitchFamily="34" charset="0"/>
                <a:ea typeface="DejaVu Sans" pitchFamily="34" charset="-122"/>
                <a:cs typeface="DejaVu Sans" pitchFamily="34" charset="-120"/>
              </a:rPr>
              <a:t>Application rate by county</a:t>
            </a:r>
            <a:endParaRPr lang="en-US" sz="1300" dirty="0"/>
          </a:p>
        </p:txBody>
      </p:sp>
      <p:graphicFrame>
        <p:nvGraphicFramePr>
          <p:cNvPr id="10" name="Chart 0" descr=""/>
          <p:cNvGraphicFramePr/>
          <p:nvPr/>
        </p:nvGraphicFramePr>
        <p:xfrm>
          <a:off x="6172200" y="2148840"/>
          <a:ext cx="5394960" cy="356616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530352" y="6446520"/>
            <a:ext cx="11155680" cy="274320"/>
          </a:xfrm>
          <a:prstGeom prst="rect">
            <a:avLst/>
          </a:prstGeom>
          <a:noFill/>
          <a:ln/>
        </p:spPr>
        <p:txBody>
          <a:bodyPr wrap="square" lIns="0" tIns="0" rIns="0" bIns="0" rtlCol="0" anchor="ctr"/>
          <a:lstStyle/>
          <a:p>
            <a:pPr indent="0" marL="0">
              <a:buNone/>
            </a:pPr>
            <a:r>
              <a:rPr lang="en-US" sz="900" dirty="0">
                <a:solidFill>
                  <a:srgbClr val="6B6B6B"/>
                </a:solidFill>
                <a:latin typeface="DejaVu Sans" pitchFamily="34" charset="0"/>
                <a:ea typeface="DejaVu Sans" pitchFamily="34" charset="-122"/>
                <a:cs typeface="DejaVu Sans" pitchFamily="34" charset="-120"/>
              </a:rPr>
              <a:t>Source: EDA on Wildboar-Compensation-on-Tolerance data (n=625); claude_analysis/output/tables/02_compensation_group_tests.csv</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29184"/>
            <a:ext cx="8961120" cy="256032"/>
          </a:xfrm>
          <a:prstGeom prst="rect">
            <a:avLst/>
          </a:prstGeom>
          <a:noFill/>
          <a:ln/>
        </p:spPr>
        <p:txBody>
          <a:bodyPr wrap="square" lIns="0" tIns="0" rIns="0" bIns="0" rtlCol="0" anchor="ctr"/>
          <a:lstStyle/>
          <a:p>
            <a:pPr indent="0" marL="0">
              <a:buNone/>
            </a:pPr>
            <a:r>
              <a:rPr lang="en-US" sz="1000" b="1" dirty="0">
                <a:solidFill>
                  <a:srgbClr val="00883F"/>
                </a:solidFill>
                <a:latin typeface="DejaVu Sans" pitchFamily="34" charset="0"/>
                <a:ea typeface="DejaVu Sans" pitchFamily="34" charset="-122"/>
                <a:cs typeface="DejaVu Sans" pitchFamily="34" charset="-120"/>
              </a:rPr>
              <a:t>EDA → COMPARISON</a:t>
            </a:r>
            <a:endParaRPr lang="en-US" sz="1000" dirty="0"/>
          </a:p>
        </p:txBody>
      </p:sp>
      <p:pic>
        <p:nvPicPr>
          <p:cNvPr id="3" name="Image 0" descr="/tmp/claude-1003/-home-duc-Wildboar-Compensation-on-Tolerance/15230097-a62e-459e-b45e-9fbee29760f4/scratchpad/lmu_slide/lmu_logo.png">    </p:cNvPr>
          <p:cNvPicPr>
            <a:picLocks noChangeAspect="1"/>
          </p:cNvPicPr>
          <p:nvPr/>
        </p:nvPicPr>
        <p:blipFill>
          <a:blip r:embed="rId1"/>
          <a:stretch>
            <a:fillRect/>
          </a:stretch>
        </p:blipFill>
        <p:spPr>
          <a:xfrm>
            <a:off x="10222992" y="182880"/>
            <a:ext cx="1389888" cy="731520"/>
          </a:xfrm>
          <a:prstGeom prst="rect">
            <a:avLst/>
          </a:prstGeom>
        </p:spPr>
      </p:pic>
      <p:sp>
        <p:nvSpPr>
          <p:cNvPr id="4" name="Text 1"/>
          <p:cNvSpPr txBox="1"/>
          <p:nvPr/>
        </p:nvSpPr>
        <p:spPr>
          <a:xfrm>
            <a:off x="530352" y="640080"/>
            <a:ext cx="9418320" cy="1115568"/>
          </a:xfrm>
          <a:prstGeom prst="rect">
            <a:avLst/>
          </a:prstGeom>
          <a:noFill/>
          <a:ln/>
        </p:spPr>
        <p:txBody>
          <a:bodyPr wrap="square" lIns="0" tIns="0" rIns="0" bIns="0" rtlCol="0" anchor="ctr"/>
          <a:lstStyle/>
          <a:p>
            <a:pPr indent="0" marL="0">
              <a:lnSpc>
                <a:spcPct val="105000"/>
              </a:lnSpc>
              <a:buNone/>
            </a:pPr>
            <a:r>
              <a:rPr lang="en-US" sz="2700" b="1" dirty="0">
                <a:solidFill>
                  <a:srgbClr val="1D1D1B"/>
                </a:solidFill>
                <a:latin typeface="DejaVu Sans" pitchFamily="34" charset="0"/>
                <a:ea typeface="DejaVu Sans" pitchFamily="34" charset="-122"/>
                <a:cs typeface="DejaVu Sans" pitchFamily="34" charset="-120"/>
              </a:rPr>
              <a:t>Compensation Recipients Differ in Assets, Not in Who They Are</a:t>
            </a:r>
            <a:endParaRPr lang="en-US" sz="2700" dirty="0"/>
          </a:p>
        </p:txBody>
      </p:sp>
      <p:sp>
        <p:nvSpPr>
          <p:cNvPr id="5" name="Shape 2"/>
          <p:cNvSpPr/>
          <p:nvPr/>
        </p:nvSpPr>
        <p:spPr>
          <a:xfrm>
            <a:off x="530352" y="1874520"/>
            <a:ext cx="5440680" cy="3977640"/>
          </a:xfrm>
          <a:prstGeom prst="roundRect">
            <a:avLst>
              <a:gd name="adj" fmla="val 1379"/>
            </a:avLst>
          </a:prstGeom>
          <a:solidFill>
            <a:srgbClr val="EAF4EE"/>
          </a:solidFill>
          <a:ln/>
        </p:spPr>
      </p:sp>
      <p:sp>
        <p:nvSpPr>
          <p:cNvPr id="6" name="Text 3"/>
          <p:cNvSpPr txBox="1"/>
          <p:nvPr/>
        </p:nvSpPr>
        <p:spPr>
          <a:xfrm>
            <a:off x="777240" y="2057400"/>
            <a:ext cx="4937760" cy="365760"/>
          </a:xfrm>
          <a:prstGeom prst="rect">
            <a:avLst/>
          </a:prstGeom>
          <a:noFill/>
          <a:ln/>
        </p:spPr>
        <p:txBody>
          <a:bodyPr wrap="square" lIns="0" tIns="0" rIns="0" bIns="0" rtlCol="0" anchor="ctr"/>
          <a:lstStyle/>
          <a:p>
            <a:pPr indent="0" marL="0">
              <a:buNone/>
            </a:pPr>
            <a:r>
              <a:rPr lang="en-US" sz="1500" b="1" dirty="0">
                <a:solidFill>
                  <a:srgbClr val="00883F"/>
                </a:solidFill>
                <a:latin typeface="DejaVu Sans" pitchFamily="34" charset="0"/>
                <a:ea typeface="DejaVu Sans" pitchFamily="34" charset="-122"/>
                <a:cs typeface="DejaVu Sans" pitchFamily="34" charset="-120"/>
              </a:rPr>
              <a:t>Differs significantly (p &lt; .05)</a:t>
            </a:r>
            <a:endParaRPr lang="en-US" sz="1500" dirty="0"/>
          </a:p>
        </p:txBody>
      </p:sp>
      <p:sp>
        <p:nvSpPr>
          <p:cNvPr id="7" name="Text 4"/>
          <p:cNvSpPr txBox="1"/>
          <p:nvPr/>
        </p:nvSpPr>
        <p:spPr>
          <a:xfrm>
            <a:off x="777240" y="2606040"/>
            <a:ext cx="3566160" cy="457200"/>
          </a:xfrm>
          <a:prstGeom prst="rect">
            <a:avLst/>
          </a:prstGeom>
          <a:noFill/>
          <a:ln/>
        </p:spPr>
        <p:txBody>
          <a:bodyPr wrap="square" lIns="0" tIns="0" rIns="0" bIns="0" rtlCol="0" anchor="ctr"/>
          <a:lstStyle/>
          <a:p>
            <a:pPr indent="0" marL="0">
              <a:buNone/>
            </a:pPr>
            <a:r>
              <a:rPr lang="en-US" sz="1450" dirty="0">
                <a:solidFill>
                  <a:srgbClr val="1D1D1B"/>
                </a:solidFill>
                <a:latin typeface="DejaVu Sans" pitchFamily="34" charset="0"/>
                <a:ea typeface="DejaVu Sans" pitchFamily="34" charset="-122"/>
                <a:cs typeface="DejaVu Sans" pitchFamily="34" charset="-120"/>
              </a:rPr>
              <a:t>Total cropland</a:t>
            </a:r>
            <a:endParaRPr lang="en-US" sz="1450" dirty="0"/>
          </a:p>
        </p:txBody>
      </p:sp>
      <p:sp>
        <p:nvSpPr>
          <p:cNvPr id="8" name="Text 5"/>
          <p:cNvSpPr txBox="1"/>
          <p:nvPr/>
        </p:nvSpPr>
        <p:spPr>
          <a:xfrm>
            <a:off x="4343400" y="2606040"/>
            <a:ext cx="1463040" cy="457200"/>
          </a:xfrm>
          <a:prstGeom prst="rect">
            <a:avLst/>
          </a:prstGeom>
          <a:noFill/>
          <a:ln/>
        </p:spPr>
        <p:txBody>
          <a:bodyPr wrap="square" lIns="0" tIns="0" rIns="0" bIns="0" rtlCol="0" anchor="ctr"/>
          <a:lstStyle/>
          <a:p>
            <a:pPr algn="r" indent="0" marL="0">
              <a:buNone/>
            </a:pPr>
            <a:r>
              <a:rPr lang="en-US" sz="1450" b="1" dirty="0">
                <a:solidFill>
                  <a:srgbClr val="00883F"/>
                </a:solidFill>
                <a:latin typeface="DejaVu Sans" pitchFamily="34" charset="0"/>
                <a:ea typeface="DejaVu Sans" pitchFamily="34" charset="-122"/>
                <a:cs typeface="DejaVu Sans" pitchFamily="34" charset="-120"/>
              </a:rPr>
              <a:t>p &lt; .001</a:t>
            </a:r>
            <a:endParaRPr lang="en-US" sz="1450" dirty="0"/>
          </a:p>
        </p:txBody>
      </p:sp>
      <p:sp>
        <p:nvSpPr>
          <p:cNvPr id="9" name="Text 6"/>
          <p:cNvSpPr txBox="1"/>
          <p:nvPr/>
        </p:nvSpPr>
        <p:spPr>
          <a:xfrm>
            <a:off x="777240" y="3355848"/>
            <a:ext cx="3566160" cy="457200"/>
          </a:xfrm>
          <a:prstGeom prst="rect">
            <a:avLst/>
          </a:prstGeom>
          <a:noFill/>
          <a:ln/>
        </p:spPr>
        <p:txBody>
          <a:bodyPr wrap="square" lIns="0" tIns="0" rIns="0" bIns="0" rtlCol="0" anchor="ctr"/>
          <a:lstStyle/>
          <a:p>
            <a:pPr indent="0" marL="0">
              <a:buNone/>
            </a:pPr>
            <a:r>
              <a:rPr lang="en-US" sz="1450" dirty="0">
                <a:solidFill>
                  <a:srgbClr val="1D1D1B"/>
                </a:solidFill>
                <a:latin typeface="DejaVu Sans" pitchFamily="34" charset="0"/>
                <a:ea typeface="DejaVu Sans" pitchFamily="34" charset="-122"/>
                <a:cs typeface="DejaVu Sans" pitchFamily="34" charset="-120"/>
              </a:rPr>
              <a:t>Total livestock</a:t>
            </a:r>
            <a:endParaRPr lang="en-US" sz="1450" dirty="0"/>
          </a:p>
        </p:txBody>
      </p:sp>
      <p:sp>
        <p:nvSpPr>
          <p:cNvPr id="10" name="Text 7"/>
          <p:cNvSpPr txBox="1"/>
          <p:nvPr/>
        </p:nvSpPr>
        <p:spPr>
          <a:xfrm>
            <a:off x="4343400" y="3355848"/>
            <a:ext cx="1463040" cy="457200"/>
          </a:xfrm>
          <a:prstGeom prst="rect">
            <a:avLst/>
          </a:prstGeom>
          <a:noFill/>
          <a:ln/>
        </p:spPr>
        <p:txBody>
          <a:bodyPr wrap="square" lIns="0" tIns="0" rIns="0" bIns="0" rtlCol="0" anchor="ctr"/>
          <a:lstStyle/>
          <a:p>
            <a:pPr algn="r" indent="0" marL="0">
              <a:buNone/>
            </a:pPr>
            <a:r>
              <a:rPr lang="en-US" sz="1450" b="1" dirty="0">
                <a:solidFill>
                  <a:srgbClr val="00883F"/>
                </a:solidFill>
                <a:latin typeface="DejaVu Sans" pitchFamily="34" charset="0"/>
                <a:ea typeface="DejaVu Sans" pitchFamily="34" charset="-122"/>
                <a:cs typeface="DejaVu Sans" pitchFamily="34" charset="-120"/>
              </a:rPr>
              <a:t>p &lt; .001</a:t>
            </a:r>
            <a:endParaRPr lang="en-US" sz="1450" dirty="0"/>
          </a:p>
        </p:txBody>
      </p:sp>
      <p:sp>
        <p:nvSpPr>
          <p:cNvPr id="11" name="Text 8"/>
          <p:cNvSpPr txBox="1"/>
          <p:nvPr/>
        </p:nvSpPr>
        <p:spPr>
          <a:xfrm>
            <a:off x="777240" y="4105656"/>
            <a:ext cx="3566160" cy="457200"/>
          </a:xfrm>
          <a:prstGeom prst="rect">
            <a:avLst/>
          </a:prstGeom>
          <a:noFill/>
          <a:ln/>
        </p:spPr>
        <p:txBody>
          <a:bodyPr wrap="square" lIns="0" tIns="0" rIns="0" bIns="0" rtlCol="0" anchor="ctr"/>
          <a:lstStyle/>
          <a:p>
            <a:pPr indent="0" marL="0">
              <a:buNone/>
            </a:pPr>
            <a:r>
              <a:rPr lang="en-US" sz="1450" dirty="0">
                <a:solidFill>
                  <a:srgbClr val="1D1D1B"/>
                </a:solidFill>
                <a:latin typeface="DejaVu Sans" pitchFamily="34" charset="0"/>
                <a:ea typeface="DejaVu Sans" pitchFamily="34" charset="-122"/>
                <a:cs typeface="DejaVu Sans" pitchFamily="34" charset="-120"/>
              </a:rPr>
              <a:t>Household assets</a:t>
            </a:r>
            <a:endParaRPr lang="en-US" sz="1450" dirty="0"/>
          </a:p>
        </p:txBody>
      </p:sp>
      <p:sp>
        <p:nvSpPr>
          <p:cNvPr id="12" name="Text 9"/>
          <p:cNvSpPr txBox="1"/>
          <p:nvPr/>
        </p:nvSpPr>
        <p:spPr>
          <a:xfrm>
            <a:off x="4343400" y="4105656"/>
            <a:ext cx="1463040" cy="457200"/>
          </a:xfrm>
          <a:prstGeom prst="rect">
            <a:avLst/>
          </a:prstGeom>
          <a:noFill/>
          <a:ln/>
        </p:spPr>
        <p:txBody>
          <a:bodyPr wrap="square" lIns="0" tIns="0" rIns="0" bIns="0" rtlCol="0" anchor="ctr"/>
          <a:lstStyle/>
          <a:p>
            <a:pPr algn="r" indent="0" marL="0">
              <a:buNone/>
            </a:pPr>
            <a:r>
              <a:rPr lang="en-US" sz="1450" b="1" dirty="0">
                <a:solidFill>
                  <a:srgbClr val="00883F"/>
                </a:solidFill>
                <a:latin typeface="DejaVu Sans" pitchFamily="34" charset="0"/>
                <a:ea typeface="DejaVu Sans" pitchFamily="34" charset="-122"/>
                <a:cs typeface="DejaVu Sans" pitchFamily="34" charset="-120"/>
              </a:rPr>
              <a:t>p &lt; .001</a:t>
            </a:r>
            <a:endParaRPr lang="en-US" sz="1450" dirty="0"/>
          </a:p>
        </p:txBody>
      </p:sp>
      <p:sp>
        <p:nvSpPr>
          <p:cNvPr id="13" name="Text 10"/>
          <p:cNvSpPr txBox="1"/>
          <p:nvPr/>
        </p:nvSpPr>
        <p:spPr>
          <a:xfrm>
            <a:off x="777240" y="4855464"/>
            <a:ext cx="3566160" cy="457200"/>
          </a:xfrm>
          <a:prstGeom prst="rect">
            <a:avLst/>
          </a:prstGeom>
          <a:noFill/>
          <a:ln/>
        </p:spPr>
        <p:txBody>
          <a:bodyPr wrap="square" lIns="0" tIns="0" rIns="0" bIns="0" rtlCol="0" anchor="ctr"/>
          <a:lstStyle/>
          <a:p>
            <a:pPr indent="0" marL="0">
              <a:buNone/>
            </a:pPr>
            <a:r>
              <a:rPr lang="en-US" sz="1450" dirty="0">
                <a:solidFill>
                  <a:srgbClr val="1D1D1B"/>
                </a:solidFill>
                <a:latin typeface="DejaVu Sans" pitchFamily="34" charset="0"/>
                <a:ea typeface="DejaVu Sans" pitchFamily="34" charset="-122"/>
                <a:cs typeface="DejaVu Sans" pitchFamily="34" charset="-120"/>
              </a:rPr>
              <a:t>Agricultural income share</a:t>
            </a:r>
            <a:endParaRPr lang="en-US" sz="1450" dirty="0"/>
          </a:p>
        </p:txBody>
      </p:sp>
      <p:sp>
        <p:nvSpPr>
          <p:cNvPr id="14" name="Text 11"/>
          <p:cNvSpPr txBox="1"/>
          <p:nvPr/>
        </p:nvSpPr>
        <p:spPr>
          <a:xfrm>
            <a:off x="4343400" y="4855464"/>
            <a:ext cx="1463040" cy="457200"/>
          </a:xfrm>
          <a:prstGeom prst="rect">
            <a:avLst/>
          </a:prstGeom>
          <a:noFill/>
          <a:ln/>
        </p:spPr>
        <p:txBody>
          <a:bodyPr wrap="square" lIns="0" tIns="0" rIns="0" bIns="0" rtlCol="0" anchor="ctr"/>
          <a:lstStyle/>
          <a:p>
            <a:pPr algn="r" indent="0" marL="0">
              <a:buNone/>
            </a:pPr>
            <a:r>
              <a:rPr lang="en-US" sz="1450" b="1" dirty="0">
                <a:solidFill>
                  <a:srgbClr val="00883F"/>
                </a:solidFill>
                <a:latin typeface="DejaVu Sans" pitchFamily="34" charset="0"/>
                <a:ea typeface="DejaVu Sans" pitchFamily="34" charset="-122"/>
                <a:cs typeface="DejaVu Sans" pitchFamily="34" charset="-120"/>
              </a:rPr>
              <a:t>p = .017</a:t>
            </a:r>
            <a:endParaRPr lang="en-US" sz="1450" dirty="0"/>
          </a:p>
        </p:txBody>
      </p:sp>
      <p:sp>
        <p:nvSpPr>
          <p:cNvPr id="15" name="Shape 12"/>
          <p:cNvSpPr/>
          <p:nvPr/>
        </p:nvSpPr>
        <p:spPr>
          <a:xfrm>
            <a:off x="6172200" y="1874520"/>
            <a:ext cx="5440680" cy="3977640"/>
          </a:xfrm>
          <a:prstGeom prst="roundRect">
            <a:avLst>
              <a:gd name="adj" fmla="val 1379"/>
            </a:avLst>
          </a:prstGeom>
          <a:solidFill>
            <a:srgbClr val="F2F2F2"/>
          </a:solidFill>
          <a:ln/>
        </p:spPr>
      </p:sp>
      <p:sp>
        <p:nvSpPr>
          <p:cNvPr id="16" name="Text 13"/>
          <p:cNvSpPr txBox="1"/>
          <p:nvPr/>
        </p:nvSpPr>
        <p:spPr>
          <a:xfrm>
            <a:off x="6419088" y="2057400"/>
            <a:ext cx="4937760" cy="365760"/>
          </a:xfrm>
          <a:prstGeom prst="rect">
            <a:avLst/>
          </a:prstGeom>
          <a:noFill/>
          <a:ln/>
        </p:spPr>
        <p:txBody>
          <a:bodyPr wrap="square" lIns="0" tIns="0" rIns="0" bIns="0" rtlCol="0" anchor="ctr"/>
          <a:lstStyle/>
          <a:p>
            <a:pPr indent="0" marL="0">
              <a:buNone/>
            </a:pPr>
            <a:r>
              <a:rPr lang="en-US" sz="1500" b="1" dirty="0">
                <a:solidFill>
                  <a:srgbClr val="6B6B6B"/>
                </a:solidFill>
                <a:latin typeface="DejaVu Sans" pitchFamily="34" charset="0"/>
                <a:ea typeface="DejaVu Sans" pitchFamily="34" charset="-122"/>
                <a:cs typeface="DejaVu Sans" pitchFamily="34" charset="-120"/>
              </a:rPr>
              <a:t>No significant difference</a:t>
            </a:r>
            <a:endParaRPr lang="en-US" sz="1500" dirty="0"/>
          </a:p>
        </p:txBody>
      </p:sp>
      <p:sp>
        <p:nvSpPr>
          <p:cNvPr id="17" name="Text 14"/>
          <p:cNvSpPr txBox="1"/>
          <p:nvPr/>
        </p:nvSpPr>
        <p:spPr>
          <a:xfrm>
            <a:off x="6419088" y="2606040"/>
            <a:ext cx="3566160" cy="457200"/>
          </a:xfrm>
          <a:prstGeom prst="rect">
            <a:avLst/>
          </a:prstGeom>
          <a:noFill/>
          <a:ln/>
        </p:spPr>
        <p:txBody>
          <a:bodyPr wrap="square" lIns="0" tIns="0" rIns="0" bIns="0" rtlCol="0" anchor="ctr"/>
          <a:lstStyle/>
          <a:p>
            <a:pPr indent="0" marL="0">
              <a:buNone/>
            </a:pPr>
            <a:r>
              <a:rPr lang="en-US" sz="1450" dirty="0">
                <a:solidFill>
                  <a:srgbClr val="1D1D1B"/>
                </a:solidFill>
                <a:latin typeface="DejaVu Sans" pitchFamily="34" charset="0"/>
                <a:ea typeface="DejaVu Sans" pitchFamily="34" charset="-122"/>
                <a:cs typeface="DejaVu Sans" pitchFamily="34" charset="-120"/>
              </a:rPr>
              <a:t>Age</a:t>
            </a:r>
            <a:endParaRPr lang="en-US" sz="1450" dirty="0"/>
          </a:p>
        </p:txBody>
      </p:sp>
      <p:sp>
        <p:nvSpPr>
          <p:cNvPr id="18" name="Text 15"/>
          <p:cNvSpPr txBox="1"/>
          <p:nvPr/>
        </p:nvSpPr>
        <p:spPr>
          <a:xfrm>
            <a:off x="9966960" y="2606040"/>
            <a:ext cx="1463040" cy="457200"/>
          </a:xfrm>
          <a:prstGeom prst="rect">
            <a:avLst/>
          </a:prstGeom>
          <a:noFill/>
          <a:ln/>
        </p:spPr>
        <p:txBody>
          <a:bodyPr wrap="square" lIns="0" tIns="0" rIns="0" bIns="0" rtlCol="0" anchor="ctr"/>
          <a:lstStyle/>
          <a:p>
            <a:pPr algn="r" indent="0" marL="0">
              <a:buNone/>
            </a:pPr>
            <a:r>
              <a:rPr lang="en-US" sz="1450" dirty="0">
                <a:solidFill>
                  <a:srgbClr val="6B6B6B"/>
                </a:solidFill>
                <a:latin typeface="DejaVu Sans" pitchFamily="34" charset="0"/>
                <a:ea typeface="DejaVu Sans" pitchFamily="34" charset="-122"/>
                <a:cs typeface="DejaVu Sans" pitchFamily="34" charset="-120"/>
              </a:rPr>
              <a:t>p = .401</a:t>
            </a:r>
            <a:endParaRPr lang="en-US" sz="1450" dirty="0"/>
          </a:p>
        </p:txBody>
      </p:sp>
      <p:sp>
        <p:nvSpPr>
          <p:cNvPr id="19" name="Text 16"/>
          <p:cNvSpPr txBox="1"/>
          <p:nvPr/>
        </p:nvSpPr>
        <p:spPr>
          <a:xfrm>
            <a:off x="6419088" y="3355848"/>
            <a:ext cx="3566160" cy="457200"/>
          </a:xfrm>
          <a:prstGeom prst="rect">
            <a:avLst/>
          </a:prstGeom>
          <a:noFill/>
          <a:ln/>
        </p:spPr>
        <p:txBody>
          <a:bodyPr wrap="square" lIns="0" tIns="0" rIns="0" bIns="0" rtlCol="0" anchor="ctr"/>
          <a:lstStyle/>
          <a:p>
            <a:pPr indent="0" marL="0">
              <a:buNone/>
            </a:pPr>
            <a:r>
              <a:rPr lang="en-US" sz="1450" dirty="0">
                <a:solidFill>
                  <a:srgbClr val="1D1D1B"/>
                </a:solidFill>
                <a:latin typeface="DejaVu Sans" pitchFamily="34" charset="0"/>
                <a:ea typeface="DejaVu Sans" pitchFamily="34" charset="-122"/>
                <a:cs typeface="DejaVu Sans" pitchFamily="34" charset="-120"/>
              </a:rPr>
              <a:t>Gender</a:t>
            </a:r>
            <a:endParaRPr lang="en-US" sz="1450" dirty="0"/>
          </a:p>
        </p:txBody>
      </p:sp>
      <p:sp>
        <p:nvSpPr>
          <p:cNvPr id="20" name="Text 17"/>
          <p:cNvSpPr txBox="1"/>
          <p:nvPr/>
        </p:nvSpPr>
        <p:spPr>
          <a:xfrm>
            <a:off x="9966960" y="3355848"/>
            <a:ext cx="1463040" cy="457200"/>
          </a:xfrm>
          <a:prstGeom prst="rect">
            <a:avLst/>
          </a:prstGeom>
          <a:noFill/>
          <a:ln/>
        </p:spPr>
        <p:txBody>
          <a:bodyPr wrap="square" lIns="0" tIns="0" rIns="0" bIns="0" rtlCol="0" anchor="ctr"/>
          <a:lstStyle/>
          <a:p>
            <a:pPr algn="r" indent="0" marL="0">
              <a:buNone/>
            </a:pPr>
            <a:r>
              <a:rPr lang="en-US" sz="1450" dirty="0">
                <a:solidFill>
                  <a:srgbClr val="6B6B6B"/>
                </a:solidFill>
                <a:latin typeface="DejaVu Sans" pitchFamily="34" charset="0"/>
                <a:ea typeface="DejaVu Sans" pitchFamily="34" charset="-122"/>
                <a:cs typeface="DejaVu Sans" pitchFamily="34" charset="-120"/>
              </a:rPr>
              <a:t>p = .318</a:t>
            </a:r>
            <a:endParaRPr lang="en-US" sz="1450" dirty="0"/>
          </a:p>
        </p:txBody>
      </p:sp>
      <p:sp>
        <p:nvSpPr>
          <p:cNvPr id="21" name="Text 18"/>
          <p:cNvSpPr txBox="1"/>
          <p:nvPr/>
        </p:nvSpPr>
        <p:spPr>
          <a:xfrm>
            <a:off x="6419088" y="4105656"/>
            <a:ext cx="3566160" cy="457200"/>
          </a:xfrm>
          <a:prstGeom prst="rect">
            <a:avLst/>
          </a:prstGeom>
          <a:noFill/>
          <a:ln/>
        </p:spPr>
        <p:txBody>
          <a:bodyPr wrap="square" lIns="0" tIns="0" rIns="0" bIns="0" rtlCol="0" anchor="ctr"/>
          <a:lstStyle/>
          <a:p>
            <a:pPr indent="0" marL="0">
              <a:buNone/>
            </a:pPr>
            <a:r>
              <a:rPr lang="en-US" sz="1450" dirty="0">
                <a:solidFill>
                  <a:srgbClr val="1D1D1B"/>
                </a:solidFill>
                <a:latin typeface="DejaVu Sans" pitchFamily="34" charset="0"/>
                <a:ea typeface="DejaVu Sans" pitchFamily="34" charset="-122"/>
                <a:cs typeface="DejaVu Sans" pitchFamily="34" charset="-120"/>
              </a:rPr>
              <a:t>Education</a:t>
            </a:r>
            <a:endParaRPr lang="en-US" sz="1450" dirty="0"/>
          </a:p>
        </p:txBody>
      </p:sp>
      <p:sp>
        <p:nvSpPr>
          <p:cNvPr id="22" name="Text 19"/>
          <p:cNvSpPr txBox="1"/>
          <p:nvPr/>
        </p:nvSpPr>
        <p:spPr>
          <a:xfrm>
            <a:off x="9966960" y="4105656"/>
            <a:ext cx="1463040" cy="457200"/>
          </a:xfrm>
          <a:prstGeom prst="rect">
            <a:avLst/>
          </a:prstGeom>
          <a:noFill/>
          <a:ln/>
        </p:spPr>
        <p:txBody>
          <a:bodyPr wrap="square" lIns="0" tIns="0" rIns="0" bIns="0" rtlCol="0" anchor="ctr"/>
          <a:lstStyle/>
          <a:p>
            <a:pPr algn="r" indent="0" marL="0">
              <a:buNone/>
            </a:pPr>
            <a:r>
              <a:rPr lang="en-US" sz="1450" dirty="0">
                <a:solidFill>
                  <a:srgbClr val="6B6B6B"/>
                </a:solidFill>
                <a:latin typeface="DejaVu Sans" pitchFamily="34" charset="0"/>
                <a:ea typeface="DejaVu Sans" pitchFamily="34" charset="-122"/>
                <a:cs typeface="DejaVu Sans" pitchFamily="34" charset="-120"/>
              </a:rPr>
              <a:t>p = .383</a:t>
            </a:r>
            <a:endParaRPr lang="en-US" sz="1450" dirty="0"/>
          </a:p>
        </p:txBody>
      </p:sp>
      <p:sp>
        <p:nvSpPr>
          <p:cNvPr id="23" name="Text 20"/>
          <p:cNvSpPr txBox="1"/>
          <p:nvPr/>
        </p:nvSpPr>
        <p:spPr>
          <a:xfrm>
            <a:off x="6419088" y="4855464"/>
            <a:ext cx="3566160" cy="457200"/>
          </a:xfrm>
          <a:prstGeom prst="rect">
            <a:avLst/>
          </a:prstGeom>
          <a:noFill/>
          <a:ln/>
        </p:spPr>
        <p:txBody>
          <a:bodyPr wrap="square" lIns="0" tIns="0" rIns="0" bIns="0" rtlCol="0" anchor="ctr"/>
          <a:lstStyle/>
          <a:p>
            <a:pPr indent="0" marL="0">
              <a:buNone/>
            </a:pPr>
            <a:r>
              <a:rPr lang="en-US" sz="1450" dirty="0">
                <a:solidFill>
                  <a:srgbClr val="1D1D1B"/>
                </a:solidFill>
                <a:latin typeface="DejaVu Sans" pitchFamily="34" charset="0"/>
                <a:ea typeface="DejaVu Sans" pitchFamily="34" charset="-122"/>
                <a:cs typeface="DejaVu Sans" pitchFamily="34" charset="-120"/>
              </a:rPr>
              <a:t>Annual income</a:t>
            </a:r>
            <a:endParaRPr lang="en-US" sz="1450" dirty="0"/>
          </a:p>
        </p:txBody>
      </p:sp>
      <p:sp>
        <p:nvSpPr>
          <p:cNvPr id="24" name="Text 21"/>
          <p:cNvSpPr txBox="1"/>
          <p:nvPr/>
        </p:nvSpPr>
        <p:spPr>
          <a:xfrm>
            <a:off x="9966960" y="4855464"/>
            <a:ext cx="1463040" cy="457200"/>
          </a:xfrm>
          <a:prstGeom prst="rect">
            <a:avLst/>
          </a:prstGeom>
          <a:noFill/>
          <a:ln/>
        </p:spPr>
        <p:txBody>
          <a:bodyPr wrap="square" lIns="0" tIns="0" rIns="0" bIns="0" rtlCol="0" anchor="ctr"/>
          <a:lstStyle/>
          <a:p>
            <a:pPr algn="r" indent="0" marL="0">
              <a:buNone/>
            </a:pPr>
            <a:r>
              <a:rPr lang="en-US" sz="1450" dirty="0">
                <a:solidFill>
                  <a:srgbClr val="6B6B6B"/>
                </a:solidFill>
                <a:latin typeface="DejaVu Sans" pitchFamily="34" charset="0"/>
                <a:ea typeface="DejaVu Sans" pitchFamily="34" charset="-122"/>
                <a:cs typeface="DejaVu Sans" pitchFamily="34" charset="-120"/>
              </a:rPr>
              <a:t>p = .599</a:t>
            </a:r>
            <a:endParaRPr lang="en-US" sz="1450" dirty="0"/>
          </a:p>
        </p:txBody>
      </p:sp>
      <p:sp>
        <p:nvSpPr>
          <p:cNvPr id="25" name="Text 22"/>
          <p:cNvSpPr txBox="1"/>
          <p:nvPr/>
        </p:nvSpPr>
        <p:spPr>
          <a:xfrm>
            <a:off x="530352" y="5989320"/>
            <a:ext cx="11155680" cy="502920"/>
          </a:xfrm>
          <a:prstGeom prst="rect">
            <a:avLst/>
          </a:prstGeom>
          <a:noFill/>
          <a:ln/>
        </p:spPr>
        <p:txBody>
          <a:bodyPr wrap="square" lIns="0" tIns="0" rIns="0" bIns="0" rtlCol="0" anchor="ctr"/>
          <a:lstStyle/>
          <a:p>
            <a:pPr indent="0" marL="0">
              <a:buNone/>
            </a:pPr>
            <a:r>
              <a:rPr lang="en-US" sz="1250" i="1" dirty="0">
                <a:solidFill>
                  <a:srgbClr val="1D1D1B"/>
                </a:solidFill>
                <a:latin typeface="DejaVu Sans" pitchFamily="34" charset="0"/>
                <a:ea typeface="DejaVu Sans" pitchFamily="34" charset="-122"/>
                <a:cs typeface="DejaVu Sans" pitchFamily="34" charset="-120"/>
              </a:rPr>
              <a:t>Reading this: compensation participation is not “as-if random,” but it also isn’t just a proxy for being richer or poorer — it tracks farm/livestock exposure (more assets at risk of damage) and county, not demographics.</a:t>
            </a:r>
            <a:endParaRPr lang="en-US" sz="1250" dirty="0"/>
          </a:p>
        </p:txBody>
      </p:sp>
      <p:sp>
        <p:nvSpPr>
          <p:cNvPr id="26" name="Text 23"/>
          <p:cNvSpPr txBox="1"/>
          <p:nvPr/>
        </p:nvSpPr>
        <p:spPr>
          <a:xfrm>
            <a:off x="530352" y="6446520"/>
            <a:ext cx="11155680" cy="274320"/>
          </a:xfrm>
          <a:prstGeom prst="rect">
            <a:avLst/>
          </a:prstGeom>
          <a:noFill/>
          <a:ln/>
        </p:spPr>
        <p:txBody>
          <a:bodyPr wrap="square" lIns="0" tIns="0" rIns="0" bIns="0" rtlCol="0" anchor="ctr"/>
          <a:lstStyle/>
          <a:p>
            <a:pPr indent="0" marL="0">
              <a:buNone/>
            </a:pPr>
            <a:r>
              <a:rPr lang="en-US" sz="900" dirty="0">
                <a:solidFill>
                  <a:srgbClr val="6B6B6B"/>
                </a:solidFill>
                <a:latin typeface="DejaVu Sans" pitchFamily="34" charset="0"/>
                <a:ea typeface="DejaVu Sans" pitchFamily="34" charset="-122"/>
                <a:cs typeface="DejaVu Sans" pitchFamily="34" charset="-120"/>
              </a:rPr>
              <a:t>Source: Wilcoxon/chi-square tests, with- vs. without-compensation groups, n=625; claude_analysis/output/tables/02_compensation_group_tests.csv</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29184"/>
            <a:ext cx="8961120" cy="256032"/>
          </a:xfrm>
          <a:prstGeom prst="rect">
            <a:avLst/>
          </a:prstGeom>
          <a:noFill/>
          <a:ln/>
        </p:spPr>
        <p:txBody>
          <a:bodyPr wrap="square" lIns="0" tIns="0" rIns="0" bIns="0" rtlCol="0" anchor="ctr"/>
          <a:lstStyle/>
          <a:p>
            <a:pPr indent="0" marL="0">
              <a:buNone/>
            </a:pPr>
            <a:r>
              <a:rPr lang="en-US" sz="1000" b="1" dirty="0">
                <a:solidFill>
                  <a:srgbClr val="00883F"/>
                </a:solidFill>
                <a:latin typeface="DejaVu Sans" pitchFamily="34" charset="0"/>
                <a:ea typeface="DejaVu Sans" pitchFamily="34" charset="-122"/>
                <a:cs typeface="DejaVu Sans" pitchFamily="34" charset="-120"/>
              </a:rPr>
              <a:t>EDA → DISTRIBUTIONS</a:t>
            </a:r>
            <a:endParaRPr lang="en-US" sz="1000" dirty="0"/>
          </a:p>
        </p:txBody>
      </p:sp>
      <p:pic>
        <p:nvPicPr>
          <p:cNvPr id="3" name="Image 0" descr="/tmp/claude-1003/-home-duc-Wildboar-Compensation-on-Tolerance/15230097-a62e-459e-b45e-9fbee29760f4/scratchpad/lmu_slide/lmu_logo.png">    </p:cNvPr>
          <p:cNvPicPr>
            <a:picLocks noChangeAspect="1"/>
          </p:cNvPicPr>
          <p:nvPr/>
        </p:nvPicPr>
        <p:blipFill>
          <a:blip r:embed="rId1"/>
          <a:stretch>
            <a:fillRect/>
          </a:stretch>
        </p:blipFill>
        <p:spPr>
          <a:xfrm>
            <a:off x="10222992" y="182880"/>
            <a:ext cx="1389888" cy="731520"/>
          </a:xfrm>
          <a:prstGeom prst="rect">
            <a:avLst/>
          </a:prstGeom>
        </p:spPr>
      </p:pic>
      <p:sp>
        <p:nvSpPr>
          <p:cNvPr id="4" name="Text 1"/>
          <p:cNvSpPr txBox="1"/>
          <p:nvPr/>
        </p:nvSpPr>
        <p:spPr>
          <a:xfrm>
            <a:off x="530352" y="640080"/>
            <a:ext cx="9418320" cy="1115568"/>
          </a:xfrm>
          <a:prstGeom prst="rect">
            <a:avLst/>
          </a:prstGeom>
          <a:noFill/>
          <a:ln/>
        </p:spPr>
        <p:txBody>
          <a:bodyPr wrap="square" lIns="0" tIns="0" rIns="0" bIns="0" rtlCol="0" anchor="ctr"/>
          <a:lstStyle/>
          <a:p>
            <a:pPr indent="0" marL="0">
              <a:lnSpc>
                <a:spcPct val="105000"/>
              </a:lnSpc>
              <a:buNone/>
            </a:pPr>
            <a:r>
              <a:rPr lang="en-US" sz="2700" b="1" dirty="0">
                <a:solidFill>
                  <a:srgbClr val="1D1D1B"/>
                </a:solidFill>
                <a:latin typeface="DejaVu Sans" pitchFamily="34" charset="0"/>
                <a:ea typeface="DejaVu Sans" pitchFamily="34" charset="-122"/>
                <a:cs typeface="DejaVu Sans" pitchFamily="34" charset="-120"/>
              </a:rPr>
              <a:t>A Few Extreme Households Would Dominate Any Linear Model</a:t>
            </a:r>
            <a:endParaRPr lang="en-US" sz="2700" dirty="0"/>
          </a:p>
        </p:txBody>
      </p:sp>
      <p:sp>
        <p:nvSpPr>
          <p:cNvPr id="5" name="Text 2"/>
          <p:cNvSpPr txBox="1"/>
          <p:nvPr/>
        </p:nvSpPr>
        <p:spPr>
          <a:xfrm>
            <a:off x="530352" y="1874520"/>
            <a:ext cx="5349240" cy="731520"/>
          </a:xfrm>
          <a:prstGeom prst="rect">
            <a:avLst/>
          </a:prstGeom>
          <a:noFill/>
          <a:ln/>
        </p:spPr>
        <p:txBody>
          <a:bodyPr wrap="square" lIns="0" tIns="0" rIns="0" bIns="0" rtlCol="0" anchor="t"/>
          <a:lstStyle/>
          <a:p>
            <a:pPr indent="0" marL="0">
              <a:lnSpc>
                <a:spcPct val="112000"/>
              </a:lnSpc>
              <a:buNone/>
            </a:pPr>
            <a:r>
              <a:rPr lang="en-US" sz="1450" dirty="0">
                <a:solidFill>
                  <a:srgbClr val="1D1D1B"/>
                </a:solidFill>
                <a:latin typeface="DejaVu Sans" pitchFamily="34" charset="0"/>
                <a:ea typeface="DejaVu Sans" pitchFamily="34" charset="-122"/>
                <a:cs typeface="DejaVu Sans" pitchFamily="34" charset="-120"/>
              </a:rPr>
              <a:t>• Household assets range from 77 to 3,087,729 RMB across respondents.</a:t>
            </a:r>
            <a:endParaRPr lang="en-US" sz="1450" dirty="0"/>
          </a:p>
        </p:txBody>
      </p:sp>
      <p:sp>
        <p:nvSpPr>
          <p:cNvPr id="6" name="Text 3"/>
          <p:cNvSpPr txBox="1"/>
          <p:nvPr/>
        </p:nvSpPr>
        <p:spPr>
          <a:xfrm>
            <a:off x="530352" y="2651760"/>
            <a:ext cx="5349240" cy="731520"/>
          </a:xfrm>
          <a:prstGeom prst="rect">
            <a:avLst/>
          </a:prstGeom>
          <a:noFill/>
          <a:ln/>
        </p:spPr>
        <p:txBody>
          <a:bodyPr wrap="square" lIns="0" tIns="0" rIns="0" bIns="0" rtlCol="0" anchor="t"/>
          <a:lstStyle/>
          <a:p>
            <a:pPr indent="0" marL="0">
              <a:lnSpc>
                <a:spcPct val="112000"/>
              </a:lnSpc>
              <a:buNone/>
            </a:pPr>
            <a:r>
              <a:rPr lang="en-US" sz="1450" dirty="0">
                <a:solidFill>
                  <a:srgbClr val="1D1D1B"/>
                </a:solidFill>
                <a:latin typeface="DejaVu Sans" pitchFamily="34" charset="0"/>
                <a:ea typeface="DejaVu Sans" pitchFamily="34" charset="-122"/>
                <a:cs typeface="DejaVu Sans" pitchFamily="34" charset="-120"/>
              </a:rPr>
              <a:t>• Annual household income ranges from 0 to 300,000 RMB.</a:t>
            </a:r>
            <a:endParaRPr lang="en-US" sz="1450" dirty="0"/>
          </a:p>
        </p:txBody>
      </p:sp>
      <p:sp>
        <p:nvSpPr>
          <p:cNvPr id="7" name="Text 4"/>
          <p:cNvSpPr txBox="1"/>
          <p:nvPr/>
        </p:nvSpPr>
        <p:spPr>
          <a:xfrm>
            <a:off x="530352" y="3429000"/>
            <a:ext cx="5349240" cy="731520"/>
          </a:xfrm>
          <a:prstGeom prst="rect">
            <a:avLst/>
          </a:prstGeom>
          <a:noFill/>
          <a:ln/>
        </p:spPr>
        <p:txBody>
          <a:bodyPr wrap="square" lIns="0" tIns="0" rIns="0" bIns="0" rtlCol="0" anchor="t"/>
          <a:lstStyle/>
          <a:p>
            <a:pPr indent="0" marL="0">
              <a:lnSpc>
                <a:spcPct val="112000"/>
              </a:lnSpc>
              <a:buNone/>
            </a:pPr>
            <a:r>
              <a:rPr lang="en-US" sz="1450" dirty="0">
                <a:solidFill>
                  <a:srgbClr val="1D1D1B"/>
                </a:solidFill>
                <a:latin typeface="DejaVu Sans" pitchFamily="34" charset="0"/>
                <a:ea typeface="DejaVu Sans" pitchFamily="34" charset="-122"/>
                <a:cs typeface="DejaVu Sans" pitchFamily="34" charset="-120"/>
              </a:rPr>
              <a:t>• Reported economic loss from wild-boar damage ranges from 0 to 503,300 RMB.</a:t>
            </a:r>
            <a:endParaRPr lang="en-US" sz="1450" dirty="0"/>
          </a:p>
        </p:txBody>
      </p:sp>
      <p:sp>
        <p:nvSpPr>
          <p:cNvPr id="8" name="Text 5"/>
          <p:cNvSpPr txBox="1"/>
          <p:nvPr/>
        </p:nvSpPr>
        <p:spPr>
          <a:xfrm>
            <a:off x="530352" y="4206240"/>
            <a:ext cx="5349240" cy="731520"/>
          </a:xfrm>
          <a:prstGeom prst="rect">
            <a:avLst/>
          </a:prstGeom>
          <a:noFill/>
          <a:ln/>
        </p:spPr>
        <p:txBody>
          <a:bodyPr wrap="square" lIns="0" tIns="0" rIns="0" bIns="0" rtlCol="0" anchor="t"/>
          <a:lstStyle/>
          <a:p>
            <a:pPr indent="0" marL="0">
              <a:lnSpc>
                <a:spcPct val="112000"/>
              </a:lnSpc>
              <a:buNone/>
            </a:pPr>
            <a:r>
              <a:rPr lang="en-US" sz="1450" dirty="0">
                <a:solidFill>
                  <a:srgbClr val="1D1D1B"/>
                </a:solidFill>
                <a:latin typeface="DejaVu Sans" pitchFamily="34" charset="0"/>
                <a:ea typeface="DejaVu Sans" pitchFamily="34" charset="-122"/>
                <a:cs typeface="DejaVu Sans" pitchFamily="34" charset="-120"/>
              </a:rPr>
              <a:t>• Willingness to pay for insurance ranges from 0 to 15,000 RMB/year.</a:t>
            </a:r>
            <a:endParaRPr lang="en-US" sz="1450" dirty="0"/>
          </a:p>
        </p:txBody>
      </p:sp>
      <p:sp>
        <p:nvSpPr>
          <p:cNvPr id="9" name="Text 6"/>
          <p:cNvSpPr txBox="1"/>
          <p:nvPr/>
        </p:nvSpPr>
        <p:spPr>
          <a:xfrm>
            <a:off x="530352" y="4983480"/>
            <a:ext cx="5349240" cy="731520"/>
          </a:xfrm>
          <a:prstGeom prst="rect">
            <a:avLst/>
          </a:prstGeom>
          <a:noFill/>
          <a:ln/>
        </p:spPr>
        <p:txBody>
          <a:bodyPr wrap="square" lIns="0" tIns="0" rIns="0" bIns="0" rtlCol="0" anchor="t"/>
          <a:lstStyle/>
          <a:p>
            <a:pPr indent="0" marL="0">
              <a:lnSpc>
                <a:spcPct val="112000"/>
              </a:lnSpc>
              <a:buNone/>
            </a:pPr>
            <a:r>
              <a:rPr lang="en-US" sz="1450" dirty="0">
                <a:solidFill>
                  <a:srgbClr val="1D1D1B"/>
                </a:solidFill>
                <a:latin typeface="DejaVu Sans" pitchFamily="34" charset="0"/>
                <a:ea typeface="DejaVu Sans" pitchFamily="34" charset="-122"/>
                <a:cs typeface="DejaVu Sans" pitchFamily="34" charset="-120"/>
              </a:rPr>
              <a:t>• All four are heavily right-skewed (see distributions, right) — log(1+x)-transformed before entering any model so a handful of large landholders don’t dominate the fit.</a:t>
            </a:r>
            <a:endParaRPr lang="en-US" sz="1450" dirty="0"/>
          </a:p>
        </p:txBody>
      </p:sp>
      <p:pic>
        <p:nvPicPr>
          <p:cNvPr id="10" name="Image 1" descr="/home/duc/Wildboar-Compensation-on-Tolerance/claude_analysis/output/figures/02_monetary_distributions.png">    </p:cNvPr>
          <p:cNvPicPr>
            <a:picLocks noChangeAspect="1"/>
          </p:cNvPicPr>
          <p:nvPr/>
        </p:nvPicPr>
        <p:blipFill>
          <a:blip r:embed="rId2"/>
          <a:srcRect l="0" r="0" t="0" b="0"/>
          <a:stretch/>
        </p:blipFill>
        <p:spPr>
          <a:xfrm>
            <a:off x="6263640" y="1783080"/>
            <a:ext cx="5349240" cy="4480560"/>
          </a:xfrm>
          <a:prstGeom prst="rect">
            <a:avLst/>
          </a:prstGeom>
        </p:spPr>
      </p:pic>
      <p:sp>
        <p:nvSpPr>
          <p:cNvPr id="11" name="Text 7"/>
          <p:cNvSpPr txBox="1"/>
          <p:nvPr/>
        </p:nvSpPr>
        <p:spPr>
          <a:xfrm>
            <a:off x="530352" y="6446520"/>
            <a:ext cx="11155680" cy="274320"/>
          </a:xfrm>
          <a:prstGeom prst="rect">
            <a:avLst/>
          </a:prstGeom>
          <a:noFill/>
          <a:ln/>
        </p:spPr>
        <p:txBody>
          <a:bodyPr wrap="square" lIns="0" tIns="0" rIns="0" bIns="0" rtlCol="0" anchor="ctr"/>
          <a:lstStyle/>
          <a:p>
            <a:pPr indent="0" marL="0">
              <a:buNone/>
            </a:pPr>
            <a:r>
              <a:rPr lang="en-US" sz="900" dirty="0">
                <a:solidFill>
                  <a:srgbClr val="6B6B6B"/>
                </a:solidFill>
                <a:latin typeface="DejaVu Sans" pitchFamily="34" charset="0"/>
                <a:ea typeface="DejaVu Sans" pitchFamily="34" charset="-122"/>
                <a:cs typeface="DejaVu Sans" pitchFamily="34" charset="-120"/>
              </a:rPr>
              <a:t>Source: EDA on Wildboar-Compensation-on-Tolerance data, n=625; claude_analysis/output/figures/02_monetary_distributions.png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29184"/>
            <a:ext cx="8961120" cy="256032"/>
          </a:xfrm>
          <a:prstGeom prst="rect">
            <a:avLst/>
          </a:prstGeom>
          <a:noFill/>
          <a:ln/>
        </p:spPr>
        <p:txBody>
          <a:bodyPr wrap="square" lIns="0" tIns="0" rIns="0" bIns="0" rtlCol="0" anchor="ctr"/>
          <a:lstStyle/>
          <a:p>
            <a:pPr indent="0" marL="0">
              <a:buNone/>
            </a:pPr>
            <a:r>
              <a:rPr lang="en-US" sz="1000" b="1" dirty="0">
                <a:solidFill>
                  <a:srgbClr val="00883F"/>
                </a:solidFill>
                <a:latin typeface="DejaVu Sans" pitchFamily="34" charset="0"/>
                <a:ea typeface="DejaVu Sans" pitchFamily="34" charset="-122"/>
                <a:cs typeface="DejaVu Sans" pitchFamily="34" charset="-120"/>
              </a:rPr>
              <a:t>EDA → DATA QUALITY</a:t>
            </a:r>
            <a:endParaRPr lang="en-US" sz="1000" dirty="0"/>
          </a:p>
        </p:txBody>
      </p:sp>
      <p:pic>
        <p:nvPicPr>
          <p:cNvPr id="3" name="Image 0" descr="/tmp/claude-1003/-home-duc-Wildboar-Compensation-on-Tolerance/15230097-a62e-459e-b45e-9fbee29760f4/scratchpad/lmu_slide/lmu_logo.png">    </p:cNvPr>
          <p:cNvPicPr>
            <a:picLocks noChangeAspect="1"/>
          </p:cNvPicPr>
          <p:nvPr/>
        </p:nvPicPr>
        <p:blipFill>
          <a:blip r:embed="rId1"/>
          <a:stretch>
            <a:fillRect/>
          </a:stretch>
        </p:blipFill>
        <p:spPr>
          <a:xfrm>
            <a:off x="10222992" y="182880"/>
            <a:ext cx="1389888" cy="731520"/>
          </a:xfrm>
          <a:prstGeom prst="rect">
            <a:avLst/>
          </a:prstGeom>
        </p:spPr>
      </p:pic>
      <p:sp>
        <p:nvSpPr>
          <p:cNvPr id="4" name="Text 1"/>
          <p:cNvSpPr txBox="1"/>
          <p:nvPr/>
        </p:nvSpPr>
        <p:spPr>
          <a:xfrm>
            <a:off x="530352" y="640080"/>
            <a:ext cx="9418320" cy="1115568"/>
          </a:xfrm>
          <a:prstGeom prst="rect">
            <a:avLst/>
          </a:prstGeom>
          <a:noFill/>
          <a:ln/>
        </p:spPr>
        <p:txBody>
          <a:bodyPr wrap="square" lIns="0" tIns="0" rIns="0" bIns="0" rtlCol="0" anchor="ctr"/>
          <a:lstStyle/>
          <a:p>
            <a:pPr indent="0" marL="0">
              <a:lnSpc>
                <a:spcPct val="105000"/>
              </a:lnSpc>
              <a:buNone/>
            </a:pPr>
            <a:r>
              <a:rPr lang="en-US" sz="2700" b="1" dirty="0">
                <a:solidFill>
                  <a:srgbClr val="1D1D1B"/>
                </a:solidFill>
                <a:latin typeface="DejaVu Sans" pitchFamily="34" charset="0"/>
                <a:ea typeface="DejaVu Sans" pitchFamily="34" charset="-122"/>
                <a:cs typeface="DejaVu Sans" pitchFamily="34" charset="-120"/>
              </a:rPr>
              <a:t>Not All Missing Values Mean the Same Thing</a:t>
            </a:r>
            <a:endParaRPr lang="en-US" sz="2700" dirty="0"/>
          </a:p>
        </p:txBody>
      </p:sp>
      <p:sp>
        <p:nvSpPr>
          <p:cNvPr id="5" name="Text 2"/>
          <p:cNvSpPr txBox="1"/>
          <p:nvPr/>
        </p:nvSpPr>
        <p:spPr>
          <a:xfrm>
            <a:off x="530352" y="1965960"/>
            <a:ext cx="11155680" cy="1143000"/>
          </a:xfrm>
          <a:prstGeom prst="rect">
            <a:avLst/>
          </a:prstGeom>
          <a:noFill/>
          <a:ln/>
        </p:spPr>
        <p:txBody>
          <a:bodyPr wrap="square" lIns="0" tIns="0" rIns="0" bIns="0" rtlCol="0" anchor="t"/>
          <a:lstStyle/>
          <a:p>
            <a:pPr indent="0" marL="0">
              <a:lnSpc>
                <a:spcPct val="112000"/>
              </a:lnSpc>
              <a:buNone/>
            </a:pPr>
            <a:r>
              <a:rPr lang="en-US" sz="1650" dirty="0">
                <a:solidFill>
                  <a:srgbClr val="1D1D1B"/>
                </a:solidFill>
                <a:latin typeface="DejaVu Sans" pitchFamily="34" charset="0"/>
                <a:ea typeface="DejaVu Sans" pitchFamily="34" charset="-122"/>
                <a:cs typeface="DejaVu Sans" pitchFamily="34" charset="-120"/>
              </a:rPr>
              <a:t>• 2nd/3rd descriptive-word ratings: 45 (7%) and 155 (25%) of 625 respondents show a ‘0’ — not a real rating, but “no word given.”</a:t>
            </a:r>
            <a:endParaRPr lang="en-US" sz="1650" dirty="0"/>
          </a:p>
        </p:txBody>
      </p:sp>
      <p:sp>
        <p:nvSpPr>
          <p:cNvPr id="6" name="Text 3"/>
          <p:cNvSpPr txBox="1"/>
          <p:nvPr/>
        </p:nvSpPr>
        <p:spPr>
          <a:xfrm>
            <a:off x="530352" y="3200400"/>
            <a:ext cx="11155680" cy="1143000"/>
          </a:xfrm>
          <a:prstGeom prst="rect">
            <a:avLst/>
          </a:prstGeom>
          <a:noFill/>
          <a:ln/>
        </p:spPr>
        <p:txBody>
          <a:bodyPr wrap="square" lIns="0" tIns="0" rIns="0" bIns="0" rtlCol="0" anchor="t"/>
          <a:lstStyle/>
          <a:p>
            <a:pPr indent="0" marL="0">
              <a:lnSpc>
                <a:spcPct val="112000"/>
              </a:lnSpc>
              <a:buNone/>
            </a:pPr>
            <a:r>
              <a:rPr lang="en-US" sz="1650" dirty="0">
                <a:solidFill>
                  <a:srgbClr val="1D1D1B"/>
                </a:solidFill>
                <a:latin typeface="DejaVu Sans" pitchFamily="34" charset="0"/>
                <a:ea typeface="DejaVu Sans" pitchFamily="34" charset="-122"/>
                <a:cs typeface="DejaVu Sans" pitchFamily="34" charset="-120"/>
              </a:rPr>
              <a:t>• Compensation timeliness/satisfaction: undefined for the 348 of 625 (56%) who never applied — the question literally doesn’t apply to them.</a:t>
            </a:r>
            <a:endParaRPr lang="en-US" sz="1650" dirty="0"/>
          </a:p>
        </p:txBody>
      </p:sp>
      <p:sp>
        <p:nvSpPr>
          <p:cNvPr id="7" name="Text 4"/>
          <p:cNvSpPr txBox="1"/>
          <p:nvPr/>
        </p:nvSpPr>
        <p:spPr>
          <a:xfrm>
            <a:off x="530352" y="4434840"/>
            <a:ext cx="11155680" cy="1143000"/>
          </a:xfrm>
          <a:prstGeom prst="rect">
            <a:avLst/>
          </a:prstGeom>
          <a:noFill/>
          <a:ln/>
        </p:spPr>
        <p:txBody>
          <a:bodyPr wrap="square" lIns="0" tIns="0" rIns="0" bIns="0" rtlCol="0" anchor="t"/>
          <a:lstStyle/>
          <a:p>
            <a:pPr indent="0" marL="0">
              <a:lnSpc>
                <a:spcPct val="112000"/>
              </a:lnSpc>
              <a:buNone/>
            </a:pPr>
            <a:r>
              <a:rPr lang="en-US" sz="1650" dirty="0">
                <a:solidFill>
                  <a:srgbClr val="1D1D1B"/>
                </a:solidFill>
                <a:latin typeface="DejaVu Sans" pitchFamily="34" charset="0"/>
                <a:ea typeface="DejaVu Sans" pitchFamily="34" charset="-122"/>
                <a:cs typeface="DejaVu Sans" pitchFamily="34" charset="-120"/>
              </a:rPr>
              <a:t>• Compensation-percentage fields: 9 and 4 respondents (of 625) report values above 100% — plausible, not obviously data errors.</a:t>
            </a:r>
            <a:endParaRPr lang="en-US" sz="1650" dirty="0"/>
          </a:p>
        </p:txBody>
      </p:sp>
      <p:sp>
        <p:nvSpPr>
          <p:cNvPr id="8" name="Shape 5"/>
          <p:cNvSpPr/>
          <p:nvPr/>
        </p:nvSpPr>
        <p:spPr>
          <a:xfrm>
            <a:off x="530352" y="5532120"/>
            <a:ext cx="11155680" cy="777240"/>
          </a:xfrm>
          <a:prstGeom prst="roundRect">
            <a:avLst>
              <a:gd name="adj" fmla="val 7059"/>
            </a:avLst>
          </a:prstGeom>
          <a:solidFill>
            <a:srgbClr val="EAF4EE"/>
          </a:solidFill>
          <a:ln/>
        </p:spPr>
      </p:sp>
      <p:sp>
        <p:nvSpPr>
          <p:cNvPr id="9" name="Text 6"/>
          <p:cNvSpPr txBox="1"/>
          <p:nvPr/>
        </p:nvSpPr>
        <p:spPr>
          <a:xfrm>
            <a:off x="777240" y="5650992"/>
            <a:ext cx="10698480" cy="548640"/>
          </a:xfrm>
          <a:prstGeom prst="rect">
            <a:avLst/>
          </a:prstGeom>
          <a:noFill/>
          <a:ln/>
        </p:spPr>
        <p:txBody>
          <a:bodyPr wrap="square" lIns="0" tIns="0" rIns="0" bIns="0" rtlCol="0" anchor="ctr"/>
          <a:lstStyle/>
          <a:p>
            <a:pPr indent="0" marL="0">
              <a:lnSpc>
                <a:spcPct val="110000"/>
              </a:lnSpc>
              <a:buNone/>
            </a:pPr>
            <a:r>
              <a:rPr lang="en-US" sz="1300" b="1" dirty="0">
                <a:solidFill>
                  <a:srgbClr val="00883F"/>
                </a:solidFill>
              </a:rPr>
              <a:t>Why this matters before modelling:  </a:t>
            </a:r>
            <a:pPr indent="0" marL="0">
              <a:lnSpc>
                <a:spcPct val="110000"/>
              </a:lnSpc>
              <a:buNone/>
            </a:pPr>
            <a:r>
              <a:rPr lang="en-US" sz="1300" dirty="0">
                <a:solidFill>
                  <a:srgbClr val="1D1D1B"/>
                </a:solidFill>
              </a:rPr>
              <a:t>treating a placeholder ‘0’ as a real “very positive” score, or a structurally-undefined field as a real “zero,” would quietly bias every downstream estimate. See the Missing Value Treatment slide for exactly how each case is handled.</a:t>
            </a:r>
            <a:endParaRPr lang="en-US" sz="1300" dirty="0"/>
          </a:p>
        </p:txBody>
      </p:sp>
      <p:sp>
        <p:nvSpPr>
          <p:cNvPr id="10" name="Text 7"/>
          <p:cNvSpPr txBox="1"/>
          <p:nvPr/>
        </p:nvSpPr>
        <p:spPr>
          <a:xfrm>
            <a:off x="530352" y="6446520"/>
            <a:ext cx="11155680" cy="274320"/>
          </a:xfrm>
          <a:prstGeom prst="rect">
            <a:avLst/>
          </a:prstGeom>
          <a:noFill/>
          <a:ln/>
        </p:spPr>
        <p:txBody>
          <a:bodyPr wrap="square" lIns="0" tIns="0" rIns="0" bIns="0" rtlCol="0" anchor="ctr"/>
          <a:lstStyle/>
          <a:p>
            <a:pPr indent="0" marL="0">
              <a:buNone/>
            </a:pPr>
            <a:r>
              <a:rPr lang="en-US" sz="900" dirty="0">
                <a:solidFill>
                  <a:srgbClr val="6B6B6B"/>
                </a:solidFill>
                <a:latin typeface="DejaVu Sans" pitchFamily="34" charset="0"/>
                <a:ea typeface="DejaVu Sans" pitchFamily="34" charset="-122"/>
                <a:cs typeface="DejaVu Sans" pitchFamily="34" charset="-120"/>
              </a:rPr>
              <a:t>Source: EDA on Wildboar-Compensation-on-Tolerance data, n=625; claude_analysis/output/tables/00_data_quality_summary.csv</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29184"/>
            <a:ext cx="8961120" cy="256032"/>
          </a:xfrm>
          <a:prstGeom prst="rect">
            <a:avLst/>
          </a:prstGeom>
          <a:noFill/>
          <a:ln/>
        </p:spPr>
        <p:txBody>
          <a:bodyPr wrap="square" lIns="0" tIns="0" rIns="0" bIns="0" rtlCol="0" anchor="ctr"/>
          <a:lstStyle/>
          <a:p>
            <a:pPr indent="0" marL="0">
              <a:buNone/>
            </a:pPr>
            <a:r>
              <a:rPr lang="en-US" sz="1000" b="1" dirty="0">
                <a:solidFill>
                  <a:srgbClr val="00883F"/>
                </a:solidFill>
                <a:latin typeface="DejaVu Sans" pitchFamily="34" charset="0"/>
                <a:ea typeface="DejaVu Sans" pitchFamily="34" charset="-122"/>
                <a:cs typeface="DejaVu Sans" pitchFamily="34" charset="-120"/>
              </a:rPr>
              <a:t>EDA → DATA QUALITY</a:t>
            </a:r>
            <a:endParaRPr lang="en-US" sz="1000" dirty="0"/>
          </a:p>
        </p:txBody>
      </p:sp>
      <p:pic>
        <p:nvPicPr>
          <p:cNvPr id="3" name="Image 0" descr="/tmp/claude-1003/-home-duc-Wildboar-Compensation-on-Tolerance/15230097-a62e-459e-b45e-9fbee29760f4/scratchpad/lmu_slide/lmu_logo.png">    </p:cNvPr>
          <p:cNvPicPr>
            <a:picLocks noChangeAspect="1"/>
          </p:cNvPicPr>
          <p:nvPr/>
        </p:nvPicPr>
        <p:blipFill>
          <a:blip r:embed="rId1"/>
          <a:stretch>
            <a:fillRect/>
          </a:stretch>
        </p:blipFill>
        <p:spPr>
          <a:xfrm>
            <a:off x="10222992" y="182880"/>
            <a:ext cx="1389888" cy="731520"/>
          </a:xfrm>
          <a:prstGeom prst="rect">
            <a:avLst/>
          </a:prstGeom>
        </p:spPr>
      </p:pic>
      <p:sp>
        <p:nvSpPr>
          <p:cNvPr id="4" name="Text 1"/>
          <p:cNvSpPr txBox="1"/>
          <p:nvPr/>
        </p:nvSpPr>
        <p:spPr>
          <a:xfrm>
            <a:off x="530352" y="640080"/>
            <a:ext cx="9418320" cy="1115568"/>
          </a:xfrm>
          <a:prstGeom prst="rect">
            <a:avLst/>
          </a:prstGeom>
          <a:noFill/>
          <a:ln/>
        </p:spPr>
        <p:txBody>
          <a:bodyPr wrap="square" lIns="0" tIns="0" rIns="0" bIns="0" rtlCol="0" anchor="ctr"/>
          <a:lstStyle/>
          <a:p>
            <a:pPr indent="0" marL="0">
              <a:lnSpc>
                <a:spcPct val="105000"/>
              </a:lnSpc>
              <a:buNone/>
            </a:pPr>
            <a:r>
              <a:rPr lang="en-US" sz="2700" b="1" dirty="0">
                <a:solidFill>
                  <a:srgbClr val="1D1D1B"/>
                </a:solidFill>
                <a:latin typeface="DejaVu Sans" pitchFamily="34" charset="0"/>
                <a:ea typeface="DejaVu Sans" pitchFamily="34" charset="-122"/>
                <a:cs typeface="DejaVu Sans" pitchFamily="34" charset="-120"/>
              </a:rPr>
              <a:t>A Small Number of Multivariate Outliers, Flagged Not Removed</a:t>
            </a:r>
            <a:endParaRPr lang="en-US" sz="2700" dirty="0"/>
          </a:p>
        </p:txBody>
      </p:sp>
      <p:sp>
        <p:nvSpPr>
          <p:cNvPr id="5" name="Shape 2"/>
          <p:cNvSpPr/>
          <p:nvPr/>
        </p:nvSpPr>
        <p:spPr>
          <a:xfrm>
            <a:off x="530352" y="2011680"/>
            <a:ext cx="3291840" cy="2743200"/>
          </a:xfrm>
          <a:prstGeom prst="roundRect">
            <a:avLst>
              <a:gd name="adj" fmla="val 2667"/>
            </a:avLst>
          </a:prstGeom>
          <a:solidFill>
            <a:srgbClr val="00883F"/>
          </a:solidFill>
          <a:ln/>
        </p:spPr>
      </p:sp>
      <p:sp>
        <p:nvSpPr>
          <p:cNvPr id="6" name="Text 3"/>
          <p:cNvSpPr txBox="1"/>
          <p:nvPr/>
        </p:nvSpPr>
        <p:spPr>
          <a:xfrm>
            <a:off x="530352" y="2331720"/>
            <a:ext cx="3291840" cy="2103120"/>
          </a:xfrm>
          <a:prstGeom prst="rect">
            <a:avLst/>
          </a:prstGeom>
          <a:noFill/>
          <a:ln/>
        </p:spPr>
        <p:txBody>
          <a:bodyPr wrap="square" lIns="0" tIns="0" rIns="0" bIns="0" rtlCol="0" anchor="ctr"/>
          <a:lstStyle/>
          <a:p>
            <a:pPr algn="ctr" indent="0" marL="0">
              <a:buNone/>
            </a:pPr>
            <a:r>
              <a:rPr lang="en-US" sz="6000" b="1" dirty="0">
                <a:solidFill>
                  <a:srgbClr val="FFFFFF"/>
                </a:solidFill>
              </a:rPr>
              <a:t>14</a:t>
            </a:r>
            <a:endParaRPr lang="en-US" sz="6000" dirty="0"/>
          </a:p>
          <a:p>
            <a:pPr algn="ctr" indent="0" marL="0">
              <a:buNone/>
            </a:pPr>
            <a:r>
              <a:rPr lang="en-US" sz="1500" dirty="0">
                <a:solidFill>
                  <a:srgbClr val="D6EDDF"/>
                </a:solidFill>
              </a:rPr>
              <a:t>of 625 respondents</a:t>
            </a:r>
            <a:endParaRPr lang="en-US" sz="6000" dirty="0"/>
          </a:p>
          <a:p>
            <a:pPr algn="ctr" indent="0" marL="0">
              <a:buNone/>
            </a:pPr>
            <a:r>
              <a:rPr lang="en-US" sz="1500" dirty="0">
                <a:solidFill>
                  <a:srgbClr val="D6EDDF"/>
                </a:solidFill>
              </a:rPr>
              <a:t>(2.2%)</a:t>
            </a:r>
            <a:endParaRPr lang="en-US" sz="6000" dirty="0"/>
          </a:p>
        </p:txBody>
      </p:sp>
      <p:sp>
        <p:nvSpPr>
          <p:cNvPr id="7" name="Text 4"/>
          <p:cNvSpPr txBox="1"/>
          <p:nvPr/>
        </p:nvSpPr>
        <p:spPr>
          <a:xfrm>
            <a:off x="4160520" y="2057400"/>
            <a:ext cx="7498080" cy="868680"/>
          </a:xfrm>
          <a:prstGeom prst="rect">
            <a:avLst/>
          </a:prstGeom>
          <a:noFill/>
          <a:ln/>
        </p:spPr>
        <p:txBody>
          <a:bodyPr wrap="square" lIns="0" tIns="0" rIns="0" bIns="0" rtlCol="0" anchor="t"/>
          <a:lstStyle/>
          <a:p>
            <a:pPr indent="0" marL="0">
              <a:lnSpc>
                <a:spcPct val="112000"/>
              </a:lnSpc>
              <a:buNone/>
            </a:pPr>
            <a:r>
              <a:rPr lang="en-US" sz="1550" dirty="0">
                <a:solidFill>
                  <a:srgbClr val="1D1D1B"/>
                </a:solidFill>
                <a:latin typeface="DejaVu Sans" pitchFamily="34" charset="0"/>
                <a:ea typeface="DejaVu Sans" pitchFamily="34" charset="-122"/>
                <a:cs typeface="DejaVu Sans" pitchFamily="34" charset="-120"/>
              </a:rPr>
              <a:t>• Flagged via Mahalanobis distance across 15 core Wildlife Tolerance Model indicators (conflict experience, costs, benefits, tolerance items), threshold p&lt;.001.</a:t>
            </a:r>
            <a:endParaRPr lang="en-US" sz="1550" dirty="0"/>
          </a:p>
        </p:txBody>
      </p:sp>
      <p:sp>
        <p:nvSpPr>
          <p:cNvPr id="8" name="Text 5"/>
          <p:cNvSpPr txBox="1"/>
          <p:nvPr/>
        </p:nvSpPr>
        <p:spPr>
          <a:xfrm>
            <a:off x="4160520" y="3017520"/>
            <a:ext cx="7498080" cy="868680"/>
          </a:xfrm>
          <a:prstGeom prst="rect">
            <a:avLst/>
          </a:prstGeom>
          <a:noFill/>
          <a:ln/>
        </p:spPr>
        <p:txBody>
          <a:bodyPr wrap="square" lIns="0" tIns="0" rIns="0" bIns="0" rtlCol="0" anchor="t"/>
          <a:lstStyle/>
          <a:p>
            <a:pPr indent="0" marL="0">
              <a:lnSpc>
                <a:spcPct val="112000"/>
              </a:lnSpc>
              <a:buNone/>
            </a:pPr>
            <a:r>
              <a:rPr lang="en-US" sz="1550" dirty="0">
                <a:solidFill>
                  <a:srgbClr val="1D1D1B"/>
                </a:solidFill>
                <a:latin typeface="DejaVu Sans" pitchFamily="34" charset="0"/>
                <a:ea typeface="DejaVu Sans" pitchFamily="34" charset="-122"/>
                <a:cs typeface="DejaVu Sans" pitchFamily="34" charset="-120"/>
              </a:rPr>
              <a:t>• Kept in the primary analysis — a statistical outlier is not automatically a data error.</a:t>
            </a:r>
            <a:endParaRPr lang="en-US" sz="1550" dirty="0"/>
          </a:p>
        </p:txBody>
      </p:sp>
      <p:sp>
        <p:nvSpPr>
          <p:cNvPr id="9" name="Text 6"/>
          <p:cNvSpPr txBox="1"/>
          <p:nvPr/>
        </p:nvSpPr>
        <p:spPr>
          <a:xfrm>
            <a:off x="4160520" y="3977640"/>
            <a:ext cx="7498080" cy="868680"/>
          </a:xfrm>
          <a:prstGeom prst="rect">
            <a:avLst/>
          </a:prstGeom>
          <a:noFill/>
          <a:ln/>
        </p:spPr>
        <p:txBody>
          <a:bodyPr wrap="square" lIns="0" tIns="0" rIns="0" bIns="0" rtlCol="0" anchor="t"/>
          <a:lstStyle/>
          <a:p>
            <a:pPr indent="0" marL="0">
              <a:lnSpc>
                <a:spcPct val="112000"/>
              </a:lnSpc>
              <a:buNone/>
            </a:pPr>
            <a:r>
              <a:rPr lang="en-US" sz="1550" dirty="0">
                <a:solidFill>
                  <a:srgbClr val="1D1D1B"/>
                </a:solidFill>
                <a:latin typeface="DejaVu Sans" pitchFamily="34" charset="0"/>
                <a:ea typeface="DejaVu Sans" pitchFamily="34" charset="-122"/>
                <a:cs typeface="DejaVu Sans" pitchFamily="34" charset="-120"/>
              </a:rPr>
              <a:t>• Every core structural result is re-estimated excluding them as a robustness check (see Robustness section): all paths stable in sign, magnitude and significance.</a:t>
            </a:r>
            <a:endParaRPr lang="en-US" sz="1550" dirty="0"/>
          </a:p>
        </p:txBody>
      </p:sp>
      <p:sp>
        <p:nvSpPr>
          <p:cNvPr id="10" name="Text 7"/>
          <p:cNvSpPr txBox="1"/>
          <p:nvPr/>
        </p:nvSpPr>
        <p:spPr>
          <a:xfrm>
            <a:off x="530352" y="6446520"/>
            <a:ext cx="11155680" cy="274320"/>
          </a:xfrm>
          <a:prstGeom prst="rect">
            <a:avLst/>
          </a:prstGeom>
          <a:noFill/>
          <a:ln/>
        </p:spPr>
        <p:txBody>
          <a:bodyPr wrap="square" lIns="0" tIns="0" rIns="0" bIns="0" rtlCol="0" anchor="ctr"/>
          <a:lstStyle/>
          <a:p>
            <a:pPr indent="0" marL="0">
              <a:buNone/>
            </a:pPr>
            <a:r>
              <a:rPr lang="en-US" sz="900" dirty="0">
                <a:solidFill>
                  <a:srgbClr val="6B6B6B"/>
                </a:solidFill>
                <a:latin typeface="DejaVu Sans" pitchFamily="34" charset="0"/>
                <a:ea typeface="DejaVu Sans" pitchFamily="34" charset="-122"/>
                <a:cs typeface="DejaVu Sans" pitchFamily="34" charset="-120"/>
              </a:rPr>
              <a:t>Source: Mahalanobis distance screen on Wildboar-Compensation-on-Tolerance data, n=625; claude_analysis/output/tables/05_multivariate_outliers.csv</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2026-09-20T14:33:43Z</dcterms:created>
  <dcterms:modified xsi:type="dcterms:W3CDTF">2026-09-20T14:33:43Z</dcterms:modified>
</cp:coreProperties>
</file>