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Q&amp;A on the confounding slide. The test is Pearson's chi-squared test of independence on the 2x2 table of county (Baoxing/Qingchuan) by compensation participation (yes/no), computed in R with chisq.test(). Under the null hypothesis that county and compensation status are independent, we'd expect the compensation rate to be the same in both counties -- about 44% overall, giving expected counts of 89.1/70.9 for Baoxing and 258.9/206.1 for Qingchuan. The observed counts (41/119 and 307/158) are far from that, and chi-squared measures exactly how far, in a way that lets us compute a p-value: 77.09 on 1 degree of freedom, p&lt;2.2e-16 -- essentially as small as a p-value gets. R applies Yates' continuity correction by default for 2x2 tables, which is the conservative, standard choice; without it the statistic is very slightly higher (78.72), so the correction is not doing any work to manufacture significance here. If asked how big the effect is, not just how significant: the odds ratio is 5.64 (Baoxing residents have about 5.6 times the odds of having applied for compensation compared to Qingchuan residents) and Cramer's V is 0.35, a moderate-to-strong association for a 2x2 table. If asked whether the chi-squared approximation itself is trustworthy with these cell sizes: yes, all expected counts are well above the conventional minimum of 5, and Fisher's exact test, which makes no large-sample approximation at all, gives an even smaller p-value (5.8e-19), confirming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29184"/>
            <a:ext cx="8961120" cy="256032"/>
          </a:xfrm>
          <a:prstGeom prst="rect">
            <a:avLst/>
          </a:prstGeom>
          <a:noFill/>
          <a:ln/>
        </p:spPr>
        <p:txBody>
          <a:bodyPr wrap="square" lIns="0" tIns="0" rIns="0" bIns="0" rtlCol="0" anchor="ctr"/>
          <a:lstStyle/>
          <a:p>
            <a:pPr indent="0" marL="0">
              <a:buNone/>
            </a:pPr>
            <a:r>
              <a:rPr lang="en-US" sz="1000" b="1" dirty="0">
                <a:solidFill>
                  <a:srgbClr val="00883F"/>
                </a:solidFill>
                <a:latin typeface="DejaVu Sans" pitchFamily="34" charset="0"/>
                <a:ea typeface="DejaVu Sans" pitchFamily="34" charset="-122"/>
                <a:cs typeface="DejaVu Sans" pitchFamily="34" charset="-120"/>
              </a:rPr>
              <a:t>BACKUP → METHODS</a:t>
            </a:r>
            <a:endParaRPr lang="en-US" sz="1000" dirty="0"/>
          </a:p>
        </p:txBody>
      </p:sp>
      <p:pic>
        <p:nvPicPr>
          <p:cNvPr id="3" name="Image 0" descr="/tmp/claude-1003/-home-duc-Wildboar-Compensation-on-Tolerance/15230097-a62e-459e-b45e-9fbee29760f4/scratchpad/lmu_slide/lmu_logo.png">    </p:cNvPr>
          <p:cNvPicPr>
            <a:picLocks noChangeAspect="1"/>
          </p:cNvPicPr>
          <p:nvPr/>
        </p:nvPicPr>
        <p:blipFill>
          <a:blip r:embed="rId1"/>
          <a:stretch>
            <a:fillRect/>
          </a:stretch>
        </p:blipFill>
        <p:spPr>
          <a:xfrm>
            <a:off x="10222992" y="182880"/>
            <a:ext cx="1389888" cy="731520"/>
          </a:xfrm>
          <a:prstGeom prst="rect">
            <a:avLst/>
          </a:prstGeom>
        </p:spPr>
      </p:pic>
      <p:sp>
        <p:nvSpPr>
          <p:cNvPr id="4" name="Text 1"/>
          <p:cNvSpPr txBox="1"/>
          <p:nvPr/>
        </p:nvSpPr>
        <p:spPr>
          <a:xfrm>
            <a:off x="530352" y="640080"/>
            <a:ext cx="9418320" cy="777240"/>
          </a:xfrm>
          <a:prstGeom prst="rect">
            <a:avLst/>
          </a:prstGeom>
          <a:noFill/>
          <a:ln/>
        </p:spPr>
        <p:txBody>
          <a:bodyPr wrap="square" lIns="0" tIns="0" rIns="0" bIns="0" rtlCol="0" anchor="ctr"/>
          <a:lstStyle/>
          <a:p>
            <a:pPr indent="0" marL="0">
              <a:buNone/>
            </a:pPr>
            <a:r>
              <a:rPr lang="en-US" sz="2700" b="1" dirty="0">
                <a:solidFill>
                  <a:srgbClr val="1D1D1B"/>
                </a:solidFill>
                <a:latin typeface="DejaVu Sans" pitchFamily="34" charset="0"/>
                <a:ea typeface="DejaVu Sans" pitchFamily="34" charset="-122"/>
                <a:cs typeface="DejaVu Sans" pitchFamily="34" charset="-120"/>
              </a:rPr>
              <a:t>How We Tested the County Confound</a:t>
            </a:r>
            <a:endParaRPr lang="en-US" sz="2700" dirty="0"/>
          </a:p>
        </p:txBody>
      </p:sp>
      <p:sp>
        <p:nvSpPr>
          <p:cNvPr id="5" name="Text 2"/>
          <p:cNvSpPr txBox="1"/>
          <p:nvPr/>
        </p:nvSpPr>
        <p:spPr>
          <a:xfrm>
            <a:off x="530352" y="1371600"/>
            <a:ext cx="11155680" cy="365760"/>
          </a:xfrm>
          <a:prstGeom prst="rect">
            <a:avLst/>
          </a:prstGeom>
          <a:noFill/>
          <a:ln/>
        </p:spPr>
        <p:txBody>
          <a:bodyPr wrap="square" lIns="0" tIns="0" rIns="0" bIns="0" rtlCol="0" anchor="ctr"/>
          <a:lstStyle/>
          <a:p>
            <a:pPr indent="0" marL="0">
              <a:buNone/>
            </a:pPr>
            <a:r>
              <a:rPr lang="en-US" sz="1450" i="1" dirty="0">
                <a:solidFill>
                  <a:srgbClr val="6B6B6B"/>
                </a:solidFill>
                <a:latin typeface="DejaVu Sans" pitchFamily="34" charset="0"/>
                <a:ea typeface="DejaVu Sans" pitchFamily="34" charset="-122"/>
                <a:cs typeface="DejaVu Sans" pitchFamily="34" charset="-120"/>
              </a:rPr>
              <a:t>Pearson’s chi-squared test of independence, 2×2 contingency table (county × applied for compensation)</a:t>
            </a:r>
            <a:endParaRPr lang="en-US" sz="14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30352" y="1920240"/>
          <a:ext cx="5943600" cy="2103120"/>
        </p:xfrm>
        <a:graphic>
          <a:graphicData uri="http://schemas.openxmlformats.org/drawingml/2006/table">
            <a:tbl>
              <a:tblPr/>
              <a:tblGrid>
                <a:gridCol w="1554480"/>
                <a:gridCol w="1554480"/>
                <a:gridCol w="1554480"/>
                <a:gridCol w="1280160"/>
              </a:tblGrid>
              <a:tr h="457200">
                <a:tc>
                  <a:txBody>
                    <a:bodyPr/>
                    <a:lstStyle/>
                    <a:p>
                      <a:pPr indent="0" marL="0">
                        <a:buNone/>
                      </a:pPr>
                      <a:endParaRPr lang="en-US" sz="130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DejaVu Sans" pitchFamily="34" charset="0"/>
                          <a:ea typeface="DejaVu Sans" pitchFamily="34" charset="-122"/>
                          <a:cs typeface="DejaVu Sans" pitchFamily="34" charset="-120"/>
                        </a:rPr>
                        <a:t>No compensation</a:t>
                      </a:r>
                      <a:endParaRPr lang="en-US" sz="130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883F"/>
                    </a:solidFill>
                  </a:tcPr>
                </a:tc>
                <a:tc>
                  <a:txBody>
                    <a:bodyPr/>
                    <a:lstStyle/>
                    <a:p>
                      <a:pPr algn="ctr" indent="0" marL="0">
                        <a:buNone/>
                      </a:pPr>
                      <a:r>
                        <a:rPr lang="en-US" sz="1300" b="1" dirty="0">
                          <a:solidFill>
                            <a:srgbClr val="FFFFFF"/>
                          </a:solidFill>
                          <a:latin typeface="DejaVu Sans" pitchFamily="34" charset="0"/>
                          <a:ea typeface="DejaVu Sans" pitchFamily="34" charset="-122"/>
                          <a:cs typeface="DejaVu Sans" pitchFamily="34" charset="-120"/>
                        </a:rPr>
                        <a:t>With compensation</a:t>
                      </a:r>
                      <a:endParaRPr lang="en-US" sz="130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883F"/>
                    </a:solidFill>
                  </a:tcPr>
                </a:tc>
                <a:tc>
                  <a:txBody>
                    <a:bodyPr/>
                    <a:lstStyle/>
                    <a:p>
                      <a:pPr algn="ctr" indent="0" marL="0">
                        <a:buNone/>
                      </a:pPr>
                      <a:r>
                        <a:rPr lang="en-US" sz="1300" b="1" dirty="0">
                          <a:solidFill>
                            <a:srgbClr val="FFFFFF"/>
                          </a:solidFill>
                          <a:latin typeface="DejaVu Sans" pitchFamily="34" charset="0"/>
                          <a:ea typeface="DejaVu Sans" pitchFamily="34" charset="-122"/>
                          <a:cs typeface="DejaVu Sans" pitchFamily="34" charset="-120"/>
                        </a:rPr>
                        <a:t>Total</a:t>
                      </a:r>
                      <a:endParaRPr lang="en-US" sz="130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883F"/>
                    </a:solidFill>
                  </a:tcPr>
                </a:tc>
              </a:tr>
              <a:tr h="548640">
                <a:tc>
                  <a:txBody>
                    <a:bodyPr/>
                    <a:lstStyle/>
                    <a:p>
                      <a:pPr indent="0" marL="0">
                        <a:buNone/>
                      </a:pPr>
                      <a:r>
                        <a:rPr lang="en-US" sz="1300" b="1" dirty="0">
                          <a:solidFill>
                            <a:srgbClr val="1D1D1B"/>
                          </a:solidFill>
                          <a:latin typeface="DejaVu Sans" pitchFamily="34" charset="0"/>
                          <a:ea typeface="DejaVu Sans" pitchFamily="34" charset="-122"/>
                          <a:cs typeface="DejaVu Sans" pitchFamily="34" charset="-120"/>
                        </a:rPr>
                        <a:t>Baoxing</a:t>
                      </a:r>
                      <a:endParaRPr lang="en-US" sz="130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50" dirty="0">
                          <a:solidFill>
                            <a:srgbClr val="1D1D1B"/>
                          </a:solidFill>
                          <a:latin typeface="DejaVu Sans" pitchFamily="34" charset="0"/>
                          <a:ea typeface="DejaVu Sans" pitchFamily="34" charset="-122"/>
                          <a:cs typeface="DejaVu Sans" pitchFamily="34" charset="-120"/>
                        </a:rPr>
                        <a:t>41</a:t>
                      </a:r>
                      <a:endParaRPr lang="en-US" sz="1250" dirty="0">
                        <a:latin typeface="DejaVu Sans" charset="0"/>
                        <a:ea typeface="DejaVu Sans" charset="0"/>
                        <a:cs typeface="DejaVu Sans" charset="0"/>
                      </a:endParaRPr>
                    </a:p>
                    <a:p>
                      <a:pPr algn="ctr" indent="0" marL="0">
                        <a:buNone/>
                      </a:pPr>
                      <a:r>
                        <a:rPr lang="en-US" sz="1250" dirty="0">
                          <a:solidFill>
                            <a:srgbClr val="1D1D1B"/>
                          </a:solidFill>
                          <a:latin typeface="DejaVu Sans" pitchFamily="34" charset="0"/>
                          <a:ea typeface="DejaVu Sans" pitchFamily="34" charset="-122"/>
                          <a:cs typeface="DejaVu Sans" pitchFamily="34" charset="-120"/>
                        </a:rPr>
                        <a:t>(expected: 89.1)</a:t>
                      </a:r>
                      <a:endParaRPr lang="en-US" sz="125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50" b="1" dirty="0">
                          <a:solidFill>
                            <a:srgbClr val="1D1D1B"/>
                          </a:solidFill>
                          <a:latin typeface="DejaVu Sans" pitchFamily="34" charset="0"/>
                          <a:ea typeface="DejaVu Sans" pitchFamily="34" charset="-122"/>
                          <a:cs typeface="DejaVu Sans" pitchFamily="34" charset="-120"/>
                        </a:rPr>
                        <a:t>119</a:t>
                      </a:r>
                      <a:endParaRPr lang="en-US" sz="1250" dirty="0">
                        <a:latin typeface="DejaVu Sans" charset="0"/>
                        <a:ea typeface="DejaVu Sans" charset="0"/>
                        <a:cs typeface="DejaVu Sans" charset="0"/>
                      </a:endParaRPr>
                    </a:p>
                    <a:p>
                      <a:pPr algn="ctr" indent="0" marL="0">
                        <a:buNone/>
                      </a:pPr>
                      <a:r>
                        <a:rPr lang="en-US" sz="1250" b="1" dirty="0">
                          <a:solidFill>
                            <a:srgbClr val="1D1D1B"/>
                          </a:solidFill>
                          <a:latin typeface="DejaVu Sans" pitchFamily="34" charset="0"/>
                          <a:ea typeface="DejaVu Sans" pitchFamily="34" charset="-122"/>
                          <a:cs typeface="DejaVu Sans" pitchFamily="34" charset="-120"/>
                        </a:rPr>
                        <a:t>(expected: 70.9)</a:t>
                      </a:r>
                      <a:endParaRPr lang="en-US" sz="125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rgbClr val="6B6B6B"/>
                          </a:solidFill>
                          <a:latin typeface="DejaVu Sans" pitchFamily="34" charset="0"/>
                          <a:ea typeface="DejaVu Sans" pitchFamily="34" charset="-122"/>
                          <a:cs typeface="DejaVu Sans" pitchFamily="34" charset="-120"/>
                        </a:rPr>
                        <a:t>160</a:t>
                      </a:r>
                      <a:endParaRPr lang="en-US" sz="130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300" b="1" dirty="0">
                          <a:solidFill>
                            <a:srgbClr val="1D1D1B"/>
                          </a:solidFill>
                          <a:latin typeface="DejaVu Sans" pitchFamily="34" charset="0"/>
                          <a:ea typeface="DejaVu Sans" pitchFamily="34" charset="-122"/>
                          <a:cs typeface="DejaVu Sans" pitchFamily="34" charset="-120"/>
                        </a:rPr>
                        <a:t>Qingchuan</a:t>
                      </a:r>
                      <a:endParaRPr lang="en-US" sz="130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50" dirty="0">
                          <a:solidFill>
                            <a:srgbClr val="1D1D1B"/>
                          </a:solidFill>
                          <a:latin typeface="DejaVu Sans" pitchFamily="34" charset="0"/>
                          <a:ea typeface="DejaVu Sans" pitchFamily="34" charset="-122"/>
                          <a:cs typeface="DejaVu Sans" pitchFamily="34" charset="-120"/>
                        </a:rPr>
                        <a:t>307</a:t>
                      </a:r>
                      <a:endParaRPr lang="en-US" sz="1250" dirty="0">
                        <a:latin typeface="DejaVu Sans" charset="0"/>
                        <a:ea typeface="DejaVu Sans" charset="0"/>
                        <a:cs typeface="DejaVu Sans" charset="0"/>
                      </a:endParaRPr>
                    </a:p>
                    <a:p>
                      <a:pPr algn="ctr" indent="0" marL="0">
                        <a:buNone/>
                      </a:pPr>
                      <a:r>
                        <a:rPr lang="en-US" sz="1250" dirty="0">
                          <a:solidFill>
                            <a:srgbClr val="1D1D1B"/>
                          </a:solidFill>
                          <a:latin typeface="DejaVu Sans" pitchFamily="34" charset="0"/>
                          <a:ea typeface="DejaVu Sans" pitchFamily="34" charset="-122"/>
                          <a:cs typeface="DejaVu Sans" pitchFamily="34" charset="-120"/>
                        </a:rPr>
                        <a:t>(expected: 258.9)</a:t>
                      </a:r>
                      <a:endParaRPr lang="en-US" sz="125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50" b="1" dirty="0">
                          <a:solidFill>
                            <a:srgbClr val="1D1D1B"/>
                          </a:solidFill>
                          <a:latin typeface="DejaVu Sans" pitchFamily="34" charset="0"/>
                          <a:ea typeface="DejaVu Sans" pitchFamily="34" charset="-122"/>
                          <a:cs typeface="DejaVu Sans" pitchFamily="34" charset="-120"/>
                        </a:rPr>
                        <a:t>158</a:t>
                      </a:r>
                      <a:endParaRPr lang="en-US" sz="1250" dirty="0">
                        <a:latin typeface="DejaVu Sans" charset="0"/>
                        <a:ea typeface="DejaVu Sans" charset="0"/>
                        <a:cs typeface="DejaVu Sans" charset="0"/>
                      </a:endParaRPr>
                    </a:p>
                    <a:p>
                      <a:pPr algn="ctr" indent="0" marL="0">
                        <a:buNone/>
                      </a:pPr>
                      <a:r>
                        <a:rPr lang="en-US" sz="1250" b="1" dirty="0">
                          <a:solidFill>
                            <a:srgbClr val="1D1D1B"/>
                          </a:solidFill>
                          <a:latin typeface="DejaVu Sans" pitchFamily="34" charset="0"/>
                          <a:ea typeface="DejaVu Sans" pitchFamily="34" charset="-122"/>
                          <a:cs typeface="DejaVu Sans" pitchFamily="34" charset="-120"/>
                        </a:rPr>
                        <a:t>(expected: 206.1)</a:t>
                      </a:r>
                      <a:endParaRPr lang="en-US" sz="125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rgbClr val="6B6B6B"/>
                          </a:solidFill>
                          <a:latin typeface="DejaVu Sans" pitchFamily="34" charset="0"/>
                          <a:ea typeface="DejaVu Sans" pitchFamily="34" charset="-122"/>
                          <a:cs typeface="DejaVu Sans" pitchFamily="34" charset="-120"/>
                        </a:rPr>
                        <a:t>465</a:t>
                      </a:r>
                      <a:endParaRPr lang="en-US" sz="130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300" b="1" dirty="0">
                          <a:solidFill>
                            <a:srgbClr val="6B6B6B"/>
                          </a:solidFill>
                          <a:latin typeface="DejaVu Sans" pitchFamily="34" charset="0"/>
                          <a:ea typeface="DejaVu Sans" pitchFamily="34" charset="-122"/>
                          <a:cs typeface="DejaVu Sans" pitchFamily="34" charset="-120"/>
                        </a:rPr>
                        <a:t>Total</a:t>
                      </a:r>
                      <a:endParaRPr lang="en-US" sz="130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rgbClr val="6B6B6B"/>
                          </a:solidFill>
                          <a:latin typeface="DejaVu Sans" pitchFamily="34" charset="0"/>
                          <a:ea typeface="DejaVu Sans" pitchFamily="34" charset="-122"/>
                          <a:cs typeface="DejaVu Sans" pitchFamily="34" charset="-120"/>
                        </a:rPr>
                        <a:t>348</a:t>
                      </a:r>
                      <a:endParaRPr lang="en-US" sz="130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rgbClr val="6B6B6B"/>
                          </a:solidFill>
                          <a:latin typeface="DejaVu Sans" pitchFamily="34" charset="0"/>
                          <a:ea typeface="DejaVu Sans" pitchFamily="34" charset="-122"/>
                          <a:cs typeface="DejaVu Sans" pitchFamily="34" charset="-120"/>
                        </a:rPr>
                        <a:t>277</a:t>
                      </a:r>
                      <a:endParaRPr lang="en-US" sz="130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b="1" dirty="0">
                          <a:solidFill>
                            <a:srgbClr val="1D1D1B"/>
                          </a:solidFill>
                          <a:latin typeface="DejaVu Sans" pitchFamily="34" charset="0"/>
                          <a:ea typeface="DejaVu Sans" pitchFamily="34" charset="-122"/>
                          <a:cs typeface="DejaVu Sans" pitchFamily="34" charset="-120"/>
                        </a:rPr>
                        <a:t>625</a:t>
                      </a:r>
                      <a:endParaRPr lang="en-US" sz="1300" dirty="0">
                        <a:latin typeface="DejaVu Sans" charset="0"/>
                        <a:ea typeface="DejaVu Sans" charset="0"/>
                        <a:cs typeface="DejaVu Sans"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7" name="Text 3"/>
          <p:cNvSpPr txBox="1"/>
          <p:nvPr/>
        </p:nvSpPr>
        <p:spPr>
          <a:xfrm>
            <a:off x="530352" y="4160520"/>
            <a:ext cx="5943600" cy="685800"/>
          </a:xfrm>
          <a:prstGeom prst="rect">
            <a:avLst/>
          </a:prstGeom>
          <a:noFill/>
          <a:ln/>
        </p:spPr>
        <p:txBody>
          <a:bodyPr wrap="square" lIns="0" tIns="0" rIns="0" bIns="0" rtlCol="0" anchor="ctr"/>
          <a:lstStyle/>
          <a:p>
            <a:pPr indent="0" marL="0">
              <a:lnSpc>
                <a:spcPct val="115000"/>
              </a:lnSpc>
              <a:buNone/>
            </a:pPr>
            <a:r>
              <a:rPr lang="en-US" sz="1150" i="1" dirty="0">
                <a:solidFill>
                  <a:srgbClr val="6B6B6B"/>
                </a:solidFill>
                <a:latin typeface="DejaVu Sans" pitchFamily="34" charset="0"/>
                <a:ea typeface="DejaVu Sans" pitchFamily="34" charset="-122"/>
                <a:cs typeface="DejaVu Sans" pitchFamily="34" charset="-120"/>
              </a:rPr>
              <a:t>“Expected” = count we’d see in each cell if county and compensation status were independent. The test measures how far the observed counts are from that.</a:t>
            </a:r>
            <a:endParaRPr lang="en-US" sz="1150" dirty="0"/>
          </a:p>
        </p:txBody>
      </p:sp>
      <p:sp>
        <p:nvSpPr>
          <p:cNvPr id="8" name="Shape 4"/>
          <p:cNvSpPr/>
          <p:nvPr/>
        </p:nvSpPr>
        <p:spPr>
          <a:xfrm>
            <a:off x="6720840" y="1920240"/>
            <a:ext cx="4937760" cy="1417320"/>
          </a:xfrm>
          <a:prstGeom prst="roundRect">
            <a:avLst>
              <a:gd name="adj" fmla="val 4516"/>
            </a:avLst>
          </a:prstGeom>
          <a:solidFill>
            <a:srgbClr val="00883F"/>
          </a:solidFill>
          <a:ln/>
        </p:spPr>
      </p:sp>
      <p:sp>
        <p:nvSpPr>
          <p:cNvPr id="9" name="Text 5"/>
          <p:cNvSpPr txBox="1"/>
          <p:nvPr/>
        </p:nvSpPr>
        <p:spPr>
          <a:xfrm>
            <a:off x="6949440" y="2084832"/>
            <a:ext cx="4480560" cy="1097280"/>
          </a:xfrm>
          <a:prstGeom prst="rect">
            <a:avLst/>
          </a:prstGeom>
          <a:noFill/>
          <a:ln/>
        </p:spPr>
        <p:txBody>
          <a:bodyPr wrap="square" lIns="0" tIns="0" rIns="0" bIns="0" rtlCol="0" anchor="ctr"/>
          <a:lstStyle/>
          <a:p>
            <a:pPr indent="0" marL="0">
              <a:buNone/>
            </a:pPr>
            <a:r>
              <a:rPr lang="en-US" sz="2400" b="1" dirty="0">
                <a:solidFill>
                  <a:srgbClr val="FFFFFF"/>
                </a:solidFill>
              </a:rPr>
              <a:t>χ² = 77.09,  df = 1</a:t>
            </a:r>
            <a:endParaRPr lang="en-US" sz="2400" dirty="0"/>
          </a:p>
          <a:p>
            <a:pPr indent="0" marL="0">
              <a:buNone/>
            </a:pPr>
            <a:r>
              <a:rPr lang="en-US" sz="1500" dirty="0">
                <a:solidFill>
                  <a:srgbClr val="D6EDDF"/>
                </a:solidFill>
              </a:rPr>
              <a:t>p &lt; 2.2×10⁻¹⁶  (i.e. p &lt; .001)</a:t>
            </a:r>
            <a:endParaRPr lang="en-US" sz="2400" dirty="0"/>
          </a:p>
        </p:txBody>
      </p:sp>
      <p:sp>
        <p:nvSpPr>
          <p:cNvPr id="10" name="Shape 6"/>
          <p:cNvSpPr/>
          <p:nvPr/>
        </p:nvSpPr>
        <p:spPr>
          <a:xfrm>
            <a:off x="6720840" y="3520440"/>
            <a:ext cx="4937760" cy="1051560"/>
          </a:xfrm>
          <a:prstGeom prst="roundRect">
            <a:avLst>
              <a:gd name="adj" fmla="val 6087"/>
            </a:avLst>
          </a:prstGeom>
          <a:solidFill>
            <a:srgbClr val="EAF4EE"/>
          </a:solidFill>
          <a:ln/>
        </p:spPr>
      </p:sp>
      <p:sp>
        <p:nvSpPr>
          <p:cNvPr id="11" name="Text 7"/>
          <p:cNvSpPr txBox="1"/>
          <p:nvPr/>
        </p:nvSpPr>
        <p:spPr>
          <a:xfrm>
            <a:off x="6949440" y="3639312"/>
            <a:ext cx="4480560" cy="868680"/>
          </a:xfrm>
          <a:prstGeom prst="rect">
            <a:avLst/>
          </a:prstGeom>
          <a:noFill/>
          <a:ln/>
        </p:spPr>
        <p:txBody>
          <a:bodyPr wrap="square" lIns="0" tIns="0" rIns="0" bIns="0" rtlCol="0" anchor="t"/>
          <a:lstStyle/>
          <a:p>
            <a:pPr indent="0" marL="0">
              <a:lnSpc>
                <a:spcPct val="105000"/>
              </a:lnSpc>
              <a:buNone/>
            </a:pPr>
            <a:r>
              <a:rPr lang="en-US" sz="1600" b="1" dirty="0">
                <a:solidFill>
                  <a:srgbClr val="00883F"/>
                </a:solidFill>
              </a:rPr>
              <a:t>Odds ratio = 5.64   </a:t>
            </a:r>
            <a:pPr indent="0" marL="0">
              <a:lnSpc>
                <a:spcPct val="105000"/>
              </a:lnSpc>
              <a:buNone/>
            </a:pPr>
            <a:r>
              <a:rPr lang="en-US" sz="1150" dirty="0">
                <a:solidFill>
                  <a:srgbClr val="1D1D1B"/>
                </a:solidFill>
              </a:rPr>
              <a:t>Baoxing residents have 5.6× the odds of having applied, versus Qingchuan.</a:t>
            </a:r>
            <a:endParaRPr lang="en-US" sz="1600" dirty="0"/>
          </a:p>
          <a:p>
            <a:pPr indent="0" marL="0">
              <a:lnSpc>
                <a:spcPct val="105000"/>
              </a:lnSpc>
              <a:buNone/>
            </a:pPr>
            <a:r>
              <a:rPr lang="en-US" sz="1150" dirty="0">
                <a:solidFill>
                  <a:srgbClr val="1D1D1B"/>
                </a:solidFill>
              </a:rPr>
              <a:t>Cramér’s V = 0.35  (moderate-to-strong association for a 2×2 table)</a:t>
            </a:r>
            <a:endParaRPr lang="en-US" sz="1600" dirty="0"/>
          </a:p>
        </p:txBody>
      </p:sp>
      <p:sp>
        <p:nvSpPr>
          <p:cNvPr id="12" name="Shape 8"/>
          <p:cNvSpPr/>
          <p:nvPr/>
        </p:nvSpPr>
        <p:spPr>
          <a:xfrm>
            <a:off x="6720840" y="4709160"/>
            <a:ext cx="4937760" cy="1234440"/>
          </a:xfrm>
          <a:prstGeom prst="roundRect">
            <a:avLst>
              <a:gd name="adj" fmla="val 5185"/>
            </a:avLst>
          </a:prstGeom>
          <a:solidFill>
            <a:srgbClr val="F2F2F2"/>
          </a:solidFill>
          <a:ln/>
        </p:spPr>
      </p:sp>
      <p:sp>
        <p:nvSpPr>
          <p:cNvPr id="13" name="Text 9"/>
          <p:cNvSpPr txBox="1"/>
          <p:nvPr/>
        </p:nvSpPr>
        <p:spPr>
          <a:xfrm>
            <a:off x="6949440" y="4828032"/>
            <a:ext cx="4480560" cy="1005840"/>
          </a:xfrm>
          <a:prstGeom prst="rect">
            <a:avLst/>
          </a:prstGeom>
          <a:noFill/>
          <a:ln/>
        </p:spPr>
        <p:txBody>
          <a:bodyPr wrap="square" lIns="0" tIns="0" rIns="0" bIns="0" rtlCol="0" anchor="t"/>
          <a:lstStyle/>
          <a:p>
            <a:pPr indent="0" marL="0">
              <a:lnSpc>
                <a:spcPct val="110000"/>
              </a:lnSpc>
              <a:buNone/>
            </a:pPr>
            <a:r>
              <a:rPr lang="en-US" sz="1300" b="1" dirty="0">
                <a:solidFill>
                  <a:srgbClr val="1D1D1B"/>
                </a:solidFill>
              </a:rPr>
              <a:t>Robustness of the test itself:</a:t>
            </a:r>
            <a:endParaRPr lang="en-US" sz="1300" dirty="0"/>
          </a:p>
          <a:p>
            <a:pPr indent="0" marL="0">
              <a:lnSpc>
                <a:spcPct val="110000"/>
              </a:lnSpc>
              <a:buNone/>
            </a:pPr>
            <a:r>
              <a:rPr lang="en-US" sz="1150" dirty="0">
                <a:solidFill>
                  <a:srgbClr val="1D1D1B"/>
                </a:solidFill>
              </a:rPr>
              <a:t>• Reported figure uses Yates’ continuity correction (R default for 2×2 tables); uncorrected χ²=78.72 — same conclusion.</a:t>
            </a:r>
            <a:endParaRPr lang="en-US" sz="1300" dirty="0"/>
          </a:p>
          <a:p>
            <a:pPr indent="0" marL="0">
              <a:lnSpc>
                <a:spcPct val="110000"/>
              </a:lnSpc>
              <a:buNone/>
            </a:pPr>
            <a:r>
              <a:rPr lang="en-US" sz="1150" dirty="0">
                <a:solidFill>
                  <a:srgbClr val="1D1D1B"/>
                </a:solidFill>
              </a:rPr>
              <a:t>• Fisher’s exact test (no large-sample approximation): p=5.8×10⁻¹⁹ — confirms it.</a:t>
            </a:r>
            <a:endParaRPr lang="en-US" sz="1300" dirty="0"/>
          </a:p>
        </p:txBody>
      </p:sp>
      <p:sp>
        <p:nvSpPr>
          <p:cNvPr id="14" name="Text 10"/>
          <p:cNvSpPr txBox="1"/>
          <p:nvPr/>
        </p:nvSpPr>
        <p:spPr>
          <a:xfrm>
            <a:off x="530352" y="6446520"/>
            <a:ext cx="11155680" cy="274320"/>
          </a:xfrm>
          <a:prstGeom prst="rect">
            <a:avLst/>
          </a:prstGeom>
          <a:noFill/>
          <a:ln/>
        </p:spPr>
        <p:txBody>
          <a:bodyPr wrap="square" lIns="0" tIns="0" rIns="0" bIns="0" rtlCol="0" anchor="ctr"/>
          <a:lstStyle/>
          <a:p>
            <a:pPr indent="0" marL="0">
              <a:buNone/>
            </a:pPr>
            <a:r>
              <a:rPr lang="en-US" sz="900" dirty="0">
                <a:solidFill>
                  <a:srgbClr val="6B6B6B"/>
                </a:solidFill>
                <a:latin typeface="DejaVu Sans" pitchFamily="34" charset="0"/>
                <a:ea typeface="DejaVu Sans" pitchFamily="34" charset="-122"/>
                <a:cs typeface="DejaVu Sans" pitchFamily="34" charset="-120"/>
              </a:rPr>
              <a:t>Source: chisq.test(table(county, compensation)), n=625; claude_analysis/output/tables/02_compensation_group_tests.csv</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2026-09-20T14:44:17Z</dcterms:created>
  <dcterms:modified xsi:type="dcterms:W3CDTF">2026-09-20T14:44:17Z</dcterms:modified>
</cp:coreProperties>
</file>