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Q&amp;A on the outliers slide. Mahalanobis distance is the standard multivariate generalisation of a z-score: instead of asking 'how many standard deviations is this one variable from its mean,' it asks 'how far is this respondent's whole profile across 15 variables from the average profile, accounting for how those 15 variables correlate with each other.' Two respondents can each look unremarkable on every single variable individually, but be a joint outlier because of an unusual COMBINATION -- that's what this catches and a univariate check would miss. We used 15 indicators spanning all four core WTM blocks: conflict experience (7 items), tangible costs (2), intangible benefit/general attitude (2), and the four tolerance items. Under multivariate normality, the squared Mahalanobis distance approximately follows a chi-squared distribution with degrees of freedom equal to the number of variables -- 15 here -- which is what lets us attach a p-value and pick a principled cutoff rather than an arbitrary one. We used p&lt;.001, i.e. D-squared beyond 37.7. Fourteen respondents (2.2%) exceed that, split exactly evenly by county and by compensation status, so this isn't picking up a group-level pattern, just individually unusual response profiles. Three of the fourteen are far beyond the rest (D-squared in the 120s-130s) and probably deserve a closer manual look if anyone wants to audit specific respondent IDs -- those are in the source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30352" y="329184"/>
            <a:ext cx="8961120" cy="256032"/>
          </a:xfrm>
          <a:prstGeom prst="rect">
            <a:avLst/>
          </a:prstGeom>
          <a:noFill/>
          <a:ln/>
        </p:spPr>
        <p:txBody>
          <a:bodyPr wrap="square" lIns="0" tIns="0" rIns="0" bIns="0" rtlCol="0" anchor="ctr"/>
          <a:lstStyle/>
          <a:p>
            <a:pPr indent="0" marL="0">
              <a:buNone/>
            </a:pPr>
            <a:r>
              <a:rPr lang="en-US" sz="1000" b="1" dirty="0">
                <a:solidFill>
                  <a:srgbClr val="00883F"/>
                </a:solidFill>
                <a:latin typeface="DejaVu Sans" pitchFamily="34" charset="0"/>
                <a:ea typeface="DejaVu Sans" pitchFamily="34" charset="-122"/>
                <a:cs typeface="DejaVu Sans" pitchFamily="34" charset="-120"/>
              </a:rPr>
              <a:t>BACKUP → METHODS</a:t>
            </a:r>
            <a:endParaRPr lang="en-US" sz="1000" dirty="0"/>
          </a:p>
        </p:txBody>
      </p:sp>
      <p:pic>
        <p:nvPicPr>
          <p:cNvPr id="3" name="Image 0" descr="/tmp/claude-1003/-home-duc-Wildboar-Compensation-on-Tolerance/15230097-a62e-459e-b45e-9fbee29760f4/scratchpad/lmu_slide/lmu_logo.png">    </p:cNvPr>
          <p:cNvPicPr>
            <a:picLocks noChangeAspect="1"/>
          </p:cNvPicPr>
          <p:nvPr/>
        </p:nvPicPr>
        <p:blipFill>
          <a:blip r:embed="rId1"/>
          <a:stretch>
            <a:fillRect/>
          </a:stretch>
        </p:blipFill>
        <p:spPr>
          <a:xfrm>
            <a:off x="10222992" y="182880"/>
            <a:ext cx="1389888" cy="731520"/>
          </a:xfrm>
          <a:prstGeom prst="rect">
            <a:avLst/>
          </a:prstGeom>
        </p:spPr>
      </p:pic>
      <p:sp>
        <p:nvSpPr>
          <p:cNvPr id="4" name="Text 1"/>
          <p:cNvSpPr txBox="1"/>
          <p:nvPr/>
        </p:nvSpPr>
        <p:spPr>
          <a:xfrm>
            <a:off x="530352" y="640080"/>
            <a:ext cx="9692640" cy="777240"/>
          </a:xfrm>
          <a:prstGeom prst="rect">
            <a:avLst/>
          </a:prstGeom>
          <a:noFill/>
          <a:ln/>
        </p:spPr>
        <p:txBody>
          <a:bodyPr wrap="square" lIns="0" tIns="0" rIns="0" bIns="0" rtlCol="0" anchor="ctr"/>
          <a:lstStyle/>
          <a:p>
            <a:pPr indent="0" marL="0">
              <a:buNone/>
            </a:pPr>
            <a:r>
              <a:rPr lang="en-US" sz="2600" b="1" dirty="0">
                <a:solidFill>
                  <a:srgbClr val="1D1D1B"/>
                </a:solidFill>
                <a:latin typeface="DejaVu Sans" pitchFamily="34" charset="0"/>
                <a:ea typeface="DejaVu Sans" pitchFamily="34" charset="-122"/>
                <a:cs typeface="DejaVu Sans" pitchFamily="34" charset="-120"/>
              </a:rPr>
              <a:t>How We Flagged the 14 Multivariate Outliers</a:t>
            </a:r>
            <a:endParaRPr lang="en-US" sz="2600" dirty="0"/>
          </a:p>
        </p:txBody>
      </p:sp>
      <p:sp>
        <p:nvSpPr>
          <p:cNvPr id="5" name="Text 2"/>
          <p:cNvSpPr txBox="1"/>
          <p:nvPr/>
        </p:nvSpPr>
        <p:spPr>
          <a:xfrm>
            <a:off x="530352" y="1371600"/>
            <a:ext cx="11155680" cy="365760"/>
          </a:xfrm>
          <a:prstGeom prst="rect">
            <a:avLst/>
          </a:prstGeom>
          <a:noFill/>
          <a:ln/>
        </p:spPr>
        <p:txBody>
          <a:bodyPr wrap="square" lIns="0" tIns="0" rIns="0" bIns="0" rtlCol="0" anchor="ctr"/>
          <a:lstStyle/>
          <a:p>
            <a:pPr indent="0" marL="0">
              <a:buNone/>
            </a:pPr>
            <a:r>
              <a:rPr lang="en-US" sz="1450" i="1" dirty="0">
                <a:solidFill>
                  <a:srgbClr val="6B6B6B"/>
                </a:solidFill>
                <a:latin typeface="DejaVu Sans" pitchFamily="34" charset="0"/>
                <a:ea typeface="DejaVu Sans" pitchFamily="34" charset="-122"/>
                <a:cs typeface="DejaVu Sans" pitchFamily="34" charset="-120"/>
              </a:rPr>
              <a:t>Mahalanobis distance across 15 core WTM indicators, with a χ²-based cutoff</a:t>
            </a:r>
            <a:endParaRPr lang="en-US" sz="1450" dirty="0"/>
          </a:p>
        </p:txBody>
      </p:sp>
      <p:sp>
        <p:nvSpPr>
          <p:cNvPr id="6" name="Text 3"/>
          <p:cNvSpPr txBox="1"/>
          <p:nvPr/>
        </p:nvSpPr>
        <p:spPr>
          <a:xfrm>
            <a:off x="530352" y="1874520"/>
            <a:ext cx="5943600" cy="1005840"/>
          </a:xfrm>
          <a:prstGeom prst="rect">
            <a:avLst/>
          </a:prstGeom>
          <a:noFill/>
          <a:ln/>
        </p:spPr>
        <p:txBody>
          <a:bodyPr wrap="square" lIns="0" tIns="0" rIns="0" bIns="0" rtlCol="0" anchor="t"/>
          <a:lstStyle/>
          <a:p>
            <a:pPr indent="0" marL="0">
              <a:lnSpc>
                <a:spcPct val="115000"/>
              </a:lnSpc>
              <a:buNone/>
            </a:pPr>
            <a:r>
              <a:rPr lang="en-US" sz="1350" b="1" dirty="0">
                <a:solidFill>
                  <a:srgbClr val="1D1D1B"/>
                </a:solidFill>
              </a:rPr>
              <a:t>What Mahalanobis distance measures:  </a:t>
            </a:r>
            <a:endParaRPr lang="en-US" sz="1350" dirty="0"/>
          </a:p>
          <a:p>
            <a:pPr indent="0" marL="0">
              <a:lnSpc>
                <a:spcPct val="115000"/>
              </a:lnSpc>
              <a:buNone/>
            </a:pPr>
            <a:r>
              <a:rPr lang="en-US" sz="1300" dirty="0">
                <a:solidFill>
                  <a:srgbClr val="1D1D1B"/>
                </a:solidFill>
              </a:rPr>
              <a:t>for each respondent, how far their combination of scores sits from the “typical” respondent — accounting for how the 15 variables correlate with each other, not just their individual ranges.</a:t>
            </a:r>
            <a:endParaRPr lang="en-US" sz="1350" dirty="0"/>
          </a:p>
        </p:txBody>
      </p:sp>
      <p:sp>
        <p:nvSpPr>
          <p:cNvPr id="7" name="Text 4"/>
          <p:cNvSpPr txBox="1"/>
          <p:nvPr/>
        </p:nvSpPr>
        <p:spPr>
          <a:xfrm>
            <a:off x="530352" y="2788920"/>
            <a:ext cx="5943600" cy="320040"/>
          </a:xfrm>
          <a:prstGeom prst="rect">
            <a:avLst/>
          </a:prstGeom>
          <a:noFill/>
          <a:ln/>
        </p:spPr>
        <p:txBody>
          <a:bodyPr wrap="square" lIns="0" tIns="0" rIns="0" bIns="0" rtlCol="0" anchor="ctr"/>
          <a:lstStyle/>
          <a:p>
            <a:pPr indent="0" marL="0">
              <a:buNone/>
            </a:pPr>
            <a:r>
              <a:rPr lang="en-US" sz="1350" b="1" dirty="0">
                <a:solidFill>
                  <a:srgbClr val="1D1D1B"/>
                </a:solidFill>
                <a:latin typeface="DejaVu Sans" pitchFamily="34" charset="0"/>
                <a:ea typeface="DejaVu Sans" pitchFamily="34" charset="-122"/>
                <a:cs typeface="DejaVu Sans" pitchFamily="34" charset="-120"/>
              </a:rPr>
              <a:t>The 15 indicators used</a:t>
            </a:r>
            <a:endParaRPr lang="en-US" sz="1350" dirty="0"/>
          </a:p>
        </p:txBody>
      </p:sp>
      <p:sp>
        <p:nvSpPr>
          <p:cNvPr id="8" name="Text 5"/>
          <p:cNvSpPr txBox="1"/>
          <p:nvPr/>
        </p:nvSpPr>
        <p:spPr>
          <a:xfrm>
            <a:off x="530352" y="3154680"/>
            <a:ext cx="2103120" cy="384048"/>
          </a:xfrm>
          <a:prstGeom prst="rect">
            <a:avLst/>
          </a:prstGeom>
          <a:noFill/>
          <a:ln/>
        </p:spPr>
        <p:txBody>
          <a:bodyPr wrap="square" lIns="0" tIns="0" rIns="0" bIns="0" rtlCol="0" anchor="ctr"/>
          <a:lstStyle/>
          <a:p>
            <a:pPr indent="0" marL="0">
              <a:buNone/>
            </a:pPr>
            <a:r>
              <a:rPr lang="en-US" sz="1250" b="1" dirty="0">
                <a:solidFill>
                  <a:srgbClr val="00883F"/>
                </a:solidFill>
                <a:latin typeface="DejaVu Sans" pitchFamily="34" charset="0"/>
                <a:ea typeface="DejaVu Sans" pitchFamily="34" charset="-122"/>
                <a:cs typeface="DejaVu Sans" pitchFamily="34" charset="-120"/>
              </a:rPr>
              <a:t>Conflict experience (7)</a:t>
            </a:r>
            <a:endParaRPr lang="en-US" sz="1250" dirty="0"/>
          </a:p>
        </p:txBody>
      </p:sp>
      <p:sp>
        <p:nvSpPr>
          <p:cNvPr id="9" name="Text 6"/>
          <p:cNvSpPr txBox="1"/>
          <p:nvPr/>
        </p:nvSpPr>
        <p:spPr>
          <a:xfrm>
            <a:off x="2697480" y="3154680"/>
            <a:ext cx="3794760" cy="384048"/>
          </a:xfrm>
          <a:prstGeom prst="rect">
            <a:avLst/>
          </a:prstGeom>
          <a:noFill/>
          <a:ln/>
        </p:spPr>
        <p:txBody>
          <a:bodyPr wrap="square" lIns="0" tIns="0" rIns="0" bIns="0" rtlCol="0" anchor="ctr"/>
          <a:lstStyle/>
          <a:p>
            <a:pPr indent="0" marL="0">
              <a:buNone/>
            </a:pPr>
            <a:r>
              <a:rPr lang="en-US" sz="1250" dirty="0">
                <a:solidFill>
                  <a:srgbClr val="1D1D1B"/>
                </a:solidFill>
                <a:latin typeface="DejaVu Sans" pitchFamily="34" charset="0"/>
                <a:ea typeface="DejaVu Sans" pitchFamily="34" charset="-122"/>
                <a:cs typeface="DejaVu Sans" pitchFamily="34" charset="-120"/>
              </a:rPr>
              <a:t>CP_WB1–4, CP_A1–3</a:t>
            </a:r>
            <a:endParaRPr lang="en-US" sz="1250" dirty="0"/>
          </a:p>
        </p:txBody>
      </p:sp>
      <p:sp>
        <p:nvSpPr>
          <p:cNvPr id="10" name="Text 7"/>
          <p:cNvSpPr txBox="1"/>
          <p:nvPr/>
        </p:nvSpPr>
        <p:spPr>
          <a:xfrm>
            <a:off x="530352" y="3593592"/>
            <a:ext cx="2103120" cy="384048"/>
          </a:xfrm>
          <a:prstGeom prst="rect">
            <a:avLst/>
          </a:prstGeom>
          <a:noFill/>
          <a:ln/>
        </p:spPr>
        <p:txBody>
          <a:bodyPr wrap="square" lIns="0" tIns="0" rIns="0" bIns="0" rtlCol="0" anchor="ctr"/>
          <a:lstStyle/>
          <a:p>
            <a:pPr indent="0" marL="0">
              <a:buNone/>
            </a:pPr>
            <a:r>
              <a:rPr lang="en-US" sz="1250" b="1" dirty="0">
                <a:solidFill>
                  <a:srgbClr val="00883F"/>
                </a:solidFill>
                <a:latin typeface="DejaVu Sans" pitchFamily="34" charset="0"/>
                <a:ea typeface="DejaVu Sans" pitchFamily="34" charset="-122"/>
                <a:cs typeface="DejaVu Sans" pitchFamily="34" charset="-120"/>
              </a:rPr>
              <a:t>Costs (2)</a:t>
            </a:r>
            <a:endParaRPr lang="en-US" sz="1250" dirty="0"/>
          </a:p>
        </p:txBody>
      </p:sp>
      <p:sp>
        <p:nvSpPr>
          <p:cNvPr id="11" name="Text 8"/>
          <p:cNvSpPr txBox="1"/>
          <p:nvPr/>
        </p:nvSpPr>
        <p:spPr>
          <a:xfrm>
            <a:off x="2697480" y="3593592"/>
            <a:ext cx="3794760" cy="384048"/>
          </a:xfrm>
          <a:prstGeom prst="rect">
            <a:avLst/>
          </a:prstGeom>
          <a:noFill/>
          <a:ln/>
        </p:spPr>
        <p:txBody>
          <a:bodyPr wrap="square" lIns="0" tIns="0" rIns="0" bIns="0" rtlCol="0" anchor="ctr"/>
          <a:lstStyle/>
          <a:p>
            <a:pPr indent="0" marL="0">
              <a:buNone/>
            </a:pPr>
            <a:r>
              <a:rPr lang="en-US" sz="1250" dirty="0">
                <a:solidFill>
                  <a:srgbClr val="1D1D1B"/>
                </a:solidFill>
                <a:latin typeface="DejaVu Sans" pitchFamily="34" charset="0"/>
                <a:ea typeface="DejaVu Sans" pitchFamily="34" charset="-122"/>
                <a:cs typeface="DejaVu Sans" pitchFamily="34" charset="-120"/>
              </a:rPr>
              <a:t>TC1 damaged area, log economic loss</a:t>
            </a:r>
            <a:endParaRPr lang="en-US" sz="1250" dirty="0"/>
          </a:p>
        </p:txBody>
      </p:sp>
      <p:sp>
        <p:nvSpPr>
          <p:cNvPr id="12" name="Text 9"/>
          <p:cNvSpPr txBox="1"/>
          <p:nvPr/>
        </p:nvSpPr>
        <p:spPr>
          <a:xfrm>
            <a:off x="530352" y="4032504"/>
            <a:ext cx="2103120" cy="384048"/>
          </a:xfrm>
          <a:prstGeom prst="rect">
            <a:avLst/>
          </a:prstGeom>
          <a:noFill/>
          <a:ln/>
        </p:spPr>
        <p:txBody>
          <a:bodyPr wrap="square" lIns="0" tIns="0" rIns="0" bIns="0" rtlCol="0" anchor="ctr"/>
          <a:lstStyle/>
          <a:p>
            <a:pPr indent="0" marL="0">
              <a:buNone/>
            </a:pPr>
            <a:r>
              <a:rPr lang="en-US" sz="1250" b="1" dirty="0">
                <a:solidFill>
                  <a:srgbClr val="00883F"/>
                </a:solidFill>
                <a:latin typeface="DejaVu Sans" pitchFamily="34" charset="0"/>
                <a:ea typeface="DejaVu Sans" pitchFamily="34" charset="-122"/>
                <a:cs typeface="DejaVu Sans" pitchFamily="34" charset="-120"/>
              </a:rPr>
              <a:t>Benefits (2)</a:t>
            </a:r>
            <a:endParaRPr lang="en-US" sz="1250" dirty="0"/>
          </a:p>
        </p:txBody>
      </p:sp>
      <p:sp>
        <p:nvSpPr>
          <p:cNvPr id="13" name="Text 10"/>
          <p:cNvSpPr txBox="1"/>
          <p:nvPr/>
        </p:nvSpPr>
        <p:spPr>
          <a:xfrm>
            <a:off x="2697480" y="4032504"/>
            <a:ext cx="3794760" cy="384048"/>
          </a:xfrm>
          <a:prstGeom prst="rect">
            <a:avLst/>
          </a:prstGeom>
          <a:noFill/>
          <a:ln/>
        </p:spPr>
        <p:txBody>
          <a:bodyPr wrap="square" lIns="0" tIns="0" rIns="0" bIns="0" rtlCol="0" anchor="ctr"/>
          <a:lstStyle/>
          <a:p>
            <a:pPr indent="0" marL="0">
              <a:buNone/>
            </a:pPr>
            <a:r>
              <a:rPr lang="en-US" sz="1250" dirty="0">
                <a:solidFill>
                  <a:srgbClr val="1D1D1B"/>
                </a:solidFill>
                <a:latin typeface="DejaVu Sans" pitchFamily="34" charset="0"/>
                <a:ea typeface="DejaVu Sans" pitchFamily="34" charset="-122"/>
                <a:cs typeface="DejaVu Sans" pitchFamily="34" charset="-120"/>
              </a:rPr>
              <a:t>IC1 general attitude, IB ecological value</a:t>
            </a:r>
            <a:endParaRPr lang="en-US" sz="1250" dirty="0"/>
          </a:p>
        </p:txBody>
      </p:sp>
      <p:sp>
        <p:nvSpPr>
          <p:cNvPr id="14" name="Text 11"/>
          <p:cNvSpPr txBox="1"/>
          <p:nvPr/>
        </p:nvSpPr>
        <p:spPr>
          <a:xfrm>
            <a:off x="530352" y="4471416"/>
            <a:ext cx="2103120" cy="384048"/>
          </a:xfrm>
          <a:prstGeom prst="rect">
            <a:avLst/>
          </a:prstGeom>
          <a:noFill/>
          <a:ln/>
        </p:spPr>
        <p:txBody>
          <a:bodyPr wrap="square" lIns="0" tIns="0" rIns="0" bIns="0" rtlCol="0" anchor="ctr"/>
          <a:lstStyle/>
          <a:p>
            <a:pPr indent="0" marL="0">
              <a:buNone/>
            </a:pPr>
            <a:r>
              <a:rPr lang="en-US" sz="1250" b="1" dirty="0">
                <a:solidFill>
                  <a:srgbClr val="00883F"/>
                </a:solidFill>
                <a:latin typeface="DejaVu Sans" pitchFamily="34" charset="0"/>
                <a:ea typeface="DejaVu Sans" pitchFamily="34" charset="-122"/>
                <a:cs typeface="DejaVu Sans" pitchFamily="34" charset="-120"/>
              </a:rPr>
              <a:t>Tolerance (4)</a:t>
            </a:r>
            <a:endParaRPr lang="en-US" sz="1250" dirty="0"/>
          </a:p>
        </p:txBody>
      </p:sp>
      <p:sp>
        <p:nvSpPr>
          <p:cNvPr id="15" name="Text 12"/>
          <p:cNvSpPr txBox="1"/>
          <p:nvPr/>
        </p:nvSpPr>
        <p:spPr>
          <a:xfrm>
            <a:off x="2697480" y="4471416"/>
            <a:ext cx="3794760" cy="384048"/>
          </a:xfrm>
          <a:prstGeom prst="rect">
            <a:avLst/>
          </a:prstGeom>
          <a:noFill/>
          <a:ln/>
        </p:spPr>
        <p:txBody>
          <a:bodyPr wrap="square" lIns="0" tIns="0" rIns="0" bIns="0" rtlCol="0" anchor="ctr"/>
          <a:lstStyle/>
          <a:p>
            <a:pPr indent="0" marL="0">
              <a:buNone/>
            </a:pPr>
            <a:r>
              <a:rPr lang="en-US" sz="1250" dirty="0">
                <a:solidFill>
                  <a:srgbClr val="1D1D1B"/>
                </a:solidFill>
                <a:latin typeface="DejaVu Sans" pitchFamily="34" charset="0"/>
                <a:ea typeface="DejaVu Sans" pitchFamily="34" charset="-122"/>
                <a:cs typeface="DejaVu Sans" pitchFamily="34" charset="-120"/>
              </a:rPr>
              <a:t>Tol1, Tol2, Tol3, Tol4</a:t>
            </a:r>
            <a:endParaRPr lang="en-US" sz="1250" dirty="0"/>
          </a:p>
        </p:txBody>
      </p:sp>
      <p:sp>
        <p:nvSpPr>
          <p:cNvPr id="16" name="Shape 13"/>
          <p:cNvSpPr/>
          <p:nvPr/>
        </p:nvSpPr>
        <p:spPr>
          <a:xfrm>
            <a:off x="530352" y="5074920"/>
            <a:ext cx="5943600" cy="1051560"/>
          </a:xfrm>
          <a:prstGeom prst="roundRect">
            <a:avLst>
              <a:gd name="adj" fmla="val 6087"/>
            </a:avLst>
          </a:prstGeom>
          <a:solidFill>
            <a:srgbClr val="EAF4EE"/>
          </a:solidFill>
          <a:ln/>
        </p:spPr>
      </p:sp>
      <p:sp>
        <p:nvSpPr>
          <p:cNvPr id="17" name="Text 14"/>
          <p:cNvSpPr txBox="1"/>
          <p:nvPr/>
        </p:nvSpPr>
        <p:spPr>
          <a:xfrm>
            <a:off x="749808" y="5193792"/>
            <a:ext cx="5486400" cy="822960"/>
          </a:xfrm>
          <a:prstGeom prst="rect">
            <a:avLst/>
          </a:prstGeom>
          <a:noFill/>
          <a:ln/>
        </p:spPr>
        <p:txBody>
          <a:bodyPr wrap="square" lIns="0" tIns="0" rIns="0" bIns="0" rtlCol="0" anchor="t"/>
          <a:lstStyle/>
          <a:p>
            <a:pPr indent="0" marL="0">
              <a:lnSpc>
                <a:spcPct val="112000"/>
              </a:lnSpc>
              <a:buNone/>
            </a:pPr>
            <a:r>
              <a:rPr lang="en-US" sz="1350" b="1" dirty="0">
                <a:solidFill>
                  <a:srgbClr val="00883F"/>
                </a:solidFill>
              </a:rPr>
              <a:t>Threshold:  </a:t>
            </a:r>
            <a:pPr indent="0" marL="0">
              <a:lnSpc>
                <a:spcPct val="112000"/>
              </a:lnSpc>
              <a:buNone/>
            </a:pPr>
            <a:r>
              <a:rPr lang="en-US" sz="1250" dirty="0">
                <a:solidFill>
                  <a:srgbClr val="1D1D1B"/>
                </a:solidFill>
              </a:rPr>
              <a:t>D² values approximately follow a χ² distribution with df = 15 (one per variable) under multivariate normality. We flag respondents beyond the p&lt;.001 cutoff: D² &gt; 37.7.</a:t>
            </a:r>
            <a:endParaRPr lang="en-US" sz="1350" dirty="0"/>
          </a:p>
        </p:txBody>
      </p:sp>
      <p:pic>
        <p:nvPicPr>
          <p:cNvPr id="18" name="Image 1" descr="/tmp/claude-1003/-home-duc-Wildboar-Compensation-on-Tolerance/15230097-a62e-459e-b45e-9fbee29760f4/scratchpad/lmu_slide/maha_dist.png">    </p:cNvPr>
          <p:cNvPicPr>
            <a:picLocks noChangeAspect="1"/>
          </p:cNvPicPr>
          <p:nvPr/>
        </p:nvPicPr>
        <p:blipFill>
          <a:blip r:embed="rId2"/>
          <a:stretch>
            <a:fillRect/>
          </a:stretch>
        </p:blipFill>
        <p:spPr>
          <a:xfrm>
            <a:off x="6720840" y="1828800"/>
            <a:ext cx="4937760" cy="3200400"/>
          </a:xfrm>
          <a:prstGeom prst="rect">
            <a:avLst/>
          </a:prstGeom>
        </p:spPr>
      </p:pic>
      <p:sp>
        <p:nvSpPr>
          <p:cNvPr id="19" name="Shape 15"/>
          <p:cNvSpPr/>
          <p:nvPr/>
        </p:nvSpPr>
        <p:spPr>
          <a:xfrm>
            <a:off x="6720840" y="5166360"/>
            <a:ext cx="4937760" cy="960120"/>
          </a:xfrm>
          <a:prstGeom prst="roundRect">
            <a:avLst>
              <a:gd name="adj" fmla="val 6667"/>
            </a:avLst>
          </a:prstGeom>
          <a:solidFill>
            <a:srgbClr val="F2F2F2"/>
          </a:solidFill>
          <a:ln/>
        </p:spPr>
      </p:sp>
      <p:sp>
        <p:nvSpPr>
          <p:cNvPr id="20" name="Text 16"/>
          <p:cNvSpPr txBox="1"/>
          <p:nvPr/>
        </p:nvSpPr>
        <p:spPr>
          <a:xfrm>
            <a:off x="6949440" y="5266944"/>
            <a:ext cx="4480560" cy="777240"/>
          </a:xfrm>
          <a:prstGeom prst="rect">
            <a:avLst/>
          </a:prstGeom>
          <a:noFill/>
          <a:ln/>
        </p:spPr>
        <p:txBody>
          <a:bodyPr wrap="square" lIns="0" tIns="0" rIns="0" bIns="0" rtlCol="0" anchor="t"/>
          <a:lstStyle/>
          <a:p>
            <a:pPr indent="0" marL="0">
              <a:lnSpc>
                <a:spcPct val="110000"/>
              </a:lnSpc>
              <a:buNone/>
            </a:pPr>
            <a:r>
              <a:rPr lang="en-US" sz="1400" b="1" dirty="0">
                <a:solidFill>
                  <a:srgbClr val="1D1D1B"/>
                </a:solidFill>
              </a:rPr>
              <a:t>14 of 625 (2.2%) flagged</a:t>
            </a:r>
            <a:endParaRPr lang="en-US" sz="1400" dirty="0"/>
          </a:p>
          <a:p>
            <a:pPr indent="0" marL="0">
              <a:lnSpc>
                <a:spcPct val="110000"/>
              </a:lnSpc>
              <a:buNone/>
            </a:pPr>
            <a:r>
              <a:rPr lang="en-US" sz="1150" dirty="0">
                <a:solidFill>
                  <a:srgbClr val="6B6B6B"/>
                </a:solidFill>
              </a:rPr>
              <a:t>Split evenly: 7 Baoxing / 7 Qingchuan, 7 with-compensation / 7 without — not concentrated in either group.</a:t>
            </a:r>
            <a:endParaRPr lang="en-US" sz="1400" dirty="0"/>
          </a:p>
        </p:txBody>
      </p:sp>
      <p:sp>
        <p:nvSpPr>
          <p:cNvPr id="21" name="Text 17"/>
          <p:cNvSpPr txBox="1"/>
          <p:nvPr/>
        </p:nvSpPr>
        <p:spPr>
          <a:xfrm>
            <a:off x="530352" y="6263640"/>
            <a:ext cx="11155680" cy="274320"/>
          </a:xfrm>
          <a:prstGeom prst="rect">
            <a:avLst/>
          </a:prstGeom>
          <a:noFill/>
          <a:ln/>
        </p:spPr>
        <p:txBody>
          <a:bodyPr wrap="square" lIns="0" tIns="0" rIns="0" bIns="0" rtlCol="0" anchor="ctr"/>
          <a:lstStyle/>
          <a:p>
            <a:pPr indent="0" marL="0">
              <a:buNone/>
            </a:pPr>
            <a:r>
              <a:rPr lang="en-US" sz="1150" i="1" dirty="0">
                <a:solidFill>
                  <a:srgbClr val="6B6B6B"/>
                </a:solidFill>
                <a:latin typeface="DejaVu Sans" pitchFamily="34" charset="0"/>
                <a:ea typeface="DejaVu Sans" pitchFamily="34" charset="-122"/>
                <a:cs typeface="DejaVu Sans" pitchFamily="34" charset="-120"/>
              </a:rPr>
              <a:t>3 respondents are extreme (D² = 124–136); the remaining 11 sit just past the cutoff (D² = 38–50).</a:t>
            </a:r>
            <a:endParaRPr lang="en-US" sz="1150" dirty="0"/>
          </a:p>
        </p:txBody>
      </p:sp>
      <p:sp>
        <p:nvSpPr>
          <p:cNvPr id="22" name="Text 18"/>
          <p:cNvSpPr txBox="1"/>
          <p:nvPr/>
        </p:nvSpPr>
        <p:spPr>
          <a:xfrm>
            <a:off x="530352" y="6537960"/>
            <a:ext cx="11155680" cy="256032"/>
          </a:xfrm>
          <a:prstGeom prst="rect">
            <a:avLst/>
          </a:prstGeom>
          <a:noFill/>
          <a:ln/>
        </p:spPr>
        <p:txBody>
          <a:bodyPr wrap="square" lIns="0" tIns="0" rIns="0" bIns="0" rtlCol="0" anchor="ctr"/>
          <a:lstStyle/>
          <a:p>
            <a:pPr indent="0" marL="0">
              <a:buNone/>
            </a:pPr>
            <a:r>
              <a:rPr lang="en-US" sz="900" dirty="0">
                <a:solidFill>
                  <a:srgbClr val="6B6B6B"/>
                </a:solidFill>
                <a:latin typeface="DejaVu Sans" pitchFamily="34" charset="0"/>
                <a:ea typeface="DejaVu Sans" pitchFamily="34" charset="-122"/>
                <a:cs typeface="DejaVu Sans" pitchFamily="34" charset="-120"/>
              </a:rPr>
              <a:t>Source: Mahalanobis distance on 15 WTM indicators, n=625; claude_analysis/output/tables/05_multivariate_outliers.csv</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2026-09-20T14:57:31Z</dcterms:created>
  <dcterms:modified xsi:type="dcterms:W3CDTF">2026-09-20T14:57:31Z</dcterms:modified>
</cp:coreProperties>
</file>