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Applied for compensation</c:v>
                </c:pt>
              </c:strCache>
            </c:strRef>
          </c:tx>
          <c:spPr>
            <a:solidFill>
              <a:srgbClr val="00883F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D1D1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0883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9B9B7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Baoxing
(n=160)</c:v>
                  </c:pt>
                  <c:pt idx="1">
                    <c:v>Qingchuan
(n=465)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74</c:v>
                </c:pt>
                <c:pt idx="1">
                  <c:v>34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0" i="0" strike="noStrike" sz="1400" u="none">
                  <a:solidFill>
                    <a:srgbClr val="1D1D1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D1D1B"/>
                </a:solidFill>
                <a:latin typeface="DejaVu San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EDA finding: compensation participation cannot be interpreted on its own because it is confounded with county. Baoxing shows 74% application versus Qingchuan's 34% (chi-square=77.1, p&lt;.001) -- far too large a gap to be sampling variation. Compounding this, the two counties were not surveyed at the same time: Baoxing in August 2024 and Qingchuan in March-April 2025, seven months apart. So geography and survey timing move together with compensation status, and cannot be statistically separated from each other. Every model that compares compensation groups -- ours and the original WTM analysis -- needs an explicit county or survey-wave control, otherwise a 'compensation effect' could actually be a place effect, a season effect, or both.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30352" y="329184"/>
            <a:ext cx="8961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883F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EDA → CONFOUNDING</a:t>
            </a:r>
            <a:endParaRPr lang="en-US" sz="1000" dirty="0"/>
          </a:p>
        </p:txBody>
      </p:sp>
      <p:pic>
        <p:nvPicPr>
          <p:cNvPr id="3" name="Image 0" descr="/tmp/claude-1003/-home-duc-Wildboar-Compensation-on-Tolerance/15230097-a62e-459e-b45e-9fbee29760f4/scratchpad/lmu_slide/lmu_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2992" y="182880"/>
            <a:ext cx="1389888" cy="73152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530352" y="640080"/>
            <a:ext cx="94183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700" b="1" dirty="0">
                <a:solidFill>
                  <a:srgbClr val="1D1D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Compensation participation is confounded with county</a:t>
            </a:r>
            <a:endParaRPr lang="en-US" sz="27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938528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1D1D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In Baoxing, 119 of 160 respondents (74%) reported applying for compensation.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834640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D1D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In Qingchuan, only 158 of 465 (34%) did — a chi-square test confirms this gap is not chance (χ²=77.1, df=1, p&lt;.001).</a:t>
            </a:r>
            <a:endParaRPr lang="en-US" sz="155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3730752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D1D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The two counties were also surveyed seven months apart: Baoxing in August 2024, Qingchuan in March–April 2025.</a:t>
            </a:r>
            <a:endParaRPr lang="en-US" sz="1550" dirty="0"/>
          </a:p>
        </p:txBody>
      </p:sp>
      <p:sp>
        <p:nvSpPr>
          <p:cNvPr id="8" name="Text 5"/>
          <p:cNvSpPr txBox="1"/>
          <p:nvPr/>
        </p:nvSpPr>
        <p:spPr>
          <a:xfrm>
            <a:off x="640080" y="4626864"/>
            <a:ext cx="5166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50" dirty="0">
                <a:solidFill>
                  <a:srgbClr val="1D1D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• Geography and timing move together with compensation status — any comparison across compensation groups must control for county/survey wave.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6172200" y="1783080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D1D1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Application rate by county</a:t>
            </a:r>
            <a:endParaRPr lang="en-US" sz="1300" dirty="0"/>
          </a:p>
        </p:txBody>
      </p:sp>
      <p:graphicFrame>
        <p:nvGraphicFramePr>
          <p:cNvPr id="10" name="Chart 0" descr=""/>
          <p:cNvGraphicFramePr/>
          <p:nvPr/>
        </p:nvGraphicFramePr>
        <p:xfrm>
          <a:off x="6172200" y="2148840"/>
          <a:ext cx="539496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Shape 7"/>
          <p:cNvSpPr/>
          <p:nvPr/>
        </p:nvSpPr>
        <p:spPr>
          <a:xfrm>
            <a:off x="6172200" y="2148840"/>
            <a:ext cx="0" cy="3246120"/>
          </a:xfrm>
          <a:prstGeom prst="line">
            <a:avLst/>
          </a:prstGeom>
          <a:noFill/>
          <a:ln w="9525">
            <a:solidFill>
              <a:srgbClr val="E5E5E3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530352" y="6446520"/>
            <a:ext cx="11155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DejaVu Sans" pitchFamily="34" charset="0"/>
                <a:ea typeface="DejaVu Sans" pitchFamily="34" charset="-122"/>
                <a:cs typeface="DejaVu Sans" pitchFamily="34" charset="-120"/>
              </a:rPr>
              <a:t>Source: EDA on Wildboar-Compensation-on-Tolerance data (n=625); claude_analysis/output/tables/02_compensation_group_tests.csv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2026-09-20T14:19:50Z</dcterms:created>
  <dcterms:modified xsi:type="dcterms:W3CDTF">2026-09-20T14:19:50Z</dcterms:modified>
</cp:coreProperties>
</file>