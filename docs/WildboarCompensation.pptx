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97" r:id="rId2"/>
    <p:sldId id="341" r:id="rId3"/>
    <p:sldId id="332" r:id="rId4"/>
    <p:sldId id="493" r:id="rId5"/>
    <p:sldId id="494" r:id="rId6"/>
    <p:sldId id="324" r:id="rId7"/>
    <p:sldId id="326" r:id="rId8"/>
    <p:sldId id="331" r:id="rId9"/>
    <p:sldId id="337" r:id="rId10"/>
    <p:sldId id="407" r:id="rId11"/>
    <p:sldId id="366" r:id="rId12"/>
    <p:sldId id="406" r:id="rId13"/>
    <p:sldId id="414" r:id="rId14"/>
    <p:sldId id="349" r:id="rId15"/>
    <p:sldId id="462" r:id="rId16"/>
    <p:sldId id="463" r:id="rId17"/>
    <p:sldId id="464" r:id="rId18"/>
    <p:sldId id="465" r:id="rId19"/>
    <p:sldId id="466" r:id="rId20"/>
    <p:sldId id="467" r:id="rId21"/>
    <p:sldId id="469" r:id="rId22"/>
    <p:sldId id="468" r:id="rId23"/>
    <p:sldId id="257" r:id="rId24"/>
    <p:sldId id="487" r:id="rId25"/>
    <p:sldId id="479" r:id="rId26"/>
    <p:sldId id="480" r:id="rId27"/>
    <p:sldId id="481" r:id="rId28"/>
    <p:sldId id="482" r:id="rId29"/>
    <p:sldId id="483" r:id="rId30"/>
    <p:sldId id="484" r:id="rId31"/>
    <p:sldId id="485" r:id="rId32"/>
    <p:sldId id="489" r:id="rId33"/>
    <p:sldId id="488" r:id="rId34"/>
    <p:sldId id="471" r:id="rId35"/>
    <p:sldId id="472" r:id="rId36"/>
    <p:sldId id="473" r:id="rId37"/>
    <p:sldId id="474" r:id="rId38"/>
    <p:sldId id="475" r:id="rId39"/>
    <p:sldId id="476" r:id="rId40"/>
    <p:sldId id="477" r:id="rId41"/>
    <p:sldId id="490" r:id="rId42"/>
    <p:sldId id="491" r:id="rId4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B548C2-E951-D940-9D20-E9445C887AAC}">
          <p14:sldIdLst>
            <p14:sldId id="297"/>
            <p14:sldId id="341"/>
            <p14:sldId id="332"/>
            <p14:sldId id="493"/>
            <p14:sldId id="494"/>
            <p14:sldId id="324"/>
          </p14:sldIdLst>
        </p14:section>
        <p14:section name="Basic Info" id="{6330CD83-EF45-8F42-ABE3-4BAC65DFB92A}">
          <p14:sldIdLst>
            <p14:sldId id="326"/>
            <p14:sldId id="331"/>
            <p14:sldId id="337"/>
            <p14:sldId id="407"/>
            <p14:sldId id="366"/>
            <p14:sldId id="406"/>
            <p14:sldId id="414"/>
            <p14:sldId id="349"/>
          </p14:sldIdLst>
        </p14:section>
        <p14:section name="M0_Compensation0/1" id="{C0985C81-CA01-DC46-82EC-901961B2E677}">
          <p14:sldIdLst>
            <p14:sldId id="462"/>
            <p14:sldId id="463"/>
            <p14:sldId id="464"/>
            <p14:sldId id="465"/>
            <p14:sldId id="466"/>
            <p14:sldId id="467"/>
            <p14:sldId id="469"/>
            <p14:sldId id="468"/>
            <p14:sldId id="257"/>
          </p14:sldIdLst>
        </p14:section>
        <p14:section name="M1_with compensation" id="{B2BC48B1-A982-7043-96C8-AC60DCDCA6A3}">
          <p14:sldIdLst>
            <p14:sldId id="487"/>
            <p14:sldId id="479"/>
            <p14:sldId id="480"/>
            <p14:sldId id="481"/>
            <p14:sldId id="482"/>
            <p14:sldId id="483"/>
            <p14:sldId id="484"/>
            <p14:sldId id="485"/>
            <p14:sldId id="489"/>
          </p14:sldIdLst>
        </p14:section>
        <p14:section name="M2_without compensation" id="{56C51048-BD07-D24D-9D14-521C18FF033B}">
          <p14:sldIdLst>
            <p14:sldId id="488"/>
            <p14:sldId id="471"/>
            <p14:sldId id="472"/>
            <p14:sldId id="473"/>
            <p14:sldId id="474"/>
            <p14:sldId id="475"/>
            <p14:sldId id="476"/>
            <p14:sldId id="477"/>
            <p14:sldId id="490"/>
            <p14:sldId id="4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0"/>
    <p:restoredTop sz="94786"/>
  </p:normalViewPr>
  <p:slideViewPr>
    <p:cSldViewPr snapToGrid="0">
      <p:cViewPr>
        <p:scale>
          <a:sx n="181" d="100"/>
          <a:sy n="181" d="100"/>
        </p:scale>
        <p:origin x="-400" y="-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76D45E-97F0-0B4D-A3AA-D324F4048B09}" type="datetimeFigureOut">
              <a:rPr lang="en-DE" smtClean="0"/>
              <a:t>09.03.26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D3B1B-4715-E54B-BB30-E14AC91581F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4560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12366-B935-C749-A99F-87EDB32760F5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89618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96461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51B97-CC8F-DC3E-688D-039F17E9F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A7A36-BC60-AD0C-FAA0-45299D044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DC12E-07C6-8EC5-FE40-989104030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15775-4915-2223-FCDB-F4FA3585F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12366-B935-C749-A99F-87EDB32760F5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1651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No big difference!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A2486-1E22-5E4E-BC60-09D5B86BA4C8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77112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A2486-1E22-5E4E-BC60-09D5B86BA4C8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97650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5FEE2-7C43-FA1B-751D-82690B241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89E68-509C-6F87-213A-C4DEA0BBC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DFD9E-D8DB-6481-3033-C0C2B34EC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88B2C-34BC-84F8-9B35-661F93530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A2486-1E22-5E4E-BC60-09D5B86BA4C8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74349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B10A-880C-B7CD-0BD0-82CC81373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67241-1ECA-C2E3-A0DC-7365EA87E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7980B-7F15-F135-F980-37BA8FC7F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A2B15-BF3B-3032-4ED8-88C817729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12366-B935-C749-A99F-87EDB32760F5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11060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C3686-0F24-9D6E-4778-AE4546B3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62029-244B-FEE8-6549-78907D80B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43354-C407-75A6-8798-2DF429BC5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8B5EB-DB58-DB33-F4E5-A7CE99E7E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2561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6D089-27D7-AD14-9E61-49C873F89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BAD7D-79D8-4D7E-4528-97D706AAF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59918-B819-EAF3-DDF7-69CA2FA1C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9CFE5-BAE6-FB0E-DC29-5D729967D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17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90800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3EDC1-49A7-9B99-7DD0-042E98CEB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881D8-8B8B-5FDC-FF63-56071070E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AEE98-C828-BBC3-BC38-C875BBC7A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FC7AA-0A67-657F-FD83-CC74C212B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18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32349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A9B0D-2DDE-440C-E87D-F45637BEC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C27E0-00B8-6F16-3213-00A40487E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BDC46-9F09-D268-C931-AADCF391A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D8542-72C4-82E9-A12A-F7DB1CC9C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19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76251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E2CF7-BAF8-EC55-C856-8F4CA29D2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999F4-7B1C-051A-A3F0-D3DACC445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5B572-5F34-A099-B71C-C928D2E42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8B30D-0603-28D5-9BD9-407E57105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20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95011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A2486-1E22-5E4E-BC60-09D5B86BA4C8}" type="slidenum">
              <a:rPr lang="en-DE" smtClean="0"/>
              <a:t>21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544458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F028B-23B5-9867-237E-8D808DD32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CFC75-449F-8AEF-8F0D-9C316132F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45287-31BB-4FE2-5469-8B6D1A6D6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693D4-9182-90A6-EF62-02648B1B2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22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0286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A2486-1E22-5E4E-BC60-09D5B86BA4C8}" type="slidenum">
              <a:rPr lang="en-DE" smtClean="0"/>
              <a:t>23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60729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F490E-589D-1BD6-4F7A-C1EC16E97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D77BF-5AA4-98E5-C2A1-18271D240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866C8-E17B-5E2D-46A9-C2092832F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8FB49-65A0-1E19-2FF7-7390C9467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12366-B935-C749-A99F-87EDB32760F5}" type="slidenum">
              <a:rPr lang="en-DE" smtClean="0"/>
              <a:t>24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590929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3DB6C-1B67-581B-4D38-3D6A170EA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64AFE-5F59-004F-B8EC-6B5CC4261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B6D93-2375-F9A9-73D2-F5D92814B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093ED-582F-DB3D-A721-790077AA9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25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89397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EA829-804C-E41E-D2A8-A8706C551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5836C-D42F-13A1-3B02-9E5B9DD69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DA9DBD-730B-D44D-BD47-5878A3298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0D889-5E2B-ADA7-656D-F5BC96EAF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26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32251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A7578-9252-EF8C-E1F9-C4D79F96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412AB-E053-5699-0BFE-96BED6294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036A6-070D-0CCD-02EF-79ED70D27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13E44-22E2-4CFC-9820-93CF2BA8E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27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467320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1B094-825F-63C6-3F03-BFC71F891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13027-6C74-F44E-7170-B324AD212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C63AF-E864-60AA-3733-8BC0D709F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242B4-C32C-76F4-1773-74559A98DC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28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887065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5D656-423B-C058-CC8B-F82232A4E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D280D-D998-D725-D2E7-C3B2E6D5F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89364-7406-6E0D-7286-3B9721DB0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75333-D018-37C1-B567-775A0BFE2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29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871372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C1488-36E5-9EC0-2644-A2072CA68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A1633-2953-1993-8E0C-D30244CDF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DF2A8-1AB1-2C9F-077D-3D018447A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C1167-ABFD-8498-8D4A-DE085C68E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A2486-1E22-5E4E-BC60-09D5B86BA4C8}" type="slidenum">
              <a:rPr lang="en-DE" smtClean="0"/>
              <a:t>30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478207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B3A18-749F-19EC-1E97-C8246BCE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F7948-EF7F-01AE-56A9-C576874CD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88595-41B8-F5E5-E50A-12D9C64F3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0CA45-FFE7-1843-DC5E-0DF506478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31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533797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872D0-E007-A5CA-1582-49DF6B30F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96F4C-04B8-B73E-EC28-B8CDD08C5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3B745-8B09-B102-26B5-8E1A5EE2A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B20A9-9AF0-B996-8A8F-CD65FAB30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A2486-1E22-5E4E-BC60-09D5B86BA4C8}" type="slidenum">
              <a:rPr lang="en-DE" smtClean="0"/>
              <a:t>32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226762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46D3-317F-697C-6850-A17A56AF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1C621-4EC5-51EC-E2E7-28860FC4A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B86CB-95D0-A264-5AEB-F5632A822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AEAAD-16A2-BDE4-E27A-6293F8C7E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12366-B935-C749-A99F-87EDB32760F5}" type="slidenum">
              <a:rPr lang="en-DE" smtClean="0"/>
              <a:t>33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982000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5EE8D-7EA0-43C3-9F84-2BDDD15BB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E229A-EBEB-5C86-FCA5-BF128641B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A3922-1C84-C3AC-EE26-43D69C621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1EF6E-3B64-483E-3F5D-D4A19DB7B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34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475479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1BDCD-BD22-A436-B74C-BD65287D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43D6F-CE1A-B171-9C48-B76F61ADC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2DED2-3049-8623-E686-C8524E977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5AB28-777A-1DC7-B7A9-214CF3437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35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006035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81943-6081-E853-7D76-9ABDDE0C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2B6AE-12F2-B8CA-9F50-63F921D2D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DC94C-5CDA-C399-938A-6A18C9D8F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D9444-D344-DC9F-8C3A-1807BAFEE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36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041777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772BA-1D62-6EED-491A-590C2B544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0AA24F-9508-41E1-138C-D4EE32521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68249-500F-1035-5368-A0BD5A8A3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0B756-2250-2E49-53C6-8A5B84B0D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37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19447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8B7D0-3443-15D2-147E-14B05DE18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254AD-1867-7DF9-3585-018C0C6A6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80954-0111-1181-1A31-D48A592DA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46160-2828-6CC4-8AEA-22678B05B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38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09455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5405D-A801-53DA-4524-EA51B97B4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805F0-CC35-EEF2-03E3-27FD29191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6D7B0-9F22-D0D9-93ED-0E131A12B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39EA0-55D6-77D0-B097-5A3B51E95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A2486-1E22-5E4E-BC60-09D5B86BA4C8}" type="slidenum">
              <a:rPr lang="en-DE" smtClean="0"/>
              <a:t>39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920800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4A4BE-3958-5A1C-D914-0C47A77EC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E9809-735D-8480-B580-5C6AC4B87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EFF12-F38D-FCF2-347A-43D873198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48687-DD25-F016-B83E-88DB04A3F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40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434079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D8871-F6A8-D55A-2866-E4DCF671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C0034-DCE8-7B9E-4415-9426BA76C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8CB5A-E5E7-F8CC-25C1-F671FE944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47925-42D4-85DE-32E2-90C618D40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A2486-1E22-5E4E-BC60-09D5B86BA4C8}" type="slidenum">
              <a:rPr lang="en-DE" smtClean="0"/>
              <a:t>41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265016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A5403-F3E9-C8F5-D4BA-6B45DB20B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23FF40-37FC-80DF-1EBF-7A909CFC5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4541A4-0D66-C4CD-56B8-1751AE95D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6B8B3-4244-8BB9-783E-3B911B3B4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A2486-1E22-5E4E-BC60-09D5B86BA4C8}" type="slidenum">
              <a:rPr lang="en-DE" smtClean="0"/>
              <a:t>42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24448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C8586-2DE1-78A9-2919-D64E98330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CCC8C1-2F29-EFF6-7AF7-225CBB00C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C1AB4-09C0-5CFF-E5C1-FEAB8689D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C17B-6921-324D-97CD-F51D92E746D0}" type="datetimeFigureOut">
              <a:rPr lang="en-DE" smtClean="0"/>
              <a:t>09.03.26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C1235-3A26-7B28-844C-CE4D9D0E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65EDE-26EA-FD8E-3245-CD8AF1EA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24FBB-27BE-344A-B7B6-CA95EA81F93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75324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4A1A-9867-1E34-1B61-020B0C74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120DA-9AD9-619F-C990-C8A83E582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ED58-397A-BD2F-C4C8-D92751B7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C17B-6921-324D-97CD-F51D92E746D0}" type="datetimeFigureOut">
              <a:rPr lang="en-DE" smtClean="0"/>
              <a:t>09.03.26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7BA02-56B4-8349-8923-533AA992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5573D-A658-417B-7A2F-773DB3CE4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24FBB-27BE-344A-B7B6-CA95EA81F93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05050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AF37B-741E-399C-2DFE-A3B0A0DE6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EB677-AAA8-C6FA-EBF1-9C192AD60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FC8F2-99FF-AC5F-4DA0-2FF5E0173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C17B-6921-324D-97CD-F51D92E746D0}" type="datetimeFigureOut">
              <a:rPr lang="en-DE" smtClean="0"/>
              <a:t>09.03.26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D7452-3F60-32F0-DC2F-BB5D1945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C2042-6288-6E29-2E48-6D08765F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24FBB-27BE-344A-B7B6-CA95EA81F93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53409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CCF2D-E9BA-AFE9-82C8-C909DBC4F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3A70A-531D-3861-7BC6-503528D30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3DCBB-D48D-307C-AB0F-3CF0ED4AF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D07D3-E9C6-5BDB-CC99-CA84FBB76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C17B-6921-324D-97CD-F51D92E746D0}" type="datetimeFigureOut">
              <a:rPr lang="en-DE" smtClean="0"/>
              <a:t>09.03.26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91B65-C099-B3F8-9389-C658D1D2F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7269B-7B0F-9686-8387-98DA0571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24FBB-27BE-344A-B7B6-CA95EA81F93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423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EA80-C6BE-C1E6-F1E9-A8092AD36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A4F94-9071-1B2D-C029-23B3FD909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91624-6519-EAE9-CA76-BD77ABD28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AC987-CB3E-7929-FAF5-176D31F89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CD6D4-1C09-D41A-DA04-C8631E2F3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6A911E-42E7-2370-B6D8-472EDAAD7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C17B-6921-324D-97CD-F51D92E746D0}" type="datetimeFigureOut">
              <a:rPr lang="en-DE" smtClean="0"/>
              <a:t>09.03.26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7C9C1-73C1-0FC7-67D1-F0C0DA0F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0D773E-1BEA-C956-8E66-2CED7ACD3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24FBB-27BE-344A-B7B6-CA95EA81F93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145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620B-8A06-CDA1-2C0F-BE225CA7A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ECEE8F-C51B-625B-CA90-A246DE74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C17B-6921-324D-97CD-F51D92E746D0}" type="datetimeFigureOut">
              <a:rPr lang="en-DE" smtClean="0"/>
              <a:t>09.03.26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A4655-6A0C-4021-36B1-F3521CC71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BC9B7-419F-DC7E-394A-85D4C690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24FBB-27BE-344A-B7B6-CA95EA81F93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906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1BC68-0D6D-0823-E1FB-5A28F7E25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C17B-6921-324D-97CD-F51D92E746D0}" type="datetimeFigureOut">
              <a:rPr lang="en-DE" smtClean="0"/>
              <a:t>09.03.26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D2F2DF-E837-D0B1-71E3-75FA450B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91A50-B974-D529-4363-F62584CE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24FBB-27BE-344A-B7B6-CA95EA81F93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712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1BAC-D772-7124-D300-FB5B1289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2B6B4-B4CC-057E-DB25-3F40661BE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18D7B-DE9C-CB44-C73F-969F117F7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DF88C-56FA-7440-37CF-D1FDB9D5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C17B-6921-324D-97CD-F51D92E746D0}" type="datetimeFigureOut">
              <a:rPr lang="en-DE" smtClean="0"/>
              <a:t>09.03.26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F7389-4B54-1682-8558-CAC29302E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9514B-F09E-1C29-A136-EA7263C3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24FBB-27BE-344A-B7B6-CA95EA81F93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49165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E1F70-462B-0379-0561-4FC6588A4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24A5B2-6DED-A663-0E06-22C615AF0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2FB47-8EAD-3E8C-652D-229E7CB84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C8F82-357B-EF60-F57A-704618B5C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C17B-6921-324D-97CD-F51D92E746D0}" type="datetimeFigureOut">
              <a:rPr lang="en-DE" smtClean="0"/>
              <a:t>09.03.26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FAFC6-95A8-79FF-8B5A-B7673E539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043C9-BC51-19F8-6609-DFB5B6E86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24FBB-27BE-344A-B7B6-CA95EA81F93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5005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83A4-42FE-0B68-F90A-ED86510D4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3D7BC-9300-4946-9460-9012C775F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DE624-C252-ADEE-419B-A255CAFF9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C17B-6921-324D-97CD-F51D92E746D0}" type="datetimeFigureOut">
              <a:rPr lang="en-DE" smtClean="0"/>
              <a:t>09.03.26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EF0E4-AAC0-9279-24DD-C18D69823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D41D8-8624-9C7C-D288-8082997BC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24FBB-27BE-344A-B7B6-CA95EA81F93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85295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7B7A1E-C6CD-E578-EED9-CC3009CE2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65735-A691-1A76-4BAB-E008362E9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33B4D-F7E1-E5CC-16F3-2DCD1B906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C17B-6921-324D-97CD-F51D92E746D0}" type="datetimeFigureOut">
              <a:rPr lang="en-DE" smtClean="0"/>
              <a:t>09.03.26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3F18D-5457-302B-9005-41C1ED85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EC6B7-06DA-A38B-617B-A46CDECA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24FBB-27BE-344A-B7B6-CA95EA81F93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04122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0EFF99-1941-71AD-2761-535AA446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E7273-55F1-37B6-89F2-94A8A6BF9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B537E-9B9E-2FED-9813-8140F538C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EC17B-6921-324D-97CD-F51D92E746D0}" type="datetimeFigureOut">
              <a:rPr lang="en-DE" smtClean="0"/>
              <a:t>09.03.26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508AE-795C-64D6-5014-1A0E83A04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EF840-C255-4D47-D964-50AA515E8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24FBB-27BE-344A-B7B6-CA95EA81F93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2138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111/cobi.12948" TargetMode="External"/><Relationship Id="rId4" Type="http://schemas.openxmlformats.org/officeDocument/2006/relationships/hyperlink" Target="https://doi.org/10.3390/ani14020292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818C47-170A-74CB-4F5A-225F56C0BA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6" r="30464"/>
          <a:stretch/>
        </p:blipFill>
        <p:spPr>
          <a:xfrm>
            <a:off x="0" y="0"/>
            <a:ext cx="3356658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AB4F301-F582-70E6-B6AF-04AFFE221913}"/>
              </a:ext>
            </a:extLst>
          </p:cNvPr>
          <p:cNvSpPr txBox="1">
            <a:spLocks/>
          </p:cNvSpPr>
          <p:nvPr/>
        </p:nvSpPr>
        <p:spPr>
          <a:xfrm>
            <a:off x="3356658" y="1881051"/>
            <a:ext cx="8835341" cy="124023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GB" sz="1800" dirty="0">
                <a:latin typeface="Heiti SC Medium" pitchFamily="2" charset="-128"/>
                <a:ea typeface="Heiti SC Medium" pitchFamily="2" charset="-128"/>
              </a:rPr>
              <a:t>Understanding the compensation policy impact on local resident</a:t>
            </a:r>
            <a:r>
              <a:rPr lang="en-US" sz="1800" dirty="0">
                <a:latin typeface="Heiti SC Medium" pitchFamily="2" charset="-128"/>
                <a:ea typeface="Heiti SC Medium" pitchFamily="2" charset="-128"/>
              </a:rPr>
              <a:t>’</a:t>
            </a:r>
            <a:r>
              <a:rPr lang="en-GB" sz="1800" dirty="0">
                <a:latin typeface="Heiti SC Medium" pitchFamily="2" charset="-128"/>
                <a:ea typeface="Heiti SC Medium" pitchFamily="2" charset="-128"/>
              </a:rPr>
              <a:t>s </a:t>
            </a:r>
          </a:p>
          <a:p>
            <a:pPr algn="ctr">
              <a:lnSpc>
                <a:spcPct val="150000"/>
              </a:lnSpc>
            </a:pPr>
            <a:r>
              <a:rPr lang="en-GB" sz="1800" dirty="0">
                <a:latin typeface="Heiti SC Medium" pitchFamily="2" charset="-128"/>
                <a:ea typeface="Heiti SC Medium" pitchFamily="2" charset="-128"/>
              </a:rPr>
              <a:t>tolerance towards wild boars in Giant Panda National Park, China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921ACED-4D2E-2C30-9C48-691DB8DBD50F}"/>
              </a:ext>
            </a:extLst>
          </p:cNvPr>
          <p:cNvSpPr txBox="1">
            <a:spLocks/>
          </p:cNvSpPr>
          <p:nvPr/>
        </p:nvSpPr>
        <p:spPr>
          <a:xfrm>
            <a:off x="4961231" y="4659549"/>
            <a:ext cx="5626194" cy="1325107"/>
          </a:xfrm>
          <a:prstGeom prst="rect">
            <a:avLst/>
          </a:prstGeom>
        </p:spPr>
        <p:txBody>
          <a:bodyPr anchor="b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DE" sz="1800" dirty="0">
                <a:latin typeface="LMU CompatilFact"/>
                <a:ea typeface="SimSun" panose="02010600030101010101" pitchFamily="2" charset="-122"/>
                <a:cs typeface="Times New Roman" panose="02020603050405020304" pitchFamily="18" charset="0"/>
              </a:rPr>
              <a:t>Mengxi Kou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332C1E-4672-4669-9FF4-8ABF97263A41}"/>
              </a:ext>
            </a:extLst>
          </p:cNvPr>
          <p:cNvSpPr txBox="1">
            <a:spLocks/>
          </p:cNvSpPr>
          <p:nvPr/>
        </p:nvSpPr>
        <p:spPr>
          <a:xfrm>
            <a:off x="3373389" y="3144814"/>
            <a:ext cx="8835341" cy="170928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DE" sz="1800" dirty="0">
                <a:latin typeface="LMU CompatilFact"/>
                <a:ea typeface="SimSun" panose="02010600030101010101" pitchFamily="2" charset="-122"/>
                <a:cs typeface="Times New Roman" panose="02020603050405020304" pitchFamily="18" charset="0"/>
              </a:rPr>
              <a:t>StaBLab First Meeting</a:t>
            </a:r>
            <a:endParaRPr lang="en-US" sz="1800" dirty="0">
              <a:latin typeface="LMU CompatilFact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1BB515-D6AE-D633-9E93-675B3CFD7756}"/>
              </a:ext>
            </a:extLst>
          </p:cNvPr>
          <p:cNvCxnSpPr>
            <a:cxnSpLocks/>
          </p:cNvCxnSpPr>
          <p:nvPr/>
        </p:nvCxnSpPr>
        <p:spPr>
          <a:xfrm>
            <a:off x="3744686" y="3121289"/>
            <a:ext cx="809897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83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aphics: Biodiversity conservation in China">
            <a:extLst>
              <a:ext uri="{FF2B5EF4-FFF2-40B4-BE49-F238E27FC236}">
                <a16:creationId xmlns:a16="http://schemas.microsoft.com/office/drawing/2014/main" id="{679FACE9-630F-891E-45D7-3D9D98765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376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4B665569-7AAB-3693-8DD6-ADAC73C40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1429" y="2393621"/>
            <a:ext cx="3153881" cy="2099302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3BD9AD27-118E-2D06-2A2E-C61A3413BE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3" b="8980"/>
          <a:stretch>
            <a:fillRect/>
          </a:stretch>
        </p:blipFill>
        <p:spPr bwMode="auto">
          <a:xfrm>
            <a:off x="8751430" y="4552275"/>
            <a:ext cx="3163479" cy="210340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1E947E0-A6BF-7030-5105-54AE235E83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9" r="9481"/>
          <a:stretch/>
        </p:blipFill>
        <p:spPr bwMode="auto">
          <a:xfrm>
            <a:off x="8751792" y="194964"/>
            <a:ext cx="3153881" cy="211076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B7EE99-D2D9-35D3-DD18-00A61F76C6E6}"/>
              </a:ext>
            </a:extLst>
          </p:cNvPr>
          <p:cNvSpPr txBox="1"/>
          <p:nvPr/>
        </p:nvSpPr>
        <p:spPr>
          <a:xfrm>
            <a:off x="10013518" y="4270919"/>
            <a:ext cx="17351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800" b="1" i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Arial" panose="020B0604020202020204" pitchFamily="34" charset="0"/>
              </a:rPr>
              <a:t>© CCTV.COM</a:t>
            </a:r>
            <a:endParaRPr lang="en-DE" sz="8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1FE6B3-6382-B3F0-AB4B-51022D4D5B3B}"/>
              </a:ext>
            </a:extLst>
          </p:cNvPr>
          <p:cNvSpPr txBox="1"/>
          <p:nvPr/>
        </p:nvSpPr>
        <p:spPr>
          <a:xfrm>
            <a:off x="10013517" y="6433672"/>
            <a:ext cx="17351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800" b="1" i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Arial" panose="020B0604020202020204" pitchFamily="34" charset="0"/>
              </a:rPr>
              <a:t>© HONGXIA LIU</a:t>
            </a:r>
            <a:endParaRPr lang="en-DE" sz="8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1ECB6-C599-6F49-A24B-9ACF9744F882}"/>
              </a:ext>
            </a:extLst>
          </p:cNvPr>
          <p:cNvSpPr txBox="1"/>
          <p:nvPr/>
        </p:nvSpPr>
        <p:spPr>
          <a:xfrm>
            <a:off x="10013517" y="2083575"/>
            <a:ext cx="17351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800" b="1" i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Arial" panose="020B0604020202020204" pitchFamily="34" charset="0"/>
              </a:rPr>
              <a:t>© CCTV.COM</a:t>
            </a:r>
            <a:endParaRPr lang="en-DE" sz="8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426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22EAB-347E-8C9F-B2EC-6EACB9AE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3B9FB64-A58F-A64D-23D1-F77BC0441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799" y="727632"/>
            <a:ext cx="9004560" cy="54027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FA675C-EDFA-69CE-F670-E8955E761F9B}"/>
              </a:ext>
            </a:extLst>
          </p:cNvPr>
          <p:cNvSpPr txBox="1">
            <a:spLocks/>
          </p:cNvSpPr>
          <p:nvPr/>
        </p:nvSpPr>
        <p:spPr>
          <a:xfrm>
            <a:off x="109728" y="2647406"/>
            <a:ext cx="3076071" cy="3239588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50000"/>
              </a:lnSpc>
            </a:pPr>
            <a:r>
              <a:rPr lang="en-GB" sz="2000" dirty="0">
                <a:latin typeface="Heiti SC Medium" pitchFamily="2" charset="-128"/>
                <a:ea typeface="Heiti SC Medium" pitchFamily="2" charset="-128"/>
              </a:rPr>
              <a:t>Ranger Questionnaire</a:t>
            </a:r>
          </a:p>
          <a:p>
            <a:pPr algn="r">
              <a:lnSpc>
                <a:spcPct val="150000"/>
              </a:lnSpc>
            </a:pPr>
            <a:r>
              <a:rPr lang="en-GB" sz="2000" dirty="0">
                <a:latin typeface="Heiti SC Medium" pitchFamily="2" charset="-128"/>
                <a:ea typeface="Heiti SC Medium" pitchFamily="2" charset="-128"/>
              </a:rPr>
              <a:t>164 PAs in China</a:t>
            </a:r>
          </a:p>
          <a:p>
            <a:pPr algn="r">
              <a:lnSpc>
                <a:spcPct val="150000"/>
              </a:lnSpc>
            </a:pPr>
            <a:endParaRPr lang="en-GB" sz="2000" dirty="0">
              <a:latin typeface="Heiti SC Medium" pitchFamily="2" charset="-128"/>
              <a:ea typeface="Heiti SC Medium" pitchFamily="2" charset="-128"/>
            </a:endParaRPr>
          </a:p>
          <a:p>
            <a:pPr algn="r">
              <a:lnSpc>
                <a:spcPct val="150000"/>
              </a:lnSpc>
            </a:pPr>
            <a:r>
              <a:rPr lang="en-GB" sz="2000" dirty="0">
                <a:latin typeface="Heiti SC Medium" pitchFamily="2" charset="-128"/>
                <a:ea typeface="Heiti SC Medium" pitchFamily="2" charset="-128"/>
              </a:rPr>
              <a:t>Species ? </a:t>
            </a:r>
          </a:p>
          <a:p>
            <a:pPr algn="r">
              <a:lnSpc>
                <a:spcPct val="150000"/>
              </a:lnSpc>
            </a:pPr>
            <a:r>
              <a:rPr lang="en-GB" sz="2000" dirty="0">
                <a:latin typeface="Heiti SC Medium" pitchFamily="2" charset="-128"/>
                <a:ea typeface="Heiti SC Medium" pitchFamily="2" charset="-128"/>
              </a:rPr>
              <a:t>Incidents ?</a:t>
            </a:r>
          </a:p>
          <a:p>
            <a:pPr algn="r">
              <a:lnSpc>
                <a:spcPct val="150000"/>
              </a:lnSpc>
            </a:pPr>
            <a:r>
              <a:rPr lang="en-GB" sz="2000" dirty="0">
                <a:latin typeface="Heiti SC Medium" pitchFamily="2" charset="-128"/>
                <a:ea typeface="Heiti SC Medium" pitchFamily="2" charset="-128"/>
              </a:rPr>
              <a:t>Mitigation ?</a:t>
            </a:r>
          </a:p>
          <a:p>
            <a:pPr algn="r">
              <a:lnSpc>
                <a:spcPct val="150000"/>
              </a:lnSpc>
            </a:pPr>
            <a:r>
              <a:rPr lang="en-GB" sz="2000" dirty="0">
                <a:latin typeface="Heiti SC Medium" pitchFamily="2" charset="-128"/>
                <a:ea typeface="Heiti SC Medium" pitchFamily="2" charset="-128"/>
              </a:rPr>
              <a:t>Effectiveness 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CF17E14-437F-A85E-CC4B-B6DA566EBF0B}"/>
              </a:ext>
            </a:extLst>
          </p:cNvPr>
          <p:cNvSpPr txBox="1">
            <a:spLocks/>
          </p:cNvSpPr>
          <p:nvPr/>
        </p:nvSpPr>
        <p:spPr>
          <a:xfrm>
            <a:off x="287383" y="391735"/>
            <a:ext cx="519030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Human-wildlife Conflict in China</a:t>
            </a:r>
            <a:endParaRPr lang="en-GB" sz="2000" b="1" dirty="0">
              <a:latin typeface="Heiti SC Medium" pitchFamily="2" charset="-128"/>
              <a:ea typeface="Heiti SC Medium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2334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7DCB9-6752-931F-BA82-A4FD4F8F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3EEFDA-C0F4-F47E-E2A4-F422FB83F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6961"/>
            <a:ext cx="5596128" cy="5638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8B02BC-0C1B-5087-F017-857C5A97E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716" y="956961"/>
            <a:ext cx="5596128" cy="56382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9ECAEC-D07E-D2B2-6958-6DF2DB5A1575}"/>
              </a:ext>
            </a:extLst>
          </p:cNvPr>
          <p:cNvSpPr txBox="1">
            <a:spLocks/>
          </p:cNvSpPr>
          <p:nvPr/>
        </p:nvSpPr>
        <p:spPr>
          <a:xfrm>
            <a:off x="1790972" y="1371489"/>
            <a:ext cx="5122630" cy="878580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GB" sz="3200" kern="0" dirty="0">
                <a:solidFill>
                  <a:srgbClr val="C00000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Wild boar !!!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69D60CA-6296-46B7-0618-566A51DF772D}"/>
              </a:ext>
            </a:extLst>
          </p:cNvPr>
          <p:cNvSpPr txBox="1">
            <a:spLocks/>
          </p:cNvSpPr>
          <p:nvPr/>
        </p:nvSpPr>
        <p:spPr>
          <a:xfrm>
            <a:off x="6454057" y="3668375"/>
            <a:ext cx="5122630" cy="878580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GB" sz="3200" kern="0" dirty="0">
                <a:solidFill>
                  <a:srgbClr val="C00000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Omnivorous species !!!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1C565EF-8442-2410-452D-0D84FE3C36AF}"/>
              </a:ext>
            </a:extLst>
          </p:cNvPr>
          <p:cNvSpPr txBox="1">
            <a:spLocks/>
          </p:cNvSpPr>
          <p:nvPr/>
        </p:nvSpPr>
        <p:spPr>
          <a:xfrm>
            <a:off x="287383" y="391735"/>
            <a:ext cx="519030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Human-wildlife Conflict in China</a:t>
            </a:r>
            <a:endParaRPr lang="en-GB" sz="2000" b="1" dirty="0">
              <a:latin typeface="Heiti SC Medium" pitchFamily="2" charset="-128"/>
              <a:ea typeface="Heiti SC Medium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8334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DEB1-7019-32EB-51C4-9DBD8D190038}"/>
              </a:ext>
            </a:extLst>
          </p:cNvPr>
          <p:cNvSpPr txBox="1">
            <a:spLocks/>
          </p:cNvSpPr>
          <p:nvPr/>
        </p:nvSpPr>
        <p:spPr>
          <a:xfrm>
            <a:off x="287383" y="391735"/>
            <a:ext cx="519030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Compensation Policy</a:t>
            </a:r>
            <a:endParaRPr lang="en-GB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BBB436-9ADD-DE12-D2AF-A43924F17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499" y="-1"/>
            <a:ext cx="5143501" cy="6858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543F97-42B8-930F-10CF-513409E90EBD}"/>
              </a:ext>
            </a:extLst>
          </p:cNvPr>
          <p:cNvSpPr txBox="1"/>
          <p:nvPr/>
        </p:nvSpPr>
        <p:spPr>
          <a:xfrm>
            <a:off x="287383" y="1238181"/>
            <a:ext cx="640950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600" dirty="0">
                <a:latin typeface="Heiti TC Medium" pitchFamily="2" charset="-128"/>
                <a:ea typeface="Heiti TC Medium" pitchFamily="2" charset="-128"/>
              </a:rPr>
              <a:t>W</a:t>
            </a:r>
            <a:r>
              <a:rPr lang="en-GB" sz="1600" dirty="0">
                <a:latin typeface="Heiti TC Medium" pitchFamily="2" charset="-128"/>
                <a:ea typeface="Heiti TC Medium" pitchFamily="2" charset="-128"/>
              </a:rPr>
              <a:t>hile compensation can be effective, its success to increase tolerance to crop damage varies most likely based on farmers’ values and how they perceive administrative challenges (Hemminger et al. 2025 )</a:t>
            </a:r>
            <a:r>
              <a:rPr lang="en-US" sz="1600" dirty="0">
                <a:latin typeface="Heiti TC Medium" pitchFamily="2" charset="-128"/>
                <a:ea typeface="Heiti TC Medium" pitchFamily="2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Heiti TC Medium" pitchFamily="2" charset="-128"/>
              <a:ea typeface="Heiti TC Medium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eiti TC Medium" pitchFamily="2" charset="-128"/>
                <a:ea typeface="Heiti TC Medium" pitchFamily="2" charset="-128"/>
              </a:rPr>
              <a:t>Financial compensation for livestock losses is a key factor in improving human–leopard coexistence (</a:t>
            </a:r>
            <a:r>
              <a:rPr lang="en-US" sz="1600" dirty="0" err="1">
                <a:latin typeface="Heiti TC Medium" pitchFamily="2" charset="-128"/>
                <a:ea typeface="Heiti TC Medium" pitchFamily="2" charset="-128"/>
              </a:rPr>
              <a:t>Kichloo</a:t>
            </a:r>
            <a:r>
              <a:rPr lang="en-US" sz="1600" dirty="0">
                <a:latin typeface="Heiti TC Medium" pitchFamily="2" charset="-128"/>
                <a:ea typeface="Heiti TC Medium" pitchFamily="2" charset="-128"/>
              </a:rPr>
              <a:t> </a:t>
            </a:r>
            <a:r>
              <a:rPr lang="en-GB" sz="1600" dirty="0">
                <a:latin typeface="Heiti TC Medium" pitchFamily="2" charset="-128"/>
                <a:ea typeface="Heiti TC Medium" pitchFamily="2" charset="-128"/>
              </a:rPr>
              <a:t>et al. 2023</a:t>
            </a:r>
            <a:r>
              <a:rPr lang="en-US" sz="1600" dirty="0">
                <a:latin typeface="Heiti TC Medium" pitchFamily="2" charset="-128"/>
                <a:ea typeface="Heiti TC Medium" pitchFamily="2" charset="-128"/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Heiti TC Medium" pitchFamily="2" charset="-128"/>
              <a:ea typeface="Heiti TC Medium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eiti TC Medium" pitchFamily="2" charset="-128"/>
                <a:ea typeface="Heiti TC Medium" pitchFamily="2" charset="-128"/>
              </a:rPr>
              <a:t>Social customs, pastoral practices, and the present compensation mechanism were identified as being antithetical to conflict reduction and sustainable pastureland management (Poudel </a:t>
            </a:r>
            <a:r>
              <a:rPr lang="en-GB" sz="1600" dirty="0">
                <a:latin typeface="Heiti TC Medium" pitchFamily="2" charset="-128"/>
                <a:ea typeface="Heiti TC Medium" pitchFamily="2" charset="-128"/>
              </a:rPr>
              <a:t>et al. 2022</a:t>
            </a:r>
            <a:r>
              <a:rPr lang="en-US" sz="1600">
                <a:latin typeface="Heiti TC Medium" pitchFamily="2" charset="-128"/>
                <a:ea typeface="Heiti TC Medium" pitchFamily="2" charset="-128"/>
              </a:rPr>
              <a:t>).</a:t>
            </a:r>
            <a:endParaRPr lang="en-US" sz="1600" dirty="0">
              <a:latin typeface="Heiti TC Medium" pitchFamily="2" charset="-128"/>
              <a:ea typeface="Heiti TC Medium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Heiti TC Medium" pitchFamily="2" charset="-128"/>
              <a:ea typeface="Heiti TC Medium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Heiti TC Medium" pitchFamily="2" charset="-128"/>
              <a:ea typeface="Heiti TC Medium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iti TC Medium" pitchFamily="2" charset="-128"/>
                <a:ea typeface="Heiti TC Medium" pitchFamily="2" charset="-128"/>
              </a:rPr>
              <a:t>Compensation is failing to reconcile conservation and development priorities (Johnson et al. 2018).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latin typeface="Heiti TC Medium" pitchFamily="2" charset="-128"/>
              <a:ea typeface="Heiti TC Medium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3860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7BAE2-5AF5-B4D0-3EEE-E13326036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DCA405-9CDA-A77E-B0D7-885DD69D90EF}"/>
              </a:ext>
            </a:extLst>
          </p:cNvPr>
          <p:cNvSpPr txBox="1"/>
          <p:nvPr/>
        </p:nvSpPr>
        <p:spPr>
          <a:xfrm>
            <a:off x="545582" y="6219267"/>
            <a:ext cx="55504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Kansky, R., Kidd, M., &amp; Knight, A. T. (2016). A wildlife tolerance model and case study for understanding human wildlife conflicts. Biological Conservation, 201, 137-145. https://</a:t>
            </a:r>
            <a:r>
              <a:rPr lang="en-GB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doi.org</a:t>
            </a:r>
            <a:r>
              <a:rPr lang="en-GB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/10.1016/j.biocon.2016.07.002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13D00-AE36-DD9B-9966-9EC238BA6EA6}"/>
              </a:ext>
            </a:extLst>
          </p:cNvPr>
          <p:cNvSpPr txBox="1"/>
          <p:nvPr/>
        </p:nvSpPr>
        <p:spPr>
          <a:xfrm>
            <a:off x="6865890" y="1386887"/>
            <a:ext cx="45524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Wildlife Tolerance Model</a:t>
            </a:r>
          </a:p>
          <a:p>
            <a:pPr algn="ctr"/>
            <a:r>
              <a:rPr lang="en-GB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(WTM)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30418-D397-D758-866D-ACF7645E8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90" y="333932"/>
            <a:ext cx="5616210" cy="58853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81427D-FCB5-668B-A49E-45F4172CE86E}"/>
              </a:ext>
            </a:extLst>
          </p:cNvPr>
          <p:cNvSpPr txBox="1"/>
          <p:nvPr/>
        </p:nvSpPr>
        <p:spPr>
          <a:xfrm>
            <a:off x="6385010" y="2876489"/>
            <a:ext cx="27570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cs typeface="+mj-cs"/>
              </a:rPr>
              <a:t>Outer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76C60-9307-7436-0097-831399673A60}"/>
              </a:ext>
            </a:extLst>
          </p:cNvPr>
          <p:cNvSpPr txBox="1"/>
          <p:nvPr/>
        </p:nvSpPr>
        <p:spPr>
          <a:xfrm>
            <a:off x="9142092" y="2876489"/>
            <a:ext cx="27570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Inner Model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B5E80BD7-FF16-3640-DF20-91125E816918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8061964" y="1796360"/>
            <a:ext cx="781716" cy="13785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86B0A5C1-C9DF-0C47-2525-2A68527239AE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16200000" flipH="1">
            <a:off x="9440505" y="1796361"/>
            <a:ext cx="781716" cy="13785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BDA0178-0562-20FC-04C8-3687C2D4C391}"/>
              </a:ext>
            </a:extLst>
          </p:cNvPr>
          <p:cNvSpPr txBox="1"/>
          <p:nvPr/>
        </p:nvSpPr>
        <p:spPr>
          <a:xfrm>
            <a:off x="7763551" y="4058315"/>
            <a:ext cx="27570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cs typeface="+mj-cs"/>
              </a:rPr>
              <a:t>Policy perspective?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B0FC5B19-4373-9ACA-40EA-210D2AF8924A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rot="5400000">
            <a:off x="8160322" y="3076544"/>
            <a:ext cx="1963542" cy="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A652F4E-8E67-43F9-63A9-89538533253A}"/>
              </a:ext>
            </a:extLst>
          </p:cNvPr>
          <p:cNvSpPr txBox="1"/>
          <p:nvPr/>
        </p:nvSpPr>
        <p:spPr>
          <a:xfrm>
            <a:off x="6385010" y="5074226"/>
            <a:ext cx="55141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cs typeface="+mj-cs"/>
              </a:rPr>
              <a:t>Our aim is to see the relationship between compensation policy and tolerance.</a:t>
            </a:r>
          </a:p>
        </p:txBody>
      </p:sp>
    </p:spTree>
    <p:extLst>
      <p:ext uri="{BB962C8B-B14F-4D97-AF65-F5344CB8AC3E}">
        <p14:creationId xmlns:p14="http://schemas.microsoft.com/office/powerpoint/2010/main" val="4246869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D314A-E81B-C67C-70D9-B0E682C7B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6887A-E99A-BF39-CA62-E178604B633C}"/>
              </a:ext>
            </a:extLst>
          </p:cNvPr>
          <p:cNvSpPr txBox="1">
            <a:spLocks/>
          </p:cNvSpPr>
          <p:nvPr/>
        </p:nvSpPr>
        <p:spPr>
          <a:xfrm>
            <a:off x="3356658" y="1558858"/>
            <a:ext cx="8835342" cy="305934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200000"/>
              </a:lnSpc>
            </a:pPr>
            <a:r>
              <a:rPr lang="en-US" sz="4000" b="1" dirty="0">
                <a:latin typeface="Heiti SC Medium" pitchFamily="2" charset="-128"/>
                <a:ea typeface="Heiti SC Medium" pitchFamily="2" charset="-128"/>
              </a:rPr>
              <a:t>Household Questionnaire</a:t>
            </a:r>
            <a:endParaRPr lang="en-GB" sz="2000" dirty="0">
              <a:latin typeface="Heiti SC Medium" pitchFamily="2" charset="-128"/>
              <a:ea typeface="Heiti SC Medium" pitchFamily="2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3F1AF-863D-11F8-BBED-D5920C71A0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6" r="30464"/>
          <a:stretch/>
        </p:blipFill>
        <p:spPr>
          <a:xfrm>
            <a:off x="0" y="0"/>
            <a:ext cx="3356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503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854A9-A330-AF6E-A7EC-D4BBA2E96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76FD3F-D104-D100-DCB0-9A9B27A7A4B1}"/>
              </a:ext>
            </a:extLst>
          </p:cNvPr>
          <p:cNvSpPr txBox="1"/>
          <p:nvPr/>
        </p:nvSpPr>
        <p:spPr>
          <a:xfrm>
            <a:off x="360925" y="1270162"/>
            <a:ext cx="4768424" cy="3943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Heiti SC Medium" pitchFamily="2" charset="-128"/>
                <a:ea typeface="Heiti SC Medium" pitchFamily="2" charset="-128"/>
                <a:cs typeface="+mj-cs"/>
              </a:rPr>
              <a:t>Time period: </a:t>
            </a:r>
          </a:p>
          <a:p>
            <a:pPr indent="319088">
              <a:lnSpc>
                <a:spcPct val="200000"/>
              </a:lnSpc>
            </a:pPr>
            <a:r>
              <a:rPr lang="en-GB" sz="1600" dirty="0">
                <a:latin typeface="Heiti SC Medium" pitchFamily="2" charset="-128"/>
                <a:ea typeface="Heiti SC Medium" pitchFamily="2" charset="-128"/>
              </a:rPr>
              <a:t>Baoxing: </a:t>
            </a:r>
            <a:r>
              <a:rPr lang="en-GB" sz="1600" dirty="0">
                <a:latin typeface="Heiti SC Medium" pitchFamily="2" charset="-128"/>
                <a:ea typeface="Heiti SC Medium" pitchFamily="2" charset="-128"/>
                <a:cs typeface="+mj-cs"/>
              </a:rPr>
              <a:t>2024.08.15 - 2024.08.31 (n=195)</a:t>
            </a:r>
          </a:p>
          <a:p>
            <a:pPr indent="319088">
              <a:lnSpc>
                <a:spcPct val="200000"/>
              </a:lnSpc>
            </a:pPr>
            <a:r>
              <a:rPr lang="en-GB" sz="1600" dirty="0">
                <a:latin typeface="Heiti SC Medium" pitchFamily="2" charset="-128"/>
                <a:ea typeface="Heiti SC Medium" pitchFamily="2" charset="-128"/>
                <a:cs typeface="+mj-cs"/>
              </a:rPr>
              <a:t>Qingchuan: 2025.03.10 - 2025.04.10 (n=479)</a:t>
            </a:r>
          </a:p>
          <a:p>
            <a:pPr>
              <a:lnSpc>
                <a:spcPct val="200000"/>
              </a:lnSpc>
            </a:pPr>
            <a:endParaRPr lang="en-GB" sz="1600" dirty="0">
              <a:latin typeface="Heiti SC Medium" pitchFamily="2" charset="-128"/>
              <a:ea typeface="Heiti SC Medium" pitchFamily="2" charset="-128"/>
              <a:cs typeface="+mj-cs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Heiti SC Medium" pitchFamily="2" charset="-128"/>
                <a:ea typeface="Heiti SC Medium" pitchFamily="2" charset="-128"/>
                <a:cs typeface="+mj-cs"/>
              </a:rPr>
              <a:t>Target people: Local residents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 dirty="0">
              <a:latin typeface="Heiti SC Medium" pitchFamily="2" charset="-128"/>
              <a:ea typeface="Heiti SC Medium" pitchFamily="2" charset="-128"/>
              <a:cs typeface="+mj-cs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Heiti SC Medium" pitchFamily="2" charset="-128"/>
                <a:ea typeface="Heiti SC Medium" pitchFamily="2" charset="-128"/>
                <a:cs typeface="+mj-cs"/>
              </a:rPr>
              <a:t>Interviewer: Staff of Sichuan Province Forestry and Grassland Administration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D0820EE-1C45-6629-F062-DA6E9F62A907}"/>
              </a:ext>
            </a:extLst>
          </p:cNvPr>
          <p:cNvSpPr txBox="1">
            <a:spLocks/>
          </p:cNvSpPr>
          <p:nvPr/>
        </p:nvSpPr>
        <p:spPr>
          <a:xfrm>
            <a:off x="717977" y="391735"/>
            <a:ext cx="2983130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Basic Information</a:t>
            </a:r>
            <a:endParaRPr lang="en-GB" sz="2000" dirty="0">
              <a:latin typeface="Heiti SC Medium" pitchFamily="2" charset="-128"/>
              <a:ea typeface="Heiti SC Medium" pitchFamily="2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FC06B3-D506-352D-EA30-D5C9E9131BC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414"/>
          <a:stretch>
            <a:fillRect/>
          </a:stretch>
        </p:blipFill>
        <p:spPr bwMode="auto">
          <a:xfrm>
            <a:off x="5416729" y="1"/>
            <a:ext cx="6775270" cy="35235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695D9E-1076-2E46-7512-8397F06C52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200"/>
          <a:stretch>
            <a:fillRect/>
          </a:stretch>
        </p:blipFill>
        <p:spPr bwMode="auto">
          <a:xfrm>
            <a:off x="5416730" y="3467738"/>
            <a:ext cx="6775269" cy="33902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06441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BB667-3632-9AA0-4DE6-1B6E7123A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488009D6-E739-10F6-66B2-4B2068A63A2A}"/>
              </a:ext>
            </a:extLst>
          </p:cNvPr>
          <p:cNvSpPr txBox="1">
            <a:spLocks/>
          </p:cNvSpPr>
          <p:nvPr/>
        </p:nvSpPr>
        <p:spPr>
          <a:xfrm>
            <a:off x="717976" y="391735"/>
            <a:ext cx="6753977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Sociodemographic Information</a:t>
            </a:r>
            <a:endParaRPr lang="en-GB" sz="2000" dirty="0">
              <a:latin typeface="Heiti SC Medium" pitchFamily="2" charset="-128"/>
              <a:ea typeface="Heiti SC Medium" pitchFamily="2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875DD1-72E1-B967-3A82-B372D0E69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323102"/>
              </p:ext>
            </p:extLst>
          </p:nvPr>
        </p:nvGraphicFramePr>
        <p:xfrm>
          <a:off x="717977" y="1062567"/>
          <a:ext cx="10707669" cy="5403698"/>
        </p:xfrm>
        <a:graphic>
          <a:graphicData uri="http://schemas.openxmlformats.org/drawingml/2006/table">
            <a:tbl>
              <a:tblPr firstRow="1" firstCol="1"/>
              <a:tblGrid>
                <a:gridCol w="1529667">
                  <a:extLst>
                    <a:ext uri="{9D8B030D-6E8A-4147-A177-3AD203B41FA5}">
                      <a16:colId xmlns:a16="http://schemas.microsoft.com/office/drawing/2014/main" val="22314545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3468744446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1140580838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3454825107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3573877533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547303982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3731884190"/>
                    </a:ext>
                  </a:extLst>
                </a:gridCol>
              </a:tblGrid>
              <a:tr h="294163"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Baoxing County (n=160)</a:t>
                      </a: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Qingchuan County (n=465)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(n=625)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858962"/>
                  </a:ext>
                </a:extLst>
              </a:tr>
              <a:tr h="294163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 (%)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 (%)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 (%)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89127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12625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40's and below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84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13.4%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46969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50's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62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38.8%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177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38.1%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239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38.2%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98372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60's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30.0%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138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29.7%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186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29.8%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86784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70's and above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21.3%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82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17.6%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116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18.6%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97891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Gender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98892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99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61.9%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72.3%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435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69.6%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86607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38.1%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129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27.7%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190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30.4%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69882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700744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formal education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27.5%</a:t>
                      </a:r>
                      <a:endParaRPr lang="en-DE" sz="1000" kern="100" dirty="0">
                        <a:solidFill>
                          <a:srgbClr val="C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9.7%</a:t>
                      </a:r>
                      <a:endParaRPr lang="en-DE" sz="1000" kern="100" dirty="0">
                        <a:solidFill>
                          <a:srgbClr val="C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14.2%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12831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Primary school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39.4%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185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39.8%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248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39.7%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07840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Middle school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26.3%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179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38.5%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221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35.4%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79693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High school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8.8%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7.8%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58797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University and above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3.2%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2.9%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11776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Household population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12895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1-3 persons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55.0%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247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53.1%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335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53.6%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10137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4-6 persons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40.6%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209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44.9%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274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43.8%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40687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 persons and above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4.4%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88051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Annual Household Income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447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20534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– 10000 RMB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41.3%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124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26.7%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190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30.4%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13736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10001 – 20000 RMB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19.4%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23.0%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138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22.1%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85230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20001 – 30000 RMB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15.6%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19.1%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114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18.2%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97126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More than 30000 RMB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23.8%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145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31.2%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183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29.3%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645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495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CA4D1-4218-004F-4C41-BAF07DA5C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33945A24-74B2-EA55-069D-42BFD89D388A}"/>
              </a:ext>
            </a:extLst>
          </p:cNvPr>
          <p:cNvSpPr txBox="1">
            <a:spLocks/>
          </p:cNvSpPr>
          <p:nvPr/>
        </p:nvSpPr>
        <p:spPr>
          <a:xfrm>
            <a:off x="717976" y="391735"/>
            <a:ext cx="6753977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Sociodemographic Information</a:t>
            </a:r>
            <a:endParaRPr lang="en-GB" sz="2000" dirty="0">
              <a:latin typeface="Heiti SC Medium" pitchFamily="2" charset="-128"/>
              <a:ea typeface="Heiti SC Medium" pitchFamily="2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33DAA1-F673-0D6E-AF73-0B9373368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344020"/>
              </p:ext>
            </p:extLst>
          </p:nvPr>
        </p:nvGraphicFramePr>
        <p:xfrm>
          <a:off x="717977" y="1062567"/>
          <a:ext cx="10707669" cy="5403698"/>
        </p:xfrm>
        <a:graphic>
          <a:graphicData uri="http://schemas.openxmlformats.org/drawingml/2006/table">
            <a:tbl>
              <a:tblPr firstRow="1" firstCol="1"/>
              <a:tblGrid>
                <a:gridCol w="1529667">
                  <a:extLst>
                    <a:ext uri="{9D8B030D-6E8A-4147-A177-3AD203B41FA5}">
                      <a16:colId xmlns:a16="http://schemas.microsoft.com/office/drawing/2014/main" val="22314545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3468744446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1140580838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3454825107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3573877533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547303982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3731884190"/>
                    </a:ext>
                  </a:extLst>
                </a:gridCol>
              </a:tblGrid>
              <a:tr h="294163"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lang="zh-CN" altLang="en-US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Compensation (n=277)</a:t>
                      </a:r>
                      <a:endParaRPr lang="en-DE" sz="1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Without</a:t>
                      </a:r>
                      <a:r>
                        <a:rPr lang="zh-CN" altLang="en-US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Compensation (n=348)</a:t>
                      </a:r>
                      <a:endParaRPr lang="en-DE" sz="1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(n=625)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858962"/>
                  </a:ext>
                </a:extLst>
              </a:tr>
              <a:tr h="294163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 (%)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 (%)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 (%)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89127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12625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40's and below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11.9%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14.7%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13.4%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46969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50's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40.4%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36.5%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38.2%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98372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60's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33.9%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26.4%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29.8%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86784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70's and above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13.7%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22.4%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18.6%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97891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Gender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98892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71.8%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67.8%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69.6%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86607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28.2%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32.2%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30.4%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69882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700744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formal education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14.8%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13.8%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14.2%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12831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Primary school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36.8%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42.0%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39.7%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07840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Middle school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36.1%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34.8%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35.4%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79693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High school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9.0%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6.9%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7.8%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58797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University and above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3.2%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2.6%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2.9%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11776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Household population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12895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1-3 persons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54.9%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52.6%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53.6%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10137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4-6 persons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42.6%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44.8%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274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43.8%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40687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 persons and above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2.5%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2.6%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2.6%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88051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Annual Household Income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20534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– 10000 RMB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28.5%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31.9%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30.4%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13736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10001 – 20000 RMB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22.7%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21.6%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22.1%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85230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20001 – 30000 RMB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18.8%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17.8%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18.2%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97126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More than 30000 RMB</a:t>
                      </a:r>
                      <a:endParaRPr lang="en-DE" sz="1000" kern="1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30.0%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28.7%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29.3%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645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1480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AD7BDE-89D4-B5A2-43FC-B63805532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76" y="1545599"/>
            <a:ext cx="7181773" cy="46253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1DE217-E46E-DEE6-CBFC-86FFE7EB49F6}"/>
              </a:ext>
            </a:extLst>
          </p:cNvPr>
          <p:cNvGraphicFramePr>
            <a:graphicFrameLocks noGrp="1"/>
          </p:cNvGraphicFramePr>
          <p:nvPr/>
        </p:nvGraphicFramePr>
        <p:xfrm>
          <a:off x="8410756" y="2809459"/>
          <a:ext cx="2415396" cy="2987490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805132">
                  <a:extLst>
                    <a:ext uri="{9D8B030D-6E8A-4147-A177-3AD203B41FA5}">
                      <a16:colId xmlns:a16="http://schemas.microsoft.com/office/drawing/2014/main" val="3145314532"/>
                    </a:ext>
                  </a:extLst>
                </a:gridCol>
                <a:gridCol w="805132">
                  <a:extLst>
                    <a:ext uri="{9D8B030D-6E8A-4147-A177-3AD203B41FA5}">
                      <a16:colId xmlns:a16="http://schemas.microsoft.com/office/drawing/2014/main" val="61872479"/>
                    </a:ext>
                  </a:extLst>
                </a:gridCol>
                <a:gridCol w="805132">
                  <a:extLst>
                    <a:ext uri="{9D8B030D-6E8A-4147-A177-3AD203B41FA5}">
                      <a16:colId xmlns:a16="http://schemas.microsoft.com/office/drawing/2014/main" val="1271293802"/>
                    </a:ext>
                  </a:extLst>
                </a:gridCol>
              </a:tblGrid>
              <a:tr h="27159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Top 10 words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6423732"/>
                  </a:ext>
                </a:extLst>
              </a:tr>
              <a:tr h="2715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讨厌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nasty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3776684"/>
                  </a:ext>
                </a:extLst>
              </a:tr>
              <a:tr h="2715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害怕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afraid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9133438"/>
                  </a:ext>
                </a:extLst>
              </a:tr>
              <a:tr h="2715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吃庄稼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eat corps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76490050"/>
                  </a:ext>
                </a:extLst>
              </a:tr>
              <a:tr h="2715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可恶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horrid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55595509"/>
                  </a:ext>
                </a:extLst>
              </a:tr>
              <a:tr h="2715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厌恶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disgusted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4720210"/>
                  </a:ext>
                </a:extLst>
              </a:tr>
              <a:tr h="2715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凶猛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ferocious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9224844"/>
                  </a:ext>
                </a:extLst>
              </a:tr>
              <a:tr h="2715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糟蹋庄稼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destroy crops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60481157"/>
                  </a:ext>
                </a:extLst>
              </a:tr>
              <a:tr h="2715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可怕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terrifying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620491"/>
                  </a:ext>
                </a:extLst>
              </a:tr>
              <a:tr h="2715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烦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annoyed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2508393"/>
                  </a:ext>
                </a:extLst>
              </a:tr>
              <a:tr h="2715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吓人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scary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2244084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EB4CFA1E-FBBD-9988-344B-1C428A93EED0}"/>
              </a:ext>
            </a:extLst>
          </p:cNvPr>
          <p:cNvSpPr txBox="1">
            <a:spLocks/>
          </p:cNvSpPr>
          <p:nvPr/>
        </p:nvSpPr>
        <p:spPr>
          <a:xfrm>
            <a:off x="717976" y="391735"/>
            <a:ext cx="10108175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Basic Description</a:t>
            </a:r>
            <a:endParaRPr lang="en-GB" sz="2000" dirty="0">
              <a:latin typeface="Heiti SC Medium" pitchFamily="2" charset="-128"/>
              <a:ea typeface="Heiti SC Medium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4156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2D31D-2E07-FA4A-A6C6-CB6BDCDC5602}"/>
              </a:ext>
            </a:extLst>
          </p:cNvPr>
          <p:cNvSpPr txBox="1">
            <a:spLocks/>
          </p:cNvSpPr>
          <p:nvPr/>
        </p:nvSpPr>
        <p:spPr>
          <a:xfrm>
            <a:off x="717976" y="391735"/>
            <a:ext cx="10108175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Compensation Description</a:t>
            </a:r>
            <a:endParaRPr lang="en-GB" sz="2000" dirty="0">
              <a:latin typeface="Heiti SC Medium" pitchFamily="2" charset="-128"/>
              <a:ea typeface="Heiti SC Medium" pitchFamily="2" charset="-12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897467-03EF-AD8B-F15E-BEBD7B8D7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640310"/>
              </p:ext>
            </p:extLst>
          </p:nvPr>
        </p:nvGraphicFramePr>
        <p:xfrm>
          <a:off x="717977" y="1062567"/>
          <a:ext cx="10716300" cy="4062715"/>
        </p:xfrm>
        <a:graphic>
          <a:graphicData uri="http://schemas.openxmlformats.org/drawingml/2006/table">
            <a:tbl>
              <a:tblPr firstRow="1" firstCol="1"/>
              <a:tblGrid>
                <a:gridCol w="2794344">
                  <a:extLst>
                    <a:ext uri="{9D8B030D-6E8A-4147-A177-3AD203B41FA5}">
                      <a16:colId xmlns:a16="http://schemas.microsoft.com/office/drawing/2014/main" val="22314545"/>
                    </a:ext>
                  </a:extLst>
                </a:gridCol>
                <a:gridCol w="1320326">
                  <a:extLst>
                    <a:ext uri="{9D8B030D-6E8A-4147-A177-3AD203B41FA5}">
                      <a16:colId xmlns:a16="http://schemas.microsoft.com/office/drawing/2014/main" val="3468744446"/>
                    </a:ext>
                  </a:extLst>
                </a:gridCol>
                <a:gridCol w="1320326">
                  <a:extLst>
                    <a:ext uri="{9D8B030D-6E8A-4147-A177-3AD203B41FA5}">
                      <a16:colId xmlns:a16="http://schemas.microsoft.com/office/drawing/2014/main" val="1140580838"/>
                    </a:ext>
                  </a:extLst>
                </a:gridCol>
                <a:gridCol w="1320326">
                  <a:extLst>
                    <a:ext uri="{9D8B030D-6E8A-4147-A177-3AD203B41FA5}">
                      <a16:colId xmlns:a16="http://schemas.microsoft.com/office/drawing/2014/main" val="3454825107"/>
                    </a:ext>
                  </a:extLst>
                </a:gridCol>
                <a:gridCol w="1320326">
                  <a:extLst>
                    <a:ext uri="{9D8B030D-6E8A-4147-A177-3AD203B41FA5}">
                      <a16:colId xmlns:a16="http://schemas.microsoft.com/office/drawing/2014/main" val="3573877533"/>
                    </a:ext>
                  </a:extLst>
                </a:gridCol>
                <a:gridCol w="1320326">
                  <a:extLst>
                    <a:ext uri="{9D8B030D-6E8A-4147-A177-3AD203B41FA5}">
                      <a16:colId xmlns:a16="http://schemas.microsoft.com/office/drawing/2014/main" val="3649700305"/>
                    </a:ext>
                  </a:extLst>
                </a:gridCol>
                <a:gridCol w="1320326">
                  <a:extLst>
                    <a:ext uri="{9D8B030D-6E8A-4147-A177-3AD203B41FA5}">
                      <a16:colId xmlns:a16="http://schemas.microsoft.com/office/drawing/2014/main" val="1344108433"/>
                    </a:ext>
                  </a:extLst>
                </a:gridCol>
              </a:tblGrid>
              <a:tr h="294163"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lang="zh-CN" altLang="en-US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Compensation (n=277)</a:t>
                      </a:r>
                      <a:endParaRPr lang="en-DE" sz="1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Without</a:t>
                      </a:r>
                      <a:r>
                        <a:rPr lang="zh-CN" altLang="en-US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Compensation (n=348)</a:t>
                      </a:r>
                      <a:endParaRPr lang="en-DE" sz="1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(n=625)</a:t>
                      </a:r>
                      <a:endParaRPr lang="en-DE" sz="1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DE" sz="1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858962"/>
                  </a:ext>
                </a:extLst>
              </a:tr>
              <a:tr h="209364">
                <a:tc v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Mean 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Median 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Mean 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Median 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Mean 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Median 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03088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TC1: Estimated areas of damaged cropland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2.86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2.45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1.10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2.63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1.50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12625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7938" indent="0">
                        <a:lnSpc>
                          <a:spcPct val="150000"/>
                        </a:lnSpc>
                        <a:buNone/>
                        <a:tabLst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TC2: Perceived economic loss</a:t>
                      </a:r>
                      <a:endParaRPr lang="en-DE" sz="1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3387.69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1700.00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4105.26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1200.00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3787.23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1500.00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98372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7938" indent="0">
                        <a:lnSpc>
                          <a:spcPct val="150000"/>
                        </a:lnSpc>
                        <a:buNone/>
                        <a:tabLst/>
                      </a:pPr>
                      <a:endParaRPr lang="en-DE" sz="1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59435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7938" indent="0">
                        <a:lnSpc>
                          <a:spcPct val="150000"/>
                        </a:lnSpc>
                        <a:buNone/>
                        <a:tabLst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CA1: Lowest accepted compensation percentage</a:t>
                      </a:r>
                      <a:endParaRPr lang="en-DE" sz="1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0.63</a:t>
                      </a: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0.50</a:t>
                      </a: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0.70</a:t>
                      </a: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0.50</a:t>
                      </a: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0.67</a:t>
                      </a: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0.50</a:t>
                      </a: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97891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CA2: Expected compensation percentage</a:t>
                      </a:r>
                      <a:endParaRPr lang="en-DE" sz="1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98892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7938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CA3: Annual insurunce payment</a:t>
                      </a: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227.42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80.00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72.05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80.00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140.91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80.00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86607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69882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Compensation </a:t>
                      </a: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Timeliness</a:t>
                      </a:r>
                      <a:endParaRPr lang="en-DE" sz="1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 (%)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700744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177800" indent="0">
                        <a:lnSpc>
                          <a:spcPct val="115000"/>
                        </a:lnSpc>
                        <a:buNone/>
                        <a:tabLst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Untimely 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65.0%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12831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177800" indent="0">
                        <a:lnSpc>
                          <a:spcPct val="115000"/>
                        </a:lnSpc>
                        <a:buNone/>
                        <a:tabLst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Moderate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20.9%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07840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177800" indent="0">
                        <a:lnSpc>
                          <a:spcPct val="115000"/>
                        </a:lnSpc>
                        <a:buNone/>
                        <a:tabLst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Timely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14.1%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79693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58797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7938" indent="0">
                        <a:lnSpc>
                          <a:spcPct val="150000"/>
                        </a:lnSpc>
                        <a:buNone/>
                        <a:tabLst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Compensation Satisfaction</a:t>
                      </a: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 (%)</a:t>
                      </a: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11776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177800" indent="0">
                        <a:lnSpc>
                          <a:spcPct val="115000"/>
                        </a:lnSpc>
                        <a:buNone/>
                        <a:tabLst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Dissatisfied 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207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74.7%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12895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177800" indent="0">
                        <a:lnSpc>
                          <a:spcPct val="115000"/>
                        </a:lnSpc>
                        <a:buNone/>
                        <a:tabLst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Moderate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16.6%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10137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177800" indent="0">
                        <a:lnSpc>
                          <a:spcPct val="115000"/>
                        </a:lnSpc>
                        <a:buNone/>
                        <a:tabLst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Satisfied</a:t>
                      </a: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40687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204470">
                        <a:lnSpc>
                          <a:spcPct val="150000"/>
                        </a:lnSpc>
                        <a:buNone/>
                      </a:pPr>
                      <a:endParaRPr lang="en-DE" sz="10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DE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645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191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78830-1726-9527-0F9E-FA34E65F0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E8C795-EAC7-D4D4-B139-176DAD8FD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452915"/>
              </p:ext>
            </p:extLst>
          </p:nvPr>
        </p:nvGraphicFramePr>
        <p:xfrm>
          <a:off x="717976" y="968667"/>
          <a:ext cx="10707669" cy="5768936"/>
        </p:xfrm>
        <a:graphic>
          <a:graphicData uri="http://schemas.openxmlformats.org/drawingml/2006/table">
            <a:tbl>
              <a:tblPr firstRow="1" firstCol="1"/>
              <a:tblGrid>
                <a:gridCol w="1529667">
                  <a:extLst>
                    <a:ext uri="{9D8B030D-6E8A-4147-A177-3AD203B41FA5}">
                      <a16:colId xmlns:a16="http://schemas.microsoft.com/office/drawing/2014/main" val="22314545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3468744446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1140580838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3454825107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3573877533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547303982"/>
                    </a:ext>
                  </a:extLst>
                </a:gridCol>
                <a:gridCol w="1529667">
                  <a:extLst>
                    <a:ext uri="{9D8B030D-6E8A-4147-A177-3AD203B41FA5}">
                      <a16:colId xmlns:a16="http://schemas.microsoft.com/office/drawing/2014/main" val="3731884190"/>
                    </a:ext>
                  </a:extLst>
                </a:gridCol>
              </a:tblGrid>
              <a:tr h="180000"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9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DE" sz="9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lang="zh-CN" altLang="en-US" sz="9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Compensation (n=277)</a:t>
                      </a:r>
                      <a:endParaRPr lang="en-DE" sz="9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Without</a:t>
                      </a:r>
                      <a:r>
                        <a:rPr lang="zh-CN" altLang="en-US" sz="9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Compensation </a:t>
                      </a:r>
                      <a:r>
                        <a:rPr lang="en-US" altLang="zh-CN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(n=348)</a:t>
                      </a:r>
                      <a:endParaRPr lang="en-DE" sz="9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(n=625)</a:t>
                      </a:r>
                      <a:endParaRPr lang="en-DE" sz="9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85896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DE" sz="9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 (%)</a:t>
                      </a:r>
                      <a:endParaRPr lang="en-DE" sz="9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DE" sz="9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 (%)</a:t>
                      </a:r>
                      <a:endParaRPr lang="en-DE" sz="9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DE" sz="9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kern="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 (%)</a:t>
                      </a:r>
                      <a:endParaRPr lang="en-DE" sz="9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891271"/>
                  </a:ext>
                </a:extLst>
              </a:tr>
              <a:tr h="180000">
                <a:tc gridSpan="7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IB: Do you agree with that wild boars are an important part of the forest?</a:t>
                      </a:r>
                      <a:r>
                        <a:rPr lang="en-US" sz="900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 </a:t>
                      </a:r>
                      <a:endParaRPr lang="en-DE" sz="9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12625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Strongly Disagree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35.7%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20.7%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27.4%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4696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Disagree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33.9%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38.5%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36.5%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9837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Neutral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16.6%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17.8%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17.3%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86784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13.0%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22.4%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18.2%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97891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Strongly 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871465"/>
                  </a:ext>
                </a:extLst>
              </a:tr>
              <a:tr h="180000">
                <a:tc gridSpan="7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Tolerance</a:t>
                      </a:r>
                      <a:r>
                        <a:rPr lang="en-US" altLang="zh-CN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1:</a:t>
                      </a:r>
                      <a:r>
                        <a:rPr lang="zh-CN" altLang="en-US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I support non-lethal management strategies for wild boars (e.g., relocation, fencing)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98892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Strongly Disagree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23.8%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15.0%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8660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Disagree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64.6%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71.3%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68.3%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69882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Neutral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13.8%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11.7%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68355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79799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Strongly 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027765"/>
                  </a:ext>
                </a:extLst>
              </a:tr>
              <a:tr h="180000">
                <a:tc gridSpan="7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Tolerance</a:t>
                      </a:r>
                      <a:r>
                        <a:rPr lang="en-US" altLang="zh-CN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2:</a:t>
                      </a:r>
                      <a:r>
                        <a:rPr lang="zh-CN" altLang="en-US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Government should take stricter measures to control the wild boar population</a:t>
                      </a:r>
                      <a:endParaRPr lang="en-DE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70074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Strongly Disagree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1283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Disagree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0784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Neutral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79693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61.7%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235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67.5%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65.0%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58797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Strongly 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35.0%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23.6%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28.6%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117766"/>
                  </a:ext>
                </a:extLst>
              </a:tr>
              <a:tr h="180000">
                <a:tc gridSpan="7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Tolerance</a:t>
                      </a:r>
                      <a:r>
                        <a:rPr lang="en-US" altLang="zh-CN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3:</a:t>
                      </a:r>
                      <a:r>
                        <a:rPr lang="zh-CN" altLang="en-US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Wild boars cause a serious threat to my personal safety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12895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Strongly Disagree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5.1%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1013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Disagree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31.4%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28.2%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185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29.6%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4068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Neutral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19.1%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14.9%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16.8%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37111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40.1%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52.3%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293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46.9%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38535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Strongly 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880515"/>
                  </a:ext>
                </a:extLst>
              </a:tr>
              <a:tr h="180000">
                <a:tc gridSpan="7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Tolerance</a:t>
                      </a:r>
                      <a:r>
                        <a:rPr lang="en-US" altLang="zh-CN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4:</a:t>
                      </a:r>
                      <a:r>
                        <a:rPr lang="zh-CN" altLang="en-US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I can accept some damage caused by wild boars</a:t>
                      </a:r>
                      <a:endParaRPr lang="en-DE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5841" marR="158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20534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Strongly Disagree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28.5%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22.4%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25.1%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1373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Disagree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33.6%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42.2%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38.4%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8523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Neutral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13.8%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11.8%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40609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27.8%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21.0%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24.0%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97126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180975" algn="l" fontAlgn="b">
                        <a:buNone/>
                        <a:tabLst/>
                      </a:pPr>
                      <a:r>
                        <a:rPr lang="en-GB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Strongly Agree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64530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B32A80F-B05B-242F-EB99-C5A304103172}"/>
              </a:ext>
            </a:extLst>
          </p:cNvPr>
          <p:cNvSpPr txBox="1">
            <a:spLocks/>
          </p:cNvSpPr>
          <p:nvPr/>
        </p:nvSpPr>
        <p:spPr>
          <a:xfrm>
            <a:off x="717976" y="391735"/>
            <a:ext cx="10108175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Tolerance Description</a:t>
            </a:r>
            <a:endParaRPr lang="en-GB" sz="2000" dirty="0">
              <a:latin typeface="Heiti SC Medium" pitchFamily="2" charset="-128"/>
              <a:ea typeface="Heiti SC Medium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79406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C3BFBE-0245-A80D-5495-1BD24D48EB02}"/>
              </a:ext>
            </a:extLst>
          </p:cNvPr>
          <p:cNvGraphicFramePr>
            <a:graphicFrameLocks noGrp="1"/>
          </p:cNvGraphicFramePr>
          <p:nvPr/>
        </p:nvGraphicFramePr>
        <p:xfrm>
          <a:off x="717977" y="1413000"/>
          <a:ext cx="10756047" cy="4032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85349">
                  <a:extLst>
                    <a:ext uri="{9D8B030D-6E8A-4147-A177-3AD203B41FA5}">
                      <a16:colId xmlns:a16="http://schemas.microsoft.com/office/drawing/2014/main" val="4112226449"/>
                    </a:ext>
                  </a:extLst>
                </a:gridCol>
                <a:gridCol w="3585349">
                  <a:extLst>
                    <a:ext uri="{9D8B030D-6E8A-4147-A177-3AD203B41FA5}">
                      <a16:colId xmlns:a16="http://schemas.microsoft.com/office/drawing/2014/main" val="1196566853"/>
                    </a:ext>
                  </a:extLst>
                </a:gridCol>
                <a:gridCol w="3585349">
                  <a:extLst>
                    <a:ext uri="{9D8B030D-6E8A-4147-A177-3AD203B41FA5}">
                      <a16:colId xmlns:a16="http://schemas.microsoft.com/office/drawing/2014/main" val="136098946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Evaluation Dimension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Formative Construct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Reflective Construct</a:t>
                      </a:r>
                      <a:endParaRPr lang="en-GB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87606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Indicator Significance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rgbClr val="C00000"/>
                          </a:solidFill>
                        </a:rPr>
                        <a:t>Outer Weights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rgbClr val="C00000"/>
                          </a:solidFill>
                        </a:rPr>
                        <a:t>Outer Loadings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738849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Collinearity Check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>
                          <a:solidFill>
                            <a:srgbClr val="C00000"/>
                          </a:solidFill>
                        </a:rPr>
                        <a:t>Outer VIF &lt; 3.3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Generally, not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175751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Convergent Validity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Not applicable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rgbClr val="C00000"/>
                          </a:solidFill>
                        </a:rPr>
                        <a:t>AVE ≥ 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41558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Internal Consistency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Not applicable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rgbClr val="C00000"/>
                          </a:solidFill>
                        </a:rPr>
                        <a:t>Composite Reliability ≥ 0.7, Alpha ≥ 0.7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3675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Discriminant Validity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Rarely assessed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rgbClr val="C00000"/>
                          </a:solidFill>
                        </a:rPr>
                        <a:t>Fornell-Larcker, HTMT, Cross-Loadings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67969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Significance Testing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rgbClr val="C00000"/>
                          </a:solidFill>
                        </a:rPr>
                        <a:t>t/p values of Outer Weights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rgbClr val="C00000"/>
                          </a:solidFill>
                        </a:rPr>
                        <a:t>t/p values of Outer Loadings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9518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Content Validity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rgbClr val="C00000"/>
                          </a:solidFill>
                        </a:rPr>
                        <a:t>Based on theoretical justification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rgbClr val="C00000"/>
                          </a:solidFill>
                        </a:rPr>
                        <a:t>Can be supported by statistical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103610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BB7B070D-5FA7-833E-994E-D9B3EAEFEBA3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Evaluation Constructs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5913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816C2-78DC-1BF8-25ED-978269983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2428-F1B9-CCE8-F810-369AAF76C6A4}"/>
              </a:ext>
            </a:extLst>
          </p:cNvPr>
          <p:cNvSpPr txBox="1">
            <a:spLocks/>
          </p:cNvSpPr>
          <p:nvPr/>
        </p:nvSpPr>
        <p:spPr>
          <a:xfrm>
            <a:off x="3356658" y="1558858"/>
            <a:ext cx="8835342" cy="305934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800" b="1" dirty="0">
                <a:latin typeface="Heiti SC Medium" pitchFamily="2" charset="-128"/>
                <a:ea typeface="Heiti SC Medium" pitchFamily="2" charset="-128"/>
              </a:rPr>
              <a:t>Question 1: Does compensation participation </a:t>
            </a:r>
            <a:r>
              <a:rPr lang="en-US" altLang="zh-CN" sz="1800" b="1" dirty="0">
                <a:latin typeface="Heiti SC Medium" pitchFamily="2" charset="-128"/>
                <a:ea typeface="Heiti SC Medium" pitchFamily="2" charset="-128"/>
              </a:rPr>
              <a:t>have the impact on tolerance?</a:t>
            </a:r>
          </a:p>
          <a:p>
            <a:pPr marL="1295400" indent="-2778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Heiti SC Medium" pitchFamily="2" charset="-128"/>
                <a:ea typeface="Heiti SC Medium" pitchFamily="2" charset="-128"/>
              </a:rPr>
              <a:t>Compensation participation (Yes 1/ No 0) </a:t>
            </a:r>
          </a:p>
          <a:p>
            <a:pPr marL="1295400" indent="-2778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Heiti SC Medium" pitchFamily="2" charset="-128"/>
                <a:ea typeface="Heiti SC Medium" pitchFamily="2" charset="-128"/>
              </a:rPr>
              <a:t>Other variables are compound variables based on Wildlife Tolerance Model</a:t>
            </a:r>
          </a:p>
          <a:p>
            <a:pPr marL="95250">
              <a:lnSpc>
                <a:spcPct val="200000"/>
              </a:lnSpc>
            </a:pPr>
            <a:r>
              <a:rPr lang="en-US" sz="1800" b="1" dirty="0">
                <a:latin typeface="Heiti SC Medium" pitchFamily="2" charset="-128"/>
                <a:ea typeface="Heiti SC Medium" pitchFamily="2" charset="-128"/>
              </a:rPr>
              <a:t>Hypothesis 1: Compensation participation has negative impact on tolerance.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B2AAC-F0BF-AC8C-768D-6528B378F0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6" r="30464"/>
          <a:stretch/>
        </p:blipFill>
        <p:spPr>
          <a:xfrm>
            <a:off x="0" y="0"/>
            <a:ext cx="335665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B43E3F-12F9-A6BA-9930-639AC026483B}"/>
              </a:ext>
            </a:extLst>
          </p:cNvPr>
          <p:cNvSpPr txBox="1"/>
          <p:nvPr/>
        </p:nvSpPr>
        <p:spPr>
          <a:xfrm>
            <a:off x="3356658" y="5761566"/>
            <a:ext cx="88353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/>
              <a:t>Wang, W., Wronski, T., &amp; Yang, L. (2024). The Status of Wildlife Damage Compensation in China. Animals (Basel), 14(2). </a:t>
            </a:r>
            <a:r>
              <a:rPr lang="en-DE" sz="1200" dirty="0">
                <a:hlinkClick r:id="rId4"/>
              </a:rPr>
              <a:t>https://doi.org/10.3390/ani14020292</a:t>
            </a:r>
            <a:endParaRPr lang="en-D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Ravenelle, J., &amp; Nyhus, P. J. (2017). Global patterns and trends in human-wildlife conflict compensation. </a:t>
            </a:r>
            <a:r>
              <a:rPr lang="en-GB" sz="1200" dirty="0" err="1"/>
              <a:t>Conserv</a:t>
            </a:r>
            <a:r>
              <a:rPr lang="en-GB" sz="1200" dirty="0"/>
              <a:t> </a:t>
            </a:r>
            <a:r>
              <a:rPr lang="en-GB" sz="1200" dirty="0" err="1"/>
              <a:t>Biol</a:t>
            </a:r>
            <a:r>
              <a:rPr lang="en-GB" sz="1200" dirty="0"/>
              <a:t>, 31(6), 1247-1256. </a:t>
            </a:r>
            <a:r>
              <a:rPr lang="en-GB" sz="1200" dirty="0">
                <a:hlinkClick r:id="rId5"/>
              </a:rPr>
              <a:t>https://doi.org/10.1111/cobi.12948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566800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2777-9B2A-E95A-DC49-F67FD48D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9D2F8C41-BF38-BA01-29D7-91692C562D26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0</a:t>
            </a:r>
            <a:r>
              <a:rPr lang="zh-CN" altLang="en-US" sz="2000" b="1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 All Data (n=625)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B225C031-7F0D-E8EC-F2D3-F1421676ACB6}"/>
              </a:ext>
            </a:extLst>
          </p:cNvPr>
          <p:cNvGrpSpPr/>
          <p:nvPr/>
        </p:nvGrpSpPr>
        <p:grpSpPr>
          <a:xfrm>
            <a:off x="134578" y="1872354"/>
            <a:ext cx="3176182" cy="2453003"/>
            <a:chOff x="710614" y="990285"/>
            <a:chExt cx="3566902" cy="2566171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C1D17D5-EFEE-42AB-BE95-E4716B6EE4FE}"/>
                </a:ext>
              </a:extLst>
            </p:cNvPr>
            <p:cNvGrpSpPr/>
            <p:nvPr/>
          </p:nvGrpSpPr>
          <p:grpSpPr>
            <a:xfrm>
              <a:off x="867497" y="1206157"/>
              <a:ext cx="3238828" cy="2235870"/>
              <a:chOff x="691856" y="1130805"/>
              <a:chExt cx="3238828" cy="22358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47EB9BA4-89D2-AB3A-DBCB-958ECABBC358}"/>
                  </a:ext>
                </a:extLst>
              </p:cNvPr>
              <p:cNvGrpSpPr/>
              <p:nvPr/>
            </p:nvGrpSpPr>
            <p:grpSpPr>
              <a:xfrm>
                <a:off x="691858" y="1130805"/>
                <a:ext cx="3238825" cy="1143494"/>
                <a:chOff x="691858" y="1130805"/>
                <a:chExt cx="3238825" cy="1143494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A121EAA-B193-C2CF-26E6-1CD7C21BF3E9}"/>
                    </a:ext>
                  </a:extLst>
                </p:cNvPr>
                <p:cNvSpPr txBox="1"/>
                <p:nvPr/>
              </p:nvSpPr>
              <p:spPr>
                <a:xfrm>
                  <a:off x="691861" y="1130805"/>
                  <a:ext cx="3238822" cy="32197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buNone/>
                  </a:pPr>
                  <a:r>
                    <a:rPr lang="en-GB" sz="1400" b="1" dirty="0">
                      <a:latin typeface="Heiti SC Medium" pitchFamily="2" charset="-128"/>
                      <a:ea typeface="Heiti SC Medium" pitchFamily="2" charset="-128"/>
                      <a:cs typeface="+mj-cs"/>
                    </a:rPr>
                    <a:t>Conflict Experience - Wild boar</a:t>
                  </a:r>
                </a:p>
              </p:txBody>
            </p:sp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14B4684-6ABE-4431-0AE8-2D125A189671}"/>
                    </a:ext>
                  </a:extLst>
                </p:cNvPr>
                <p:cNvSpPr txBox="1"/>
                <p:nvPr/>
              </p:nvSpPr>
              <p:spPr>
                <a:xfrm>
                  <a:off x="691858" y="1469360"/>
                  <a:ext cx="3238821" cy="8049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28600" indent="-228600">
                    <a:buAutoNum type="arabicParenR"/>
                  </a:pPr>
                  <a:r>
                    <a:rPr lang="en-DE" sz="1100" dirty="0"/>
                    <a:t>Occur</a:t>
                  </a:r>
                  <a:r>
                    <a:rPr lang="en-GB" sz="1100" dirty="0"/>
                    <a:t>r</a:t>
                  </a:r>
                  <a:r>
                    <a:rPr lang="en-DE" sz="1100" dirty="0"/>
                    <a:t>ence </a:t>
                  </a:r>
                  <a:r>
                    <a:rPr lang="en-GB" sz="1100" dirty="0"/>
                    <a:t>Frequency</a:t>
                  </a:r>
                  <a:r>
                    <a:rPr lang="en-DE" sz="1100" dirty="0"/>
                    <a:t>, </a:t>
                  </a:r>
                </a:p>
                <a:p>
                  <a:pPr marL="228600" indent="-228600">
                    <a:buAutoNum type="arabicParenR"/>
                  </a:pPr>
                  <a:r>
                    <a:rPr lang="en-DE" sz="1100" dirty="0"/>
                    <a:t>Annual Duration,</a:t>
                  </a:r>
                </a:p>
                <a:p>
                  <a:pPr marL="228600" indent="-228600">
                    <a:buAutoNum type="arabicParenR"/>
                  </a:pPr>
                  <a:r>
                    <a:rPr lang="en-DE" sz="1100" dirty="0"/>
                    <a:t>Conflict </a:t>
                  </a:r>
                  <a:r>
                    <a:rPr lang="en-GB" sz="1100" dirty="0"/>
                    <a:t>Frequency</a:t>
                  </a:r>
                  <a:r>
                    <a:rPr lang="en-DE" sz="1100" dirty="0"/>
                    <a:t>,</a:t>
                  </a:r>
                </a:p>
                <a:p>
                  <a:pPr marL="228600" indent="-228600">
                    <a:buAutoNum type="arabicParenR"/>
                  </a:pPr>
                  <a:r>
                    <a:rPr lang="en-DE" sz="1100" dirty="0"/>
                    <a:t>Population Trend</a:t>
                  </a:r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F6127B29-AC3A-A45C-38CC-07BB11E29A30}"/>
                  </a:ext>
                </a:extLst>
              </p:cNvPr>
              <p:cNvGrpSpPr/>
              <p:nvPr/>
            </p:nvGrpSpPr>
            <p:grpSpPr>
              <a:xfrm>
                <a:off x="691856" y="2405831"/>
                <a:ext cx="3238828" cy="960844"/>
                <a:chOff x="691855" y="2344082"/>
                <a:chExt cx="3238828" cy="960844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143C7C4-2B34-F31B-A4EE-4ADA15053890}"/>
                    </a:ext>
                  </a:extLst>
                </p:cNvPr>
                <p:cNvSpPr txBox="1"/>
                <p:nvPr/>
              </p:nvSpPr>
              <p:spPr>
                <a:xfrm>
                  <a:off x="691861" y="2344082"/>
                  <a:ext cx="3238822" cy="32197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buNone/>
                  </a:pPr>
                  <a:r>
                    <a:rPr lang="en-GB" sz="1400" b="1" dirty="0">
                      <a:latin typeface="Heiti SC Medium" pitchFamily="2" charset="-128"/>
                      <a:ea typeface="Heiti SC Medium" pitchFamily="2" charset="-128"/>
                    </a:rPr>
                    <a:t>Conflict Experience - All</a:t>
                  </a: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E585745-C50D-3703-7E1D-924177009F90}"/>
                    </a:ext>
                  </a:extLst>
                </p:cNvPr>
                <p:cNvSpPr txBox="1"/>
                <p:nvPr/>
              </p:nvSpPr>
              <p:spPr>
                <a:xfrm>
                  <a:off x="691855" y="2677073"/>
                  <a:ext cx="3238822" cy="6278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28600" indent="-228600">
                    <a:buAutoNum type="arabicParenR"/>
                  </a:pPr>
                  <a:r>
                    <a:rPr lang="en-DE" sz="1100" dirty="0"/>
                    <a:t>Conflict-causing Species Number, </a:t>
                  </a:r>
                </a:p>
                <a:p>
                  <a:pPr marL="228600" indent="-228600">
                    <a:buAutoNum type="arabicParenR"/>
                  </a:pPr>
                  <a:r>
                    <a:rPr lang="en-DE" sz="1100" dirty="0"/>
                    <a:t>Percieved Conflict Severity,</a:t>
                  </a:r>
                </a:p>
                <a:p>
                  <a:pPr marL="228600" indent="-228600">
                    <a:buAutoNum type="arabicParenR"/>
                  </a:pPr>
                  <a:r>
                    <a:rPr lang="en-DE" sz="1100" dirty="0"/>
                    <a:t>Conflict Duration  </a:t>
                  </a:r>
                </a:p>
              </p:txBody>
            </p:sp>
          </p:grpSp>
        </p:grpSp>
        <p:sp>
          <p:nvSpPr>
            <p:cNvPr id="254" name="Rounded Rectangle 253">
              <a:extLst>
                <a:ext uri="{FF2B5EF4-FFF2-40B4-BE49-F238E27FC236}">
                  <a16:creationId xmlns:a16="http://schemas.microsoft.com/office/drawing/2014/main" id="{537DAE32-FEA0-2210-AF5C-20C46669E0E1}"/>
                </a:ext>
              </a:extLst>
            </p:cNvPr>
            <p:cNvSpPr/>
            <p:nvPr/>
          </p:nvSpPr>
          <p:spPr>
            <a:xfrm>
              <a:off x="710614" y="990285"/>
              <a:ext cx="3566902" cy="2566171"/>
            </a:xfrm>
            <a:prstGeom prst="roundRect">
              <a:avLst>
                <a:gd name="adj" fmla="val 11337"/>
              </a:avLst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 sz="1600"/>
            </a:p>
          </p:txBody>
        </p:sp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9A66FFBB-FAAD-FA44-8EA2-58BA69008599}"/>
              </a:ext>
            </a:extLst>
          </p:cNvPr>
          <p:cNvGrpSpPr/>
          <p:nvPr/>
        </p:nvGrpSpPr>
        <p:grpSpPr>
          <a:xfrm>
            <a:off x="3664728" y="1872355"/>
            <a:ext cx="3288014" cy="3674597"/>
            <a:chOff x="2198386" y="3054211"/>
            <a:chExt cx="3288014" cy="3674597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661D41A-D96F-9768-3B12-87C05DA28EA6}"/>
                </a:ext>
              </a:extLst>
            </p:cNvPr>
            <p:cNvGrpSpPr/>
            <p:nvPr/>
          </p:nvGrpSpPr>
          <p:grpSpPr>
            <a:xfrm>
              <a:off x="2419536" y="3260562"/>
              <a:ext cx="2867691" cy="3367339"/>
              <a:chOff x="2517157" y="3186676"/>
              <a:chExt cx="2983133" cy="3367339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E47F14F8-8EB0-5624-F4BD-EE8CA312D2D3}"/>
                  </a:ext>
                </a:extLst>
              </p:cNvPr>
              <p:cNvGrpSpPr/>
              <p:nvPr/>
            </p:nvGrpSpPr>
            <p:grpSpPr>
              <a:xfrm>
                <a:off x="2517159" y="3186676"/>
                <a:ext cx="2983131" cy="598315"/>
                <a:chOff x="1620560" y="3614915"/>
                <a:chExt cx="2983131" cy="598315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018158E-0ECA-8C6D-845F-A6B799801B93}"/>
                    </a:ext>
                  </a:extLst>
                </p:cNvPr>
                <p:cNvSpPr txBox="1"/>
                <p:nvPr/>
              </p:nvSpPr>
              <p:spPr>
                <a:xfrm>
                  <a:off x="1620561" y="3614915"/>
                  <a:ext cx="298313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Prevention Effectiveness</a:t>
                  </a: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85B160E9-96F3-A03C-BB46-267A8D72A7C3}"/>
                    </a:ext>
                  </a:extLst>
                </p:cNvPr>
                <p:cNvSpPr txBox="1"/>
                <p:nvPr/>
              </p:nvSpPr>
              <p:spPr>
                <a:xfrm>
                  <a:off x="1620560" y="3951620"/>
                  <a:ext cx="298313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DE" sz="1100" dirty="0"/>
                    <a:t>Average Effectiveness</a:t>
                  </a:r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B53F6E52-682C-03DF-E652-60BB8943C8EF}"/>
                  </a:ext>
                </a:extLst>
              </p:cNvPr>
              <p:cNvGrpSpPr/>
              <p:nvPr/>
            </p:nvGrpSpPr>
            <p:grpSpPr>
              <a:xfrm>
                <a:off x="2517157" y="4766021"/>
                <a:ext cx="2983130" cy="940136"/>
                <a:chOff x="1620556" y="4734443"/>
                <a:chExt cx="2983130" cy="940136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0879FC3-7859-8AD9-175F-8980C0800194}"/>
                    </a:ext>
                  </a:extLst>
                </p:cNvPr>
                <p:cNvSpPr txBox="1"/>
                <p:nvPr/>
              </p:nvSpPr>
              <p:spPr>
                <a:xfrm>
                  <a:off x="1620556" y="4734443"/>
                  <a:ext cx="298313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Compensation Anticipation 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A9F2CF2-4242-5E6D-E8F0-1DA89ED5299D}"/>
                    </a:ext>
                  </a:extLst>
                </p:cNvPr>
                <p:cNvSpPr txBox="1"/>
                <p:nvPr/>
              </p:nvSpPr>
              <p:spPr>
                <a:xfrm>
                  <a:off x="1620556" y="5074415"/>
                  <a:ext cx="2983130" cy="600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28600" indent="-228600">
                    <a:buAutoNum type="arabicParenR"/>
                  </a:pPr>
                  <a:r>
                    <a:rPr lang="en-DE" sz="1100" dirty="0"/>
                    <a:t>Lowest Accepted Percentage, </a:t>
                  </a:r>
                </a:p>
                <a:p>
                  <a:pPr marL="228600" indent="-228600">
                    <a:buAutoNum type="arabicParenR"/>
                  </a:pPr>
                  <a:r>
                    <a:rPr lang="en-GB" sz="1100" dirty="0"/>
                    <a:t>Expected Percentage,</a:t>
                  </a:r>
                </a:p>
                <a:p>
                  <a:pPr marL="228600" indent="-228600">
                    <a:buAutoNum type="arabicParenR"/>
                  </a:pPr>
                  <a:r>
                    <a:rPr lang="en-GB" sz="1100" dirty="0"/>
                    <a:t>Annual Insurance Payment</a:t>
                  </a:r>
                  <a:endParaRPr lang="en-DE" sz="1100" dirty="0"/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59B4B903-B032-0CFC-47D7-75C162611B7A}"/>
                  </a:ext>
                </a:extLst>
              </p:cNvPr>
              <p:cNvGrpSpPr/>
              <p:nvPr/>
            </p:nvGrpSpPr>
            <p:grpSpPr>
              <a:xfrm>
                <a:off x="2517157" y="5801431"/>
                <a:ext cx="2983132" cy="752584"/>
                <a:chOff x="1620559" y="5985951"/>
                <a:chExt cx="2983132" cy="752584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ACB5F28-6170-844B-D240-C269EF50BD47}"/>
                    </a:ext>
                  </a:extLst>
                </p:cNvPr>
                <p:cNvSpPr txBox="1"/>
                <p:nvPr/>
              </p:nvSpPr>
              <p:spPr>
                <a:xfrm>
                  <a:off x="1620561" y="5985951"/>
                  <a:ext cx="298313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Policy Dependency</a:t>
                  </a: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E722B20-A972-833A-6993-4BB56EF3FE9C}"/>
                    </a:ext>
                  </a:extLst>
                </p:cNvPr>
                <p:cNvSpPr txBox="1"/>
                <p:nvPr/>
              </p:nvSpPr>
              <p:spPr>
                <a:xfrm>
                  <a:off x="1620559" y="6307648"/>
                  <a:ext cx="298313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28600" indent="-228600">
                    <a:buAutoNum type="arabicParenR"/>
                  </a:pPr>
                  <a:r>
                    <a:rPr lang="en-US" sz="1100" dirty="0"/>
                    <a:t>Supportive Institute, </a:t>
                  </a:r>
                </a:p>
                <a:p>
                  <a:pPr marL="228600" indent="-228600">
                    <a:buAutoNum type="arabicParenR"/>
                  </a:pPr>
                  <a:r>
                    <a:rPr lang="en-US" sz="1100" dirty="0"/>
                    <a:t>Knowledge Obtained Method</a:t>
                  </a:r>
                  <a:endParaRPr lang="en-DE" sz="1100" dirty="0"/>
                </a:p>
              </p:txBody>
            </p:sp>
          </p:grpSp>
        </p:grpSp>
        <p:sp>
          <p:nvSpPr>
            <p:cNvPr id="255" name="Rounded Rectangle 254">
              <a:extLst>
                <a:ext uri="{FF2B5EF4-FFF2-40B4-BE49-F238E27FC236}">
                  <a16:creationId xmlns:a16="http://schemas.microsoft.com/office/drawing/2014/main" id="{991A4202-D9C0-FE99-B67B-9AA08A57C9C7}"/>
                </a:ext>
              </a:extLst>
            </p:cNvPr>
            <p:cNvSpPr/>
            <p:nvPr/>
          </p:nvSpPr>
          <p:spPr>
            <a:xfrm>
              <a:off x="2198386" y="3054211"/>
              <a:ext cx="3288014" cy="3674597"/>
            </a:xfrm>
            <a:prstGeom prst="roundRect">
              <a:avLst>
                <a:gd name="adj" fmla="val 11337"/>
              </a:avLst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 sz="1600"/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2E762136-F3BB-FF33-5511-3C5DF72EE3EC}"/>
              </a:ext>
            </a:extLst>
          </p:cNvPr>
          <p:cNvGrpSpPr/>
          <p:nvPr/>
        </p:nvGrpSpPr>
        <p:grpSpPr>
          <a:xfrm>
            <a:off x="7306710" y="1872355"/>
            <a:ext cx="2606567" cy="2785645"/>
            <a:chOff x="7785731" y="1850044"/>
            <a:chExt cx="2606567" cy="2785645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7BD0E8B-8241-9CEE-EF77-920282CCE250}"/>
                </a:ext>
              </a:extLst>
            </p:cNvPr>
            <p:cNvGrpSpPr/>
            <p:nvPr/>
          </p:nvGrpSpPr>
          <p:grpSpPr>
            <a:xfrm>
              <a:off x="7972180" y="2054814"/>
              <a:ext cx="2199398" cy="2513238"/>
              <a:chOff x="6525785" y="1076519"/>
              <a:chExt cx="2386305" cy="2513238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9E73E69F-C2CA-D2DB-A36E-DA4716858DBD}"/>
                  </a:ext>
                </a:extLst>
              </p:cNvPr>
              <p:cNvGrpSpPr/>
              <p:nvPr/>
            </p:nvGrpSpPr>
            <p:grpSpPr>
              <a:xfrm>
                <a:off x="6525786" y="1076519"/>
                <a:ext cx="2386304" cy="740358"/>
                <a:chOff x="6142215" y="3162292"/>
                <a:chExt cx="2386304" cy="740358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7BF7E16-0EF8-CD4F-6847-F5CD2E95B7B6}"/>
                    </a:ext>
                  </a:extLst>
                </p:cNvPr>
                <p:cNvSpPr txBox="1"/>
                <p:nvPr/>
              </p:nvSpPr>
              <p:spPr>
                <a:xfrm>
                  <a:off x="6142215" y="3162292"/>
                  <a:ext cx="238630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Tangible Cost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FFD7987-9925-C9F7-AD55-93692B3D70F6}"/>
                    </a:ext>
                  </a:extLst>
                </p:cNvPr>
                <p:cNvSpPr txBox="1"/>
                <p:nvPr/>
              </p:nvSpPr>
              <p:spPr>
                <a:xfrm>
                  <a:off x="6142218" y="3471763"/>
                  <a:ext cx="238630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28600" indent="-228600">
                    <a:buAutoNum type="arabicParenR"/>
                  </a:pPr>
                  <a:r>
                    <a:rPr lang="en-DE" sz="1100" dirty="0"/>
                    <a:t>Damage Area, </a:t>
                  </a:r>
                </a:p>
                <a:p>
                  <a:pPr marL="228600" indent="-228600">
                    <a:buAutoNum type="arabicParenR"/>
                  </a:pPr>
                  <a:r>
                    <a:rPr lang="en-GB" sz="1100" dirty="0"/>
                    <a:t>Perceived</a:t>
                  </a:r>
                  <a:r>
                    <a:rPr lang="en-DE" sz="1100" dirty="0"/>
                    <a:t> economic loss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67D0F60F-212B-FD16-B66A-52B45B7E1EF6}"/>
                  </a:ext>
                </a:extLst>
              </p:cNvPr>
              <p:cNvGrpSpPr/>
              <p:nvPr/>
            </p:nvGrpSpPr>
            <p:grpSpPr>
              <a:xfrm>
                <a:off x="6525787" y="1970943"/>
                <a:ext cx="2386302" cy="932427"/>
                <a:chOff x="6142216" y="4056716"/>
                <a:chExt cx="2386302" cy="932427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8E4E45D-0EE9-D098-F891-D05FF96FDE1D}"/>
                    </a:ext>
                  </a:extLst>
                </p:cNvPr>
                <p:cNvSpPr txBox="1"/>
                <p:nvPr/>
              </p:nvSpPr>
              <p:spPr>
                <a:xfrm>
                  <a:off x="6142218" y="4056716"/>
                  <a:ext cx="238630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Intangible Cost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DA927BC-2FA7-9EEC-529F-A555CC5E90BD}"/>
                    </a:ext>
                  </a:extLst>
                </p:cNvPr>
                <p:cNvSpPr txBox="1"/>
                <p:nvPr/>
              </p:nvSpPr>
              <p:spPr>
                <a:xfrm>
                  <a:off x="6142216" y="4388979"/>
                  <a:ext cx="2386301" cy="600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28600" indent="-228600">
                    <a:buAutoNum type="arabicParenR"/>
                  </a:pPr>
                  <a:r>
                    <a:rPr lang="en-US" sz="1100" dirty="0"/>
                    <a:t>General</a:t>
                  </a:r>
                  <a:r>
                    <a:rPr lang="en-DE" sz="1100" dirty="0"/>
                    <a:t> Attitude, </a:t>
                  </a:r>
                </a:p>
                <a:p>
                  <a:pPr marL="228600" indent="-228600">
                    <a:buAutoNum type="arabicParenR"/>
                  </a:pPr>
                  <a:r>
                    <a:rPr lang="en-DE" sz="1100" dirty="0"/>
                    <a:t>Descriptive Attitude: First, Second, Third.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E6209F8-33DE-0232-AF10-65E4DF2621AC}"/>
                  </a:ext>
                </a:extLst>
              </p:cNvPr>
              <p:cNvGrpSpPr/>
              <p:nvPr/>
            </p:nvGrpSpPr>
            <p:grpSpPr>
              <a:xfrm>
                <a:off x="6525785" y="3016982"/>
                <a:ext cx="2386301" cy="572775"/>
                <a:chOff x="6142214" y="5102755"/>
                <a:chExt cx="2386301" cy="572775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D47360A-9750-7479-53BD-77E6EF399994}"/>
                    </a:ext>
                  </a:extLst>
                </p:cNvPr>
                <p:cNvSpPr txBox="1"/>
                <p:nvPr/>
              </p:nvSpPr>
              <p:spPr>
                <a:xfrm>
                  <a:off x="6142215" y="5102755"/>
                  <a:ext cx="238630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Intangible Benefit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CD90F7B-E5F2-A01A-BEA2-68C8ECB38A8F}"/>
                    </a:ext>
                  </a:extLst>
                </p:cNvPr>
                <p:cNvSpPr txBox="1"/>
                <p:nvPr/>
              </p:nvSpPr>
              <p:spPr>
                <a:xfrm>
                  <a:off x="6142214" y="5413920"/>
                  <a:ext cx="238630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fontAlgn="b"/>
                  <a:r>
                    <a:rPr lang="en-GB" sz="1100" dirty="0"/>
                    <a:t>Ecological Value</a:t>
                  </a:r>
                  <a:endParaRPr lang="en-DE" sz="1100" dirty="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264" name="Rounded Rectangle 263">
              <a:extLst>
                <a:ext uri="{FF2B5EF4-FFF2-40B4-BE49-F238E27FC236}">
                  <a16:creationId xmlns:a16="http://schemas.microsoft.com/office/drawing/2014/main" id="{DA80B6E3-A565-1E48-6270-FEECBAA3BF23}"/>
                </a:ext>
              </a:extLst>
            </p:cNvPr>
            <p:cNvSpPr/>
            <p:nvPr/>
          </p:nvSpPr>
          <p:spPr>
            <a:xfrm>
              <a:off x="7785731" y="1850044"/>
              <a:ext cx="2606567" cy="2785645"/>
            </a:xfrm>
            <a:prstGeom prst="roundRect">
              <a:avLst>
                <a:gd name="adj" fmla="val 11337"/>
              </a:avLst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496F03A4-8E6C-06AC-5B0B-FC475A774291}"/>
              </a:ext>
            </a:extLst>
          </p:cNvPr>
          <p:cNvGrpSpPr/>
          <p:nvPr/>
        </p:nvGrpSpPr>
        <p:grpSpPr>
          <a:xfrm>
            <a:off x="10267245" y="1878048"/>
            <a:ext cx="1790177" cy="1046277"/>
            <a:chOff x="10267244" y="1925272"/>
            <a:chExt cx="1790177" cy="104627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7EE30F8-05EB-9602-9ED9-7D0D8D1403A2}"/>
                </a:ext>
              </a:extLst>
            </p:cNvPr>
            <p:cNvGrpSpPr/>
            <p:nvPr/>
          </p:nvGrpSpPr>
          <p:grpSpPr>
            <a:xfrm>
              <a:off x="10405839" y="2124349"/>
              <a:ext cx="1499143" cy="736052"/>
              <a:chOff x="8980259" y="4264188"/>
              <a:chExt cx="2126800" cy="736052"/>
            </a:xfrm>
          </p:grpSpPr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234BA55-7D54-2B5F-4615-2343583C17A3}"/>
                  </a:ext>
                </a:extLst>
              </p:cNvPr>
              <p:cNvSpPr txBox="1"/>
              <p:nvPr/>
            </p:nvSpPr>
            <p:spPr>
              <a:xfrm>
                <a:off x="8980259" y="4264188"/>
                <a:ext cx="21268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Tolerance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9DF901-C219-D8C4-B3D7-DC1FE48BD271}"/>
                  </a:ext>
                </a:extLst>
              </p:cNvPr>
              <p:cNvSpPr txBox="1"/>
              <p:nvPr/>
            </p:nvSpPr>
            <p:spPr>
              <a:xfrm>
                <a:off x="8980259" y="4569353"/>
                <a:ext cx="21267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sz="1100" dirty="0"/>
                  <a:t>Killing, Population,</a:t>
                </a:r>
              </a:p>
              <a:p>
                <a:pPr algn="ctr"/>
                <a:r>
                  <a:rPr lang="en-DE" sz="1100" dirty="0"/>
                  <a:t>Spatial, Loss</a:t>
                </a:r>
              </a:p>
            </p:txBody>
          </p:sp>
        </p:grpSp>
        <p:sp>
          <p:nvSpPr>
            <p:cNvPr id="303" name="Rounded Rectangle 302">
              <a:extLst>
                <a:ext uri="{FF2B5EF4-FFF2-40B4-BE49-F238E27FC236}">
                  <a16:creationId xmlns:a16="http://schemas.microsoft.com/office/drawing/2014/main" id="{2CD177BC-0CD2-D969-F45C-ABB6061C6FA4}"/>
                </a:ext>
              </a:extLst>
            </p:cNvPr>
            <p:cNvSpPr/>
            <p:nvPr/>
          </p:nvSpPr>
          <p:spPr>
            <a:xfrm>
              <a:off x="10267244" y="1925272"/>
              <a:ext cx="1790177" cy="1046277"/>
            </a:xfrm>
            <a:prstGeom prst="roundRect">
              <a:avLst>
                <a:gd name="adj" fmla="val 11337"/>
              </a:avLst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79DA54A7-0585-0C59-45EA-C97CBCAFAA62}"/>
              </a:ext>
            </a:extLst>
          </p:cNvPr>
          <p:cNvCxnSpPr>
            <a:cxnSpLocks/>
          </p:cNvCxnSpPr>
          <p:nvPr/>
        </p:nvCxnSpPr>
        <p:spPr>
          <a:xfrm>
            <a:off x="3310760" y="2221485"/>
            <a:ext cx="3539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682DF06F-D382-7C60-BE9C-92D1DA336113}"/>
              </a:ext>
            </a:extLst>
          </p:cNvPr>
          <p:cNvCxnSpPr/>
          <p:nvPr/>
        </p:nvCxnSpPr>
        <p:spPr>
          <a:xfrm>
            <a:off x="6952742" y="2221485"/>
            <a:ext cx="3539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22A86EA8-2C32-4DC2-BD84-492EBEEDDD66}"/>
              </a:ext>
            </a:extLst>
          </p:cNvPr>
          <p:cNvCxnSpPr/>
          <p:nvPr/>
        </p:nvCxnSpPr>
        <p:spPr>
          <a:xfrm>
            <a:off x="9913277" y="2221485"/>
            <a:ext cx="3539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0" name="Elbow Connector 319">
            <a:extLst>
              <a:ext uri="{FF2B5EF4-FFF2-40B4-BE49-F238E27FC236}">
                <a16:creationId xmlns:a16="http://schemas.microsoft.com/office/drawing/2014/main" id="{A59F1624-678C-2A35-D9DE-5473129D7075}"/>
              </a:ext>
            </a:extLst>
          </p:cNvPr>
          <p:cNvCxnSpPr>
            <a:cxnSpLocks/>
            <a:stCxn id="254" idx="2"/>
            <a:endCxn id="264" idx="2"/>
          </p:cNvCxnSpPr>
          <p:nvPr/>
        </p:nvCxnSpPr>
        <p:spPr>
          <a:xfrm rot="16200000" flipH="1">
            <a:off x="5000010" y="1048015"/>
            <a:ext cx="332643" cy="6887325"/>
          </a:xfrm>
          <a:prstGeom prst="bentConnector3">
            <a:avLst>
              <a:gd name="adj1" fmla="val 4417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Elbow Connector 323">
            <a:extLst>
              <a:ext uri="{FF2B5EF4-FFF2-40B4-BE49-F238E27FC236}">
                <a16:creationId xmlns:a16="http://schemas.microsoft.com/office/drawing/2014/main" id="{E0E069CB-C843-03E4-1B3E-83450C71CD22}"/>
              </a:ext>
            </a:extLst>
          </p:cNvPr>
          <p:cNvCxnSpPr>
            <a:cxnSpLocks/>
            <a:stCxn id="254" idx="2"/>
            <a:endCxn id="303" idx="2"/>
          </p:cNvCxnSpPr>
          <p:nvPr/>
        </p:nvCxnSpPr>
        <p:spPr>
          <a:xfrm rot="5400000" flipH="1" flipV="1">
            <a:off x="5741985" y="-1094992"/>
            <a:ext cx="1401032" cy="9439665"/>
          </a:xfrm>
          <a:prstGeom prst="bentConnector3">
            <a:avLst>
              <a:gd name="adj1" fmla="val -11745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Elbow Connector 330">
            <a:extLst>
              <a:ext uri="{FF2B5EF4-FFF2-40B4-BE49-F238E27FC236}">
                <a16:creationId xmlns:a16="http://schemas.microsoft.com/office/drawing/2014/main" id="{0790B63F-D164-B246-89DC-28785D47AC57}"/>
              </a:ext>
            </a:extLst>
          </p:cNvPr>
          <p:cNvCxnSpPr>
            <a:cxnSpLocks/>
            <a:stCxn id="255" idx="2"/>
          </p:cNvCxnSpPr>
          <p:nvPr/>
        </p:nvCxnSpPr>
        <p:spPr>
          <a:xfrm rot="5400000" flipH="1" flipV="1">
            <a:off x="7012711" y="1220349"/>
            <a:ext cx="2622626" cy="6030579"/>
          </a:xfrm>
          <a:prstGeom prst="bentConnector4">
            <a:avLst>
              <a:gd name="adj1" fmla="val -22802"/>
              <a:gd name="adj2" fmla="val 99981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7" name="TextBox 346">
            <a:extLst>
              <a:ext uri="{FF2B5EF4-FFF2-40B4-BE49-F238E27FC236}">
                <a16:creationId xmlns:a16="http://schemas.microsoft.com/office/drawing/2014/main" id="{24D9A780-83B7-42C7-4140-25E656909233}"/>
              </a:ext>
            </a:extLst>
          </p:cNvPr>
          <p:cNvSpPr txBox="1"/>
          <p:nvPr/>
        </p:nvSpPr>
        <p:spPr>
          <a:xfrm>
            <a:off x="134578" y="1393690"/>
            <a:ext cx="3176182" cy="400050"/>
          </a:xfrm>
          <a:prstGeom prst="roundRect">
            <a:avLst>
              <a:gd name="adj" fmla="val 39766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400" b="1" dirty="0">
                <a:latin typeface="Heiti SC Medium" pitchFamily="2" charset="-128"/>
                <a:ea typeface="Heiti SC Medium" pitchFamily="2" charset="-128"/>
                <a:cs typeface="+mj-cs"/>
              </a:rPr>
              <a:t>Conflict Experience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6A2F7816-377C-446B-542C-86158A49F8DC}"/>
              </a:ext>
            </a:extLst>
          </p:cNvPr>
          <p:cNvSpPr txBox="1"/>
          <p:nvPr/>
        </p:nvSpPr>
        <p:spPr>
          <a:xfrm>
            <a:off x="3664728" y="1390596"/>
            <a:ext cx="3288014" cy="400050"/>
          </a:xfrm>
          <a:prstGeom prst="roundRect">
            <a:avLst>
              <a:gd name="adj" fmla="val 39766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400" b="1" dirty="0">
                <a:latin typeface="Heiti SC Medium" pitchFamily="2" charset="-128"/>
                <a:ea typeface="Heiti SC Medium" pitchFamily="2" charset="-128"/>
                <a:cs typeface="+mj-cs"/>
              </a:rPr>
              <a:t>Mitigation Strategy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1533CBCF-CC95-9719-2456-73D08844B23A}"/>
              </a:ext>
            </a:extLst>
          </p:cNvPr>
          <p:cNvSpPr txBox="1"/>
          <p:nvPr/>
        </p:nvSpPr>
        <p:spPr>
          <a:xfrm>
            <a:off x="7306710" y="1396174"/>
            <a:ext cx="2606567" cy="400050"/>
          </a:xfrm>
          <a:prstGeom prst="roundRect">
            <a:avLst>
              <a:gd name="adj" fmla="val 39766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400" b="1" dirty="0">
                <a:latin typeface="Heiti SC Medium" pitchFamily="2" charset="-128"/>
                <a:ea typeface="Heiti SC Medium" pitchFamily="2" charset="-128"/>
                <a:cs typeface="+mj-cs"/>
              </a:rPr>
              <a:t>Cost &amp; Benefit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DC1FBEA8-7970-7AC6-E609-5E61F7089D8F}"/>
              </a:ext>
            </a:extLst>
          </p:cNvPr>
          <p:cNvSpPr txBox="1"/>
          <p:nvPr/>
        </p:nvSpPr>
        <p:spPr>
          <a:xfrm>
            <a:off x="10267245" y="1390596"/>
            <a:ext cx="1790177" cy="400050"/>
          </a:xfrm>
          <a:prstGeom prst="roundRect">
            <a:avLst>
              <a:gd name="adj" fmla="val 39766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400" b="1" dirty="0">
                <a:latin typeface="Heiti SC Medium" pitchFamily="2" charset="-128"/>
                <a:ea typeface="Heiti SC Medium" pitchFamily="2" charset="-128"/>
                <a:cs typeface="+mj-cs"/>
              </a:rPr>
              <a:t>Tolerance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63BD473C-C7B1-9322-1F14-0D9EDC3ECACA}"/>
              </a:ext>
            </a:extLst>
          </p:cNvPr>
          <p:cNvSpPr txBox="1"/>
          <p:nvPr/>
        </p:nvSpPr>
        <p:spPr>
          <a:xfrm>
            <a:off x="10032848" y="4017588"/>
            <a:ext cx="101568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Gender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59650DFA-DB46-88CD-C4D8-CBFAFD4F784F}"/>
              </a:ext>
            </a:extLst>
          </p:cNvPr>
          <p:cNvSpPr txBox="1"/>
          <p:nvPr/>
        </p:nvSpPr>
        <p:spPr>
          <a:xfrm>
            <a:off x="10032846" y="4350208"/>
            <a:ext cx="101567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Age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1CC521B0-B9B1-DE5D-8A93-40EDB636BB28}"/>
              </a:ext>
            </a:extLst>
          </p:cNvPr>
          <p:cNvSpPr txBox="1"/>
          <p:nvPr/>
        </p:nvSpPr>
        <p:spPr>
          <a:xfrm>
            <a:off x="10023381" y="4686234"/>
            <a:ext cx="101567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Education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EF1DB5EB-23E0-5397-E884-3D71F1501B3E}"/>
              </a:ext>
            </a:extLst>
          </p:cNvPr>
          <p:cNvSpPr txBox="1"/>
          <p:nvPr/>
        </p:nvSpPr>
        <p:spPr>
          <a:xfrm>
            <a:off x="10019480" y="5018854"/>
            <a:ext cx="101567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Income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D75A54D8-F068-1CEE-4971-A3AF3866638D}"/>
              </a:ext>
            </a:extLst>
          </p:cNvPr>
          <p:cNvSpPr txBox="1"/>
          <p:nvPr/>
        </p:nvSpPr>
        <p:spPr>
          <a:xfrm>
            <a:off x="10019479" y="5351474"/>
            <a:ext cx="101567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Household Asset</a:t>
            </a:r>
          </a:p>
        </p:txBody>
      </p:sp>
      <p:cxnSp>
        <p:nvCxnSpPr>
          <p:cNvPr id="371" name="Straight Arrow Connector 370">
            <a:extLst>
              <a:ext uri="{FF2B5EF4-FFF2-40B4-BE49-F238E27FC236}">
                <a16:creationId xmlns:a16="http://schemas.microsoft.com/office/drawing/2014/main" id="{C84769CB-5B69-F8D4-ACD0-087E9BA6FD72}"/>
              </a:ext>
            </a:extLst>
          </p:cNvPr>
          <p:cNvCxnSpPr>
            <a:cxnSpLocks/>
            <a:stCxn id="366" idx="0"/>
          </p:cNvCxnSpPr>
          <p:nvPr/>
        </p:nvCxnSpPr>
        <p:spPr>
          <a:xfrm flipV="1">
            <a:off x="10540689" y="2924324"/>
            <a:ext cx="0" cy="1093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601DC0A-3AF5-6CB0-7CC8-9A7C5E48C733}"/>
              </a:ext>
            </a:extLst>
          </p:cNvPr>
          <p:cNvSpPr txBox="1"/>
          <p:nvPr/>
        </p:nvSpPr>
        <p:spPr>
          <a:xfrm>
            <a:off x="3885880" y="2766270"/>
            <a:ext cx="2867688" cy="3077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400" dirty="0"/>
              <a:t>Compensation Participation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A4F7F0-7BD3-4F9D-4E3E-BF1C59FA77D1}"/>
              </a:ext>
            </a:extLst>
          </p:cNvPr>
          <p:cNvSpPr txBox="1"/>
          <p:nvPr/>
        </p:nvSpPr>
        <p:spPr>
          <a:xfrm>
            <a:off x="3885880" y="3108021"/>
            <a:ext cx="2867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100" dirty="0"/>
              <a:t>Yes</a:t>
            </a:r>
            <a:r>
              <a:rPr lang="zh-CN" altLang="en-US" sz="1100" dirty="0"/>
              <a:t> </a:t>
            </a:r>
            <a:r>
              <a:rPr lang="en-DE" sz="1100" dirty="0"/>
              <a:t>/</a:t>
            </a:r>
            <a:r>
              <a:rPr lang="zh-CN" altLang="en-US" sz="1100" dirty="0"/>
              <a:t> </a:t>
            </a:r>
            <a:r>
              <a:rPr lang="en-DE" sz="11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530343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B1A1D-CAA3-35E2-4658-2CECB7F30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44E37840-1F0B-0FD5-1EC4-10AF80939A76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0</a:t>
            </a:r>
            <a:r>
              <a:rPr lang="zh-CN" altLang="en-US" sz="2000" b="1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 All Data (n=625)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60B1202-15B6-F157-06CD-AD800023E40C}"/>
              </a:ext>
            </a:extLst>
          </p:cNvPr>
          <p:cNvGrpSpPr/>
          <p:nvPr/>
        </p:nvGrpSpPr>
        <p:grpSpPr>
          <a:xfrm>
            <a:off x="3885878" y="2078706"/>
            <a:ext cx="2867691" cy="3367339"/>
            <a:chOff x="2517157" y="3186676"/>
            <a:chExt cx="2983133" cy="336733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3EFB424-2291-C135-4304-0FF3E3187699}"/>
                </a:ext>
              </a:extLst>
            </p:cNvPr>
            <p:cNvGrpSpPr/>
            <p:nvPr/>
          </p:nvGrpSpPr>
          <p:grpSpPr>
            <a:xfrm>
              <a:off x="2517159" y="3186676"/>
              <a:ext cx="2983131" cy="598315"/>
              <a:chOff x="1620560" y="3614915"/>
              <a:chExt cx="2983131" cy="598315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B00AE5-C78F-F3AF-FEFF-79DA22DA4398}"/>
                  </a:ext>
                </a:extLst>
              </p:cNvPr>
              <p:cNvSpPr txBox="1"/>
              <p:nvPr/>
            </p:nvSpPr>
            <p:spPr>
              <a:xfrm>
                <a:off x="1620561" y="3614915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Prevention Effectiveness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1C1E2A-1794-EFC1-FCA2-2CFEC6C57754}"/>
                  </a:ext>
                </a:extLst>
              </p:cNvPr>
              <p:cNvSpPr txBox="1"/>
              <p:nvPr/>
            </p:nvSpPr>
            <p:spPr>
              <a:xfrm>
                <a:off x="1620560" y="3951620"/>
                <a:ext cx="298313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sz="1100" dirty="0"/>
                  <a:t>Average Effectiveness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234AAA4-E3F4-CCC4-BD45-3C43E2C54609}"/>
                </a:ext>
              </a:extLst>
            </p:cNvPr>
            <p:cNvGrpSpPr/>
            <p:nvPr/>
          </p:nvGrpSpPr>
          <p:grpSpPr>
            <a:xfrm>
              <a:off x="2517157" y="4766021"/>
              <a:ext cx="2983130" cy="940136"/>
              <a:chOff x="1620556" y="4734443"/>
              <a:chExt cx="2983130" cy="94013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87FE49-B3AA-6839-E8D0-D8B4D7DCB87D}"/>
                  </a:ext>
                </a:extLst>
              </p:cNvPr>
              <p:cNvSpPr txBox="1"/>
              <p:nvPr/>
            </p:nvSpPr>
            <p:spPr>
              <a:xfrm>
                <a:off x="1620556" y="4734443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Compensation Anticipation 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552EF1-A653-E706-5159-167A74CA8226}"/>
                  </a:ext>
                </a:extLst>
              </p:cNvPr>
              <p:cNvSpPr txBox="1"/>
              <p:nvPr/>
            </p:nvSpPr>
            <p:spPr>
              <a:xfrm>
                <a:off x="1620556" y="5074415"/>
                <a:ext cx="2983130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dirty="0"/>
                  <a:t>Lowest Accepted Percentage, </a:t>
                </a:r>
              </a:p>
              <a:p>
                <a:pPr marL="228600" indent="-228600">
                  <a:buAutoNum type="arabicParenR"/>
                </a:pPr>
                <a:r>
                  <a:rPr lang="en-GB" sz="1100" dirty="0"/>
                  <a:t>Expected Percentage,</a:t>
                </a:r>
              </a:p>
              <a:p>
                <a:pPr marL="228600" indent="-228600">
                  <a:buAutoNum type="arabicParenR"/>
                </a:pPr>
                <a:r>
                  <a:rPr lang="en-GB" sz="1100" dirty="0"/>
                  <a:t>Annual Insurance Payment</a:t>
                </a:r>
                <a:endParaRPr lang="en-DE" sz="1100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7769B27D-1F80-8C05-B25B-A393BC42596B}"/>
                </a:ext>
              </a:extLst>
            </p:cNvPr>
            <p:cNvGrpSpPr/>
            <p:nvPr/>
          </p:nvGrpSpPr>
          <p:grpSpPr>
            <a:xfrm>
              <a:off x="2517157" y="5801431"/>
              <a:ext cx="2983132" cy="752584"/>
              <a:chOff x="1620559" y="5985951"/>
              <a:chExt cx="2983132" cy="75258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DDDDCB-A3E5-188E-ED6D-33E54FD46427}"/>
                  </a:ext>
                </a:extLst>
              </p:cNvPr>
              <p:cNvSpPr txBox="1"/>
              <p:nvPr/>
            </p:nvSpPr>
            <p:spPr>
              <a:xfrm>
                <a:off x="1620561" y="5985951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Policy Support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CDECA1-8F3B-5421-E750-B95E6BE227D4}"/>
                  </a:ext>
                </a:extLst>
              </p:cNvPr>
              <p:cNvSpPr txBox="1"/>
              <p:nvPr/>
            </p:nvSpPr>
            <p:spPr>
              <a:xfrm>
                <a:off x="1620559" y="6307648"/>
                <a:ext cx="298313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US" sz="1100" dirty="0"/>
                  <a:t>Supportive Institute, </a:t>
                </a:r>
              </a:p>
              <a:p>
                <a:pPr marL="228600" indent="-228600">
                  <a:buAutoNum type="arabicParenR"/>
                </a:pPr>
                <a:r>
                  <a:rPr lang="en-US" sz="1100" dirty="0"/>
                  <a:t>Knowledge Obtained Method</a:t>
                </a:r>
                <a:endParaRPr lang="en-DE" sz="1100" dirty="0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8D2742A-1D3C-B930-9D7B-4B2834031FEE}"/>
                </a:ext>
              </a:extLst>
            </p:cNvPr>
            <p:cNvGrpSpPr/>
            <p:nvPr/>
          </p:nvGrpSpPr>
          <p:grpSpPr>
            <a:xfrm>
              <a:off x="2517159" y="3874240"/>
              <a:ext cx="2983130" cy="603361"/>
              <a:chOff x="1620558" y="4044766"/>
              <a:chExt cx="2983130" cy="603361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8DE5DCC-8F38-0972-AC10-931B89874D32}"/>
                  </a:ext>
                </a:extLst>
              </p:cNvPr>
              <p:cNvSpPr txBox="1"/>
              <p:nvPr/>
            </p:nvSpPr>
            <p:spPr>
              <a:xfrm>
                <a:off x="1620558" y="4044766"/>
                <a:ext cx="2983130" cy="30777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Compensation Participation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BD9209A-AACD-18DB-88A2-3D8D6CA56773}"/>
                  </a:ext>
                </a:extLst>
              </p:cNvPr>
              <p:cNvSpPr txBox="1"/>
              <p:nvPr/>
            </p:nvSpPr>
            <p:spPr>
              <a:xfrm>
                <a:off x="1620558" y="4386517"/>
                <a:ext cx="298313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sz="1100" dirty="0"/>
                  <a:t>Yes / No</a:t>
                </a:r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29DA292-7F3A-10BA-0287-1E6A40B86D64}"/>
              </a:ext>
            </a:extLst>
          </p:cNvPr>
          <p:cNvGrpSpPr/>
          <p:nvPr/>
        </p:nvGrpSpPr>
        <p:grpSpPr>
          <a:xfrm>
            <a:off x="7493159" y="2077125"/>
            <a:ext cx="2199398" cy="2513238"/>
            <a:chOff x="6525785" y="1076519"/>
            <a:chExt cx="2386305" cy="251323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9E233E2-6468-413D-2DAE-BFE7399220D4}"/>
                </a:ext>
              </a:extLst>
            </p:cNvPr>
            <p:cNvGrpSpPr/>
            <p:nvPr/>
          </p:nvGrpSpPr>
          <p:grpSpPr>
            <a:xfrm>
              <a:off x="6525786" y="1076519"/>
              <a:ext cx="2386304" cy="740358"/>
              <a:chOff x="6142215" y="3162292"/>
              <a:chExt cx="2386304" cy="74035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3316FF-DEAB-694D-F2D8-6575336116B2}"/>
                  </a:ext>
                </a:extLst>
              </p:cNvPr>
              <p:cNvSpPr txBox="1"/>
              <p:nvPr/>
            </p:nvSpPr>
            <p:spPr>
              <a:xfrm>
                <a:off x="6142215" y="3162292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Tangible Cost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F65943-34C1-899A-018E-989D360EAC02}"/>
                  </a:ext>
                </a:extLst>
              </p:cNvPr>
              <p:cNvSpPr txBox="1"/>
              <p:nvPr/>
            </p:nvSpPr>
            <p:spPr>
              <a:xfrm>
                <a:off x="6142218" y="3471763"/>
                <a:ext cx="238630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dirty="0"/>
                  <a:t>Damage Area, </a:t>
                </a:r>
              </a:p>
              <a:p>
                <a:pPr marL="228600" indent="-228600">
                  <a:buAutoNum type="arabicParenR"/>
                </a:pPr>
                <a:r>
                  <a:rPr lang="en-GB" sz="1100" dirty="0"/>
                  <a:t>Perceived</a:t>
                </a:r>
                <a:r>
                  <a:rPr lang="en-DE" sz="1100" dirty="0"/>
                  <a:t> economic loss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83AA078-F890-933B-177E-6D43661116FE}"/>
                </a:ext>
              </a:extLst>
            </p:cNvPr>
            <p:cNvGrpSpPr/>
            <p:nvPr/>
          </p:nvGrpSpPr>
          <p:grpSpPr>
            <a:xfrm>
              <a:off x="6525787" y="1970943"/>
              <a:ext cx="2386302" cy="932427"/>
              <a:chOff x="6142216" y="4056716"/>
              <a:chExt cx="2386302" cy="93242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4CACEA5-C0ED-9575-C024-FAD82686B38C}"/>
                  </a:ext>
                </a:extLst>
              </p:cNvPr>
              <p:cNvSpPr txBox="1"/>
              <p:nvPr/>
            </p:nvSpPr>
            <p:spPr>
              <a:xfrm>
                <a:off x="6142218" y="4056716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Intangible Cost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9E6119-6A40-36C6-A7DE-2F333413DA60}"/>
                  </a:ext>
                </a:extLst>
              </p:cNvPr>
              <p:cNvSpPr txBox="1"/>
              <p:nvPr/>
            </p:nvSpPr>
            <p:spPr>
              <a:xfrm>
                <a:off x="6142216" y="4388979"/>
                <a:ext cx="2386301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US" sz="1100" dirty="0"/>
                  <a:t>General</a:t>
                </a:r>
                <a:r>
                  <a:rPr lang="en-DE" sz="1100" dirty="0"/>
                  <a:t> Attitude, 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Descriptive Attitude: First, Second, Third.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A9D74B3-D1FE-06F0-6AE2-DBC5492D14C6}"/>
                </a:ext>
              </a:extLst>
            </p:cNvPr>
            <p:cNvGrpSpPr/>
            <p:nvPr/>
          </p:nvGrpSpPr>
          <p:grpSpPr>
            <a:xfrm>
              <a:off x="6525785" y="3016982"/>
              <a:ext cx="2386301" cy="572775"/>
              <a:chOff x="6142214" y="5102755"/>
              <a:chExt cx="2386301" cy="572775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76A5B9-6169-8591-2D79-3CF233C62CD9}"/>
                  </a:ext>
                </a:extLst>
              </p:cNvPr>
              <p:cNvSpPr txBox="1"/>
              <p:nvPr/>
            </p:nvSpPr>
            <p:spPr>
              <a:xfrm>
                <a:off x="6142215" y="5102755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Intangible Benefit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02EC832-5AB4-60B5-95C8-7B82E0A1B4A1}"/>
                  </a:ext>
                </a:extLst>
              </p:cNvPr>
              <p:cNvSpPr txBox="1"/>
              <p:nvPr/>
            </p:nvSpPr>
            <p:spPr>
              <a:xfrm>
                <a:off x="6142214" y="5413920"/>
                <a:ext cx="238630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"/>
                <a:r>
                  <a:rPr lang="en-GB" sz="1100" dirty="0"/>
                  <a:t>Ecological Value</a:t>
                </a:r>
                <a:endParaRPr lang="en-DE" sz="11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B66AA44-929C-3A01-569B-3C61D8439F81}"/>
              </a:ext>
            </a:extLst>
          </p:cNvPr>
          <p:cNvGrpSpPr/>
          <p:nvPr/>
        </p:nvGrpSpPr>
        <p:grpSpPr>
          <a:xfrm>
            <a:off x="10405840" y="2077125"/>
            <a:ext cx="1499143" cy="736052"/>
            <a:chOff x="8980259" y="4264188"/>
            <a:chExt cx="2126800" cy="73605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4F3466C-3908-5422-E97A-5FA671E2FA75}"/>
                </a:ext>
              </a:extLst>
            </p:cNvPr>
            <p:cNvSpPr txBox="1"/>
            <p:nvPr/>
          </p:nvSpPr>
          <p:spPr>
            <a:xfrm>
              <a:off x="8980259" y="4264188"/>
              <a:ext cx="21268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en-DE"/>
              </a:defPPr>
              <a:lvl1pPr algn="ctr">
                <a:buNone/>
                <a:defRPr sz="1600" b="1">
                  <a:latin typeface="Heiti SC Medium" pitchFamily="2" charset="-128"/>
                  <a:ea typeface="Heiti SC Medium" pitchFamily="2" charset="-128"/>
                  <a:cs typeface="+mj-cs"/>
                </a:defRPr>
              </a:lvl1pPr>
            </a:lstStyle>
            <a:p>
              <a:r>
                <a:rPr lang="en-GB" sz="1400" dirty="0"/>
                <a:t>Tolerance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7B54CE-C320-A865-5D8D-401588CF9C9F}"/>
                </a:ext>
              </a:extLst>
            </p:cNvPr>
            <p:cNvSpPr txBox="1"/>
            <p:nvPr/>
          </p:nvSpPr>
          <p:spPr>
            <a:xfrm>
              <a:off x="8980259" y="4569353"/>
              <a:ext cx="21267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DE" sz="1100" dirty="0"/>
                <a:t>Killing, Population,</a:t>
              </a:r>
            </a:p>
            <a:p>
              <a:pPr algn="ctr"/>
              <a:r>
                <a:rPr lang="en-DE" sz="1100" dirty="0"/>
                <a:t>Spatial, Loss</a:t>
              </a: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1446A72A-FF68-58D9-9D00-D4B3FB7178AD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158320" y="2232595"/>
            <a:ext cx="7275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A1F4CAB1-39A9-4C61-0B8D-95ABE82B8C1F}"/>
              </a:ext>
            </a:extLst>
          </p:cNvPr>
          <p:cNvCxnSpPr>
            <a:cxnSpLocks/>
            <a:stCxn id="17" idx="3"/>
            <a:endCxn id="73" idx="1"/>
          </p:cNvCxnSpPr>
          <p:nvPr/>
        </p:nvCxnSpPr>
        <p:spPr>
          <a:xfrm>
            <a:off x="9692553" y="2231014"/>
            <a:ext cx="713287" cy="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AE15FB-97DA-6027-D700-CB035187DCDE}"/>
              </a:ext>
            </a:extLst>
          </p:cNvPr>
          <p:cNvCxnSpPr>
            <a:cxnSpLocks/>
            <a:stCxn id="13" idx="3"/>
            <a:endCxn id="56" idx="1"/>
          </p:cNvCxnSpPr>
          <p:nvPr/>
        </p:nvCxnSpPr>
        <p:spPr>
          <a:xfrm>
            <a:off x="3158320" y="2232595"/>
            <a:ext cx="727560" cy="687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A92BDF-0A63-79CC-5D64-433D9E95AEEF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3158320" y="2232595"/>
            <a:ext cx="727558" cy="1579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825097-8FBB-99E6-EF55-D3CF0D4502A0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3158320" y="2232595"/>
            <a:ext cx="727560" cy="2614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95C9B1D-47E4-EA8F-F8D9-1F36BAE54CA6}"/>
              </a:ext>
            </a:extLst>
          </p:cNvPr>
          <p:cNvCxnSpPr>
            <a:cxnSpLocks/>
            <a:stCxn id="29" idx="3"/>
            <a:endCxn id="14" idx="1"/>
          </p:cNvCxnSpPr>
          <p:nvPr/>
        </p:nvCxnSpPr>
        <p:spPr>
          <a:xfrm flipV="1">
            <a:off x="3158321" y="2232595"/>
            <a:ext cx="727560" cy="1218797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27C845F-515F-DA51-8354-33237CB8D786}"/>
              </a:ext>
            </a:extLst>
          </p:cNvPr>
          <p:cNvCxnSpPr>
            <a:cxnSpLocks/>
            <a:stCxn id="29" idx="3"/>
            <a:endCxn id="56" idx="1"/>
          </p:cNvCxnSpPr>
          <p:nvPr/>
        </p:nvCxnSpPr>
        <p:spPr>
          <a:xfrm flipV="1">
            <a:off x="3158321" y="2920159"/>
            <a:ext cx="727559" cy="531233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0A5261D-2038-4BC6-7375-E764BFD5E661}"/>
              </a:ext>
            </a:extLst>
          </p:cNvPr>
          <p:cNvCxnSpPr>
            <a:cxnSpLocks/>
            <a:stCxn id="29" idx="3"/>
            <a:endCxn id="15" idx="1"/>
          </p:cNvCxnSpPr>
          <p:nvPr/>
        </p:nvCxnSpPr>
        <p:spPr>
          <a:xfrm>
            <a:off x="3158321" y="3451392"/>
            <a:ext cx="727557" cy="360548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CC57231-DBE5-E44E-6A34-CAAC9AC47CA4}"/>
              </a:ext>
            </a:extLst>
          </p:cNvPr>
          <p:cNvCxnSpPr>
            <a:cxnSpLocks/>
            <a:stCxn id="29" idx="3"/>
            <a:endCxn id="16" idx="1"/>
          </p:cNvCxnSpPr>
          <p:nvPr/>
        </p:nvCxnSpPr>
        <p:spPr>
          <a:xfrm>
            <a:off x="3158321" y="3451392"/>
            <a:ext cx="727559" cy="1395958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54006BCC-493D-CAD0-EB61-B8D55949CD69}"/>
              </a:ext>
            </a:extLst>
          </p:cNvPr>
          <p:cNvCxnSpPr>
            <a:cxnSpLocks/>
            <a:stCxn id="13" idx="0"/>
            <a:endCxn id="17" idx="0"/>
          </p:cNvCxnSpPr>
          <p:nvPr/>
        </p:nvCxnSpPr>
        <p:spPr>
          <a:xfrm rot="5400000" flipH="1" flipV="1">
            <a:off x="5153789" y="-1360362"/>
            <a:ext cx="1581" cy="6876556"/>
          </a:xfrm>
          <a:prstGeom prst="bentConnector3">
            <a:avLst>
              <a:gd name="adj1" fmla="val 473466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76EF12AA-2CC6-130A-0AFB-D0B038556E68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4819642" y="-1024635"/>
            <a:ext cx="918246" cy="7124928"/>
          </a:xfrm>
          <a:prstGeom prst="bentConnector4">
            <a:avLst>
              <a:gd name="adj1" fmla="val -97275"/>
              <a:gd name="adj2" fmla="val 999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2636C059-1411-3732-DBE5-8163B502103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30371" y="455896"/>
            <a:ext cx="360000" cy="7390800"/>
          </a:xfrm>
          <a:prstGeom prst="bentConnector3">
            <a:avLst>
              <a:gd name="adj1" fmla="val 518426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1605A608-6995-D666-423B-A65A6E6A2B55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4448977" y="-653971"/>
            <a:ext cx="1924117" cy="7389470"/>
          </a:xfrm>
          <a:prstGeom prst="bentConnector4">
            <a:avLst>
              <a:gd name="adj1" fmla="val -52679"/>
              <a:gd name="adj2" fmla="val 999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Elbow Connector 120">
            <a:extLst>
              <a:ext uri="{FF2B5EF4-FFF2-40B4-BE49-F238E27FC236}">
                <a16:creationId xmlns:a16="http://schemas.microsoft.com/office/drawing/2014/main" id="{539C84F3-617E-14BE-D110-808D69F1733E}"/>
              </a:ext>
            </a:extLst>
          </p:cNvPr>
          <p:cNvCxnSpPr>
            <a:cxnSpLocks/>
            <a:stCxn id="51" idx="2"/>
          </p:cNvCxnSpPr>
          <p:nvPr/>
        </p:nvCxnSpPr>
        <p:spPr>
          <a:xfrm rot="5400000" flipH="1" flipV="1">
            <a:off x="4817723" y="192471"/>
            <a:ext cx="922075" cy="7124931"/>
          </a:xfrm>
          <a:prstGeom prst="bentConnector4">
            <a:avLst>
              <a:gd name="adj1" fmla="val -161509"/>
              <a:gd name="adj2" fmla="val 99953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9" name="Elbow Connector 198">
            <a:extLst>
              <a:ext uri="{FF2B5EF4-FFF2-40B4-BE49-F238E27FC236}">
                <a16:creationId xmlns:a16="http://schemas.microsoft.com/office/drawing/2014/main" id="{1A8E2DBC-B75E-1313-180F-389DD3093238}"/>
              </a:ext>
            </a:extLst>
          </p:cNvPr>
          <p:cNvCxnSpPr>
            <a:cxnSpLocks/>
            <a:stCxn id="51" idx="2"/>
            <a:endCxn id="6" idx="0"/>
          </p:cNvCxnSpPr>
          <p:nvPr/>
        </p:nvCxnSpPr>
        <p:spPr>
          <a:xfrm rot="5400000" flipH="1" flipV="1">
            <a:off x="4239889" y="-136997"/>
            <a:ext cx="1829378" cy="6876564"/>
          </a:xfrm>
          <a:prstGeom prst="bentConnector5">
            <a:avLst>
              <a:gd name="adj1" fmla="val -12496"/>
              <a:gd name="adj2" fmla="val -34"/>
              <a:gd name="adj3" fmla="val -74237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8FBDA30A-73E2-706D-1113-B7A4B31BF9AB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 flipV="1">
            <a:off x="6753569" y="2231014"/>
            <a:ext cx="739591" cy="1581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458B2F98-B959-81B0-191B-73C1A3FC1313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6753569" y="2232595"/>
            <a:ext cx="739594" cy="892843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FCA96A35-DBC9-07D3-7993-17D4832D416B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6753569" y="2232595"/>
            <a:ext cx="739591" cy="1938882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0435CBEA-5CBC-7EFD-89DD-6C4747E97803}"/>
              </a:ext>
            </a:extLst>
          </p:cNvPr>
          <p:cNvCxnSpPr>
            <a:cxnSpLocks/>
            <a:stCxn id="56" idx="3"/>
            <a:endCxn id="17" idx="1"/>
          </p:cNvCxnSpPr>
          <p:nvPr/>
        </p:nvCxnSpPr>
        <p:spPr>
          <a:xfrm flipV="1">
            <a:off x="6753568" y="2231014"/>
            <a:ext cx="739592" cy="68914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582FFABA-F4FA-3F42-61B9-BCFCF34C25BD}"/>
              </a:ext>
            </a:extLst>
          </p:cNvPr>
          <p:cNvCxnSpPr>
            <a:cxnSpLocks/>
            <a:stCxn id="56" idx="3"/>
            <a:endCxn id="18" idx="1"/>
          </p:cNvCxnSpPr>
          <p:nvPr/>
        </p:nvCxnSpPr>
        <p:spPr>
          <a:xfrm>
            <a:off x="6753568" y="2920159"/>
            <a:ext cx="739595" cy="20527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58C34D5F-F481-20C3-EA8A-46D20DA34CAE}"/>
              </a:ext>
            </a:extLst>
          </p:cNvPr>
          <p:cNvCxnSpPr>
            <a:cxnSpLocks/>
            <a:stCxn id="56" idx="3"/>
            <a:endCxn id="19" idx="1"/>
          </p:cNvCxnSpPr>
          <p:nvPr/>
        </p:nvCxnSpPr>
        <p:spPr>
          <a:xfrm>
            <a:off x="6753568" y="2920159"/>
            <a:ext cx="739592" cy="1251318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F66A89B0-5D59-FCA1-FFCF-C303A13DF086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 flipV="1">
            <a:off x="6753566" y="2231014"/>
            <a:ext cx="739594" cy="158092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0992FB9F-D62D-331B-17C4-BE90AD821480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 flipV="1">
            <a:off x="6753566" y="3125438"/>
            <a:ext cx="739597" cy="68650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2A0804E-73D9-05CE-D237-47F2A4B7D524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6753566" y="3811940"/>
            <a:ext cx="739594" cy="35953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70FD7593-FFA4-4AC6-87D8-113260B35FD2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753568" y="2231014"/>
            <a:ext cx="739592" cy="261633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E2496A14-E555-0A2D-3DD2-7CFE8F44282C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 flipV="1">
            <a:off x="6753568" y="3125438"/>
            <a:ext cx="739595" cy="172191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5DE5C8EC-6FF6-EB01-93FC-C73F44E22D4D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 flipV="1">
            <a:off x="6753568" y="4171477"/>
            <a:ext cx="739592" cy="67587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C4B2DCDB-A550-8DBB-7E91-0306BC2BD07F}"/>
              </a:ext>
            </a:extLst>
          </p:cNvPr>
          <p:cNvCxnSpPr>
            <a:cxnSpLocks/>
            <a:stCxn id="18" idx="3"/>
            <a:endCxn id="73" idx="1"/>
          </p:cNvCxnSpPr>
          <p:nvPr/>
        </p:nvCxnSpPr>
        <p:spPr>
          <a:xfrm flipV="1">
            <a:off x="9692556" y="2231014"/>
            <a:ext cx="713284" cy="894424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A265A963-2472-A239-4CD2-75E0B2C725BD}"/>
              </a:ext>
            </a:extLst>
          </p:cNvPr>
          <p:cNvCxnSpPr>
            <a:cxnSpLocks/>
            <a:stCxn id="19" idx="3"/>
            <a:endCxn id="73" idx="1"/>
          </p:cNvCxnSpPr>
          <p:nvPr/>
        </p:nvCxnSpPr>
        <p:spPr>
          <a:xfrm flipV="1">
            <a:off x="9692553" y="2231014"/>
            <a:ext cx="713287" cy="194046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3" name="Elbow Connector 252">
            <a:extLst>
              <a:ext uri="{FF2B5EF4-FFF2-40B4-BE49-F238E27FC236}">
                <a16:creationId xmlns:a16="http://schemas.microsoft.com/office/drawing/2014/main" id="{E1C0167B-8A62-F7EC-563D-B5A77D7B4F22}"/>
              </a:ext>
            </a:extLst>
          </p:cNvPr>
          <p:cNvCxnSpPr>
            <a:cxnSpLocks/>
            <a:stCxn id="14" idx="0"/>
            <a:endCxn id="73" idx="0"/>
          </p:cNvCxnSpPr>
          <p:nvPr/>
        </p:nvCxnSpPr>
        <p:spPr>
          <a:xfrm rot="5400000" flipH="1" flipV="1">
            <a:off x="8236778" y="-839927"/>
            <a:ext cx="1581" cy="5835687"/>
          </a:xfrm>
          <a:prstGeom prst="bentConnector3">
            <a:avLst>
              <a:gd name="adj1" fmla="val 14559203"/>
            </a:avLst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0" name="Elbow Connector 259">
            <a:extLst>
              <a:ext uri="{FF2B5EF4-FFF2-40B4-BE49-F238E27FC236}">
                <a16:creationId xmlns:a16="http://schemas.microsoft.com/office/drawing/2014/main" id="{FD212422-28F1-3E01-3CC3-93CB71A15C1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017688" y="-496146"/>
            <a:ext cx="689145" cy="5835688"/>
          </a:xfrm>
          <a:prstGeom prst="bentConnector3">
            <a:avLst>
              <a:gd name="adj1" fmla="val 149758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5" name="Elbow Connector 264">
            <a:extLst>
              <a:ext uri="{FF2B5EF4-FFF2-40B4-BE49-F238E27FC236}">
                <a16:creationId xmlns:a16="http://schemas.microsoft.com/office/drawing/2014/main" id="{5B6F1F6D-50C4-E5A6-45DA-1AF12B50C99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696488" y="-31258"/>
            <a:ext cx="1580926" cy="5835690"/>
          </a:xfrm>
          <a:prstGeom prst="bentConnector3">
            <a:avLst>
              <a:gd name="adj1" fmla="val 128920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9" name="Elbow Connector 268">
            <a:extLst>
              <a:ext uri="{FF2B5EF4-FFF2-40B4-BE49-F238E27FC236}">
                <a16:creationId xmlns:a16="http://schemas.microsoft.com/office/drawing/2014/main" id="{BDD84205-66A6-1EE7-FE3F-C9D01054F01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04186" y="482951"/>
            <a:ext cx="2616336" cy="5835688"/>
          </a:xfrm>
          <a:prstGeom prst="bentConnector3">
            <a:avLst>
              <a:gd name="adj1" fmla="val 121446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Elbow Connector 272">
            <a:extLst>
              <a:ext uri="{FF2B5EF4-FFF2-40B4-BE49-F238E27FC236}">
                <a16:creationId xmlns:a16="http://schemas.microsoft.com/office/drawing/2014/main" id="{B5EC70D4-2710-B566-CB82-922EAECABD61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6363449" y="-2568443"/>
            <a:ext cx="9729" cy="9304026"/>
          </a:xfrm>
          <a:prstGeom prst="bentConnector4">
            <a:avLst>
              <a:gd name="adj1" fmla="val -11962010"/>
              <a:gd name="adj2" fmla="val 999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Elbow Connector 281">
            <a:extLst>
              <a:ext uri="{FF2B5EF4-FFF2-40B4-BE49-F238E27FC236}">
                <a16:creationId xmlns:a16="http://schemas.microsoft.com/office/drawing/2014/main" id="{8ACB3308-0644-4312-D0BE-A2BEE5BFBA57}"/>
              </a:ext>
            </a:extLst>
          </p:cNvPr>
          <p:cNvCxnSpPr>
            <a:cxnSpLocks/>
            <a:stCxn id="51" idx="2"/>
            <a:endCxn id="7" idx="2"/>
          </p:cNvCxnSpPr>
          <p:nvPr/>
        </p:nvCxnSpPr>
        <p:spPr>
          <a:xfrm rot="5400000" flipH="1" flipV="1">
            <a:off x="5734454" y="-1204982"/>
            <a:ext cx="1402797" cy="9439115"/>
          </a:xfrm>
          <a:prstGeom prst="bentConnector3">
            <a:avLst>
              <a:gd name="adj1" fmla="val -124442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567024F-7706-D815-BA19-BADC9591380E}"/>
              </a:ext>
            </a:extLst>
          </p:cNvPr>
          <p:cNvGrpSpPr/>
          <p:nvPr/>
        </p:nvGrpSpPr>
        <p:grpSpPr>
          <a:xfrm>
            <a:off x="274276" y="2078706"/>
            <a:ext cx="2884045" cy="2137268"/>
            <a:chOff x="691856" y="1130805"/>
            <a:chExt cx="3238828" cy="223587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3231A4C-75C3-3875-C32A-E2D44A1A0275}"/>
                </a:ext>
              </a:extLst>
            </p:cNvPr>
            <p:cNvGrpSpPr/>
            <p:nvPr/>
          </p:nvGrpSpPr>
          <p:grpSpPr>
            <a:xfrm>
              <a:off x="691858" y="1130805"/>
              <a:ext cx="3238825" cy="1143494"/>
              <a:chOff x="691858" y="1130805"/>
              <a:chExt cx="3238825" cy="114349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AF16E1-FFCC-FFCD-2334-B8D4BEADAD65}"/>
                  </a:ext>
                </a:extLst>
              </p:cNvPr>
              <p:cNvSpPr txBox="1"/>
              <p:nvPr/>
            </p:nvSpPr>
            <p:spPr>
              <a:xfrm>
                <a:off x="691861" y="1130805"/>
                <a:ext cx="3238822" cy="3219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GB" sz="1400" b="1" dirty="0">
                    <a:latin typeface="Heiti SC Medium" pitchFamily="2" charset="-128"/>
                    <a:ea typeface="Heiti SC Medium" pitchFamily="2" charset="-128"/>
                    <a:cs typeface="+mj-cs"/>
                  </a:rPr>
                  <a:t>Conflict Experience - Wild boar</a:t>
                </a: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15708AC-835F-C865-7804-77CA80AC24B1}"/>
                  </a:ext>
                </a:extLst>
              </p:cNvPr>
              <p:cNvSpPr txBox="1"/>
              <p:nvPr/>
            </p:nvSpPr>
            <p:spPr>
              <a:xfrm>
                <a:off x="691858" y="1469360"/>
                <a:ext cx="3238821" cy="804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dirty="0"/>
                  <a:t>Occur</a:t>
                </a:r>
                <a:r>
                  <a:rPr lang="en-GB" sz="1100" dirty="0"/>
                  <a:t>r</a:t>
                </a:r>
                <a:r>
                  <a:rPr lang="en-DE" sz="1100" dirty="0"/>
                  <a:t>ence </a:t>
                </a:r>
                <a:r>
                  <a:rPr lang="en-GB" sz="1100" dirty="0"/>
                  <a:t>Frequency</a:t>
                </a:r>
                <a:r>
                  <a:rPr lang="en-DE" sz="1100" dirty="0"/>
                  <a:t>, 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Annual Duration,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Conflict </a:t>
                </a:r>
                <a:r>
                  <a:rPr lang="en-GB" sz="1100" dirty="0"/>
                  <a:t>Frequency</a:t>
                </a:r>
                <a:r>
                  <a:rPr lang="en-DE" sz="1100" dirty="0"/>
                  <a:t>,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Population Trend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CA51224-1376-DCEF-57EF-A3ED00A51EAA}"/>
                </a:ext>
              </a:extLst>
            </p:cNvPr>
            <p:cNvGrpSpPr/>
            <p:nvPr/>
          </p:nvGrpSpPr>
          <p:grpSpPr>
            <a:xfrm>
              <a:off x="691856" y="2405831"/>
              <a:ext cx="3238828" cy="960844"/>
              <a:chOff x="691855" y="2344082"/>
              <a:chExt cx="3238828" cy="960844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862B05-0FE2-CBBE-14A5-980A86D7BF01}"/>
                  </a:ext>
                </a:extLst>
              </p:cNvPr>
              <p:cNvSpPr txBox="1"/>
              <p:nvPr/>
            </p:nvSpPr>
            <p:spPr>
              <a:xfrm>
                <a:off x="691861" y="2344082"/>
                <a:ext cx="3238822" cy="3219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GB" sz="1400" b="1" dirty="0">
                    <a:latin typeface="Heiti SC Medium" pitchFamily="2" charset="-128"/>
                    <a:ea typeface="Heiti SC Medium" pitchFamily="2" charset="-128"/>
                  </a:rPr>
                  <a:t>Conflict Experience - All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4E88C7C-7625-D2D0-C479-8A0C4FED7C6C}"/>
                  </a:ext>
                </a:extLst>
              </p:cNvPr>
              <p:cNvSpPr txBox="1"/>
              <p:nvPr/>
            </p:nvSpPr>
            <p:spPr>
              <a:xfrm>
                <a:off x="691855" y="2677073"/>
                <a:ext cx="3238822" cy="62785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dirty="0"/>
                  <a:t>Conflict-causing Species Number, 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Percieved Conflict Severity,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Conflict Duration  </a:t>
                </a:r>
              </a:p>
            </p:txBody>
          </p:sp>
        </p:grpSp>
      </p:grpSp>
      <p:sp>
        <p:nvSpPr>
          <p:cNvPr id="318" name="TextBox 317">
            <a:extLst>
              <a:ext uri="{FF2B5EF4-FFF2-40B4-BE49-F238E27FC236}">
                <a16:creationId xmlns:a16="http://schemas.microsoft.com/office/drawing/2014/main" id="{D75AD487-D18F-8EFC-1CCA-AAF321E3F77F}"/>
              </a:ext>
            </a:extLst>
          </p:cNvPr>
          <p:cNvSpPr txBox="1"/>
          <p:nvPr/>
        </p:nvSpPr>
        <p:spPr>
          <a:xfrm>
            <a:off x="10032848" y="4017588"/>
            <a:ext cx="101568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Gender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DB9BEB38-50E4-4E72-67C9-79683BCB87AA}"/>
              </a:ext>
            </a:extLst>
          </p:cNvPr>
          <p:cNvSpPr txBox="1"/>
          <p:nvPr/>
        </p:nvSpPr>
        <p:spPr>
          <a:xfrm>
            <a:off x="10032846" y="4350208"/>
            <a:ext cx="101567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Age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F54A2AA9-6222-E3D6-8CD0-46520FA2A8DC}"/>
              </a:ext>
            </a:extLst>
          </p:cNvPr>
          <p:cNvSpPr txBox="1"/>
          <p:nvPr/>
        </p:nvSpPr>
        <p:spPr>
          <a:xfrm>
            <a:off x="10023381" y="4686234"/>
            <a:ext cx="101567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Education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01C3926C-9971-2853-230A-402A8C243432}"/>
              </a:ext>
            </a:extLst>
          </p:cNvPr>
          <p:cNvSpPr txBox="1"/>
          <p:nvPr/>
        </p:nvSpPr>
        <p:spPr>
          <a:xfrm>
            <a:off x="10019480" y="5018854"/>
            <a:ext cx="101567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Income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FCB3D167-4009-8A55-C163-BD5677A2F9DA}"/>
              </a:ext>
            </a:extLst>
          </p:cNvPr>
          <p:cNvSpPr txBox="1"/>
          <p:nvPr/>
        </p:nvSpPr>
        <p:spPr>
          <a:xfrm>
            <a:off x="10019479" y="5351474"/>
            <a:ext cx="101567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Household Asset</a:t>
            </a:r>
          </a:p>
        </p:txBody>
      </p: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D4CD1FCB-DB1A-543F-87F4-F3686F230A65}"/>
              </a:ext>
            </a:extLst>
          </p:cNvPr>
          <p:cNvCxnSpPr>
            <a:cxnSpLocks/>
            <a:stCxn id="318" idx="0"/>
          </p:cNvCxnSpPr>
          <p:nvPr/>
        </p:nvCxnSpPr>
        <p:spPr>
          <a:xfrm flipV="1">
            <a:off x="10540689" y="2813177"/>
            <a:ext cx="0" cy="1204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143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A6387-5299-CBF6-980F-561FE402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F22731-945B-C3DB-DBAC-21A0E791C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039696"/>
              </p:ext>
            </p:extLst>
          </p:nvPr>
        </p:nvGraphicFramePr>
        <p:xfrm>
          <a:off x="360828" y="806288"/>
          <a:ext cx="11470347" cy="5556541"/>
        </p:xfrm>
        <a:graphic>
          <a:graphicData uri="http://schemas.openxmlformats.org/drawingml/2006/table">
            <a:tbl>
              <a:tblPr firstRow="1" firstCol="1">
                <a:tableStyleId>{793D81CF-94F2-401A-BA57-92F5A7B2D0C5}</a:tableStyleId>
              </a:tblPr>
              <a:tblGrid>
                <a:gridCol w="878445">
                  <a:extLst>
                    <a:ext uri="{9D8B030D-6E8A-4147-A177-3AD203B41FA5}">
                      <a16:colId xmlns:a16="http://schemas.microsoft.com/office/drawing/2014/main" val="4187685912"/>
                    </a:ext>
                  </a:extLst>
                </a:gridCol>
                <a:gridCol w="548584">
                  <a:extLst>
                    <a:ext uri="{9D8B030D-6E8A-4147-A177-3AD203B41FA5}">
                      <a16:colId xmlns:a16="http://schemas.microsoft.com/office/drawing/2014/main" val="464818759"/>
                    </a:ext>
                  </a:extLst>
                </a:gridCol>
                <a:gridCol w="1701247">
                  <a:extLst>
                    <a:ext uri="{9D8B030D-6E8A-4147-A177-3AD203B41FA5}">
                      <a16:colId xmlns:a16="http://schemas.microsoft.com/office/drawing/2014/main" val="3705544634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461465563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2705932792"/>
                    </a:ext>
                  </a:extLst>
                </a:gridCol>
                <a:gridCol w="963443">
                  <a:extLst>
                    <a:ext uri="{9D8B030D-6E8A-4147-A177-3AD203B41FA5}">
                      <a16:colId xmlns:a16="http://schemas.microsoft.com/office/drawing/2014/main" val="3112367060"/>
                    </a:ext>
                  </a:extLst>
                </a:gridCol>
                <a:gridCol w="1015831">
                  <a:extLst>
                    <a:ext uri="{9D8B030D-6E8A-4147-A177-3AD203B41FA5}">
                      <a16:colId xmlns:a16="http://schemas.microsoft.com/office/drawing/2014/main" val="2074996668"/>
                    </a:ext>
                  </a:extLst>
                </a:gridCol>
                <a:gridCol w="1149002">
                  <a:extLst>
                    <a:ext uri="{9D8B030D-6E8A-4147-A177-3AD203B41FA5}">
                      <a16:colId xmlns:a16="http://schemas.microsoft.com/office/drawing/2014/main" val="3920882787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630609569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3208346022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558437363"/>
                    </a:ext>
                  </a:extLst>
                </a:gridCol>
              </a:tblGrid>
              <a:tr h="159356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Latent variable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Indicators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Indicator Significance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 dirty="0">
                        <a:solidFill>
                          <a:schemeClr val="tx1"/>
                        </a:solidFill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Collinearity Check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Convergent validity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Internal consistency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Discriminant validity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Significance Testing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561350"/>
                  </a:ext>
                </a:extLst>
              </a:tr>
              <a:tr h="30932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Weights </a:t>
                      </a:r>
                      <a:r>
                        <a:rPr lang="en-DE" sz="800" dirty="0"/>
                        <a:t>≥ 0.2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Loadings</a:t>
                      </a:r>
                      <a:r>
                        <a:rPr lang="en-DE" sz="800" dirty="0"/>
                        <a:t>≥ 0.5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VIF  &lt; 3.3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 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Composite reliability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Cross-Loadings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Weights &gt; 1.96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Loadings &gt; 1.96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356081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_Wild boar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CP_WB1: Occur</a:t>
                      </a:r>
                      <a:r>
                        <a:rPr lang="en-GB" sz="800" u="none" strike="noStrike" dirty="0">
                          <a:effectLst/>
                        </a:rPr>
                        <a:t>r</a:t>
                      </a:r>
                      <a:r>
                        <a:rPr lang="en-DE" sz="800" u="none" strike="noStrike" dirty="0">
                          <a:effectLst/>
                        </a:rPr>
                        <a:t>ence </a:t>
                      </a:r>
                      <a:r>
                        <a:rPr lang="en-GB" sz="800" dirty="0"/>
                        <a:t>Frequency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0.422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0.627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1.295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4.237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6.694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83739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CP_WB2: Annual Duration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0.383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0.566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1.196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2.281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3.799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240838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CP_WB3: Conflict Frequency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0.093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0.167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1.178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0.532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0.890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23231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dirty="0"/>
                        <a:t>CP_WB4: Population Trend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0.645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0.780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1.249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5.204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7.803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744874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_All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CP_A1: </a:t>
                      </a:r>
                      <a:r>
                        <a:rPr lang="en-DE" sz="800" dirty="0"/>
                        <a:t>Conflict-causing Species Number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0.706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0.811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1.459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3.282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3.494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606314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CP_A2: </a:t>
                      </a:r>
                      <a:r>
                        <a:rPr lang="en-DE" sz="800" dirty="0"/>
                        <a:t>Percieved Conflict Severity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0.527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0.581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1.363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1.909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2.233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229135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CP_A3: </a:t>
                      </a:r>
                      <a:r>
                        <a:rPr lang="en-DE" sz="800" dirty="0"/>
                        <a:t>Conflict Duration 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0.259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0.473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1.236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1.902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3.938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428510"/>
                  </a:ext>
                </a:extLst>
              </a:tr>
              <a:tr h="30932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Prevention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PE: Average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1.107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656512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r>
                        <a:rPr lang="en-GB" sz="800" strike="noStrike" dirty="0"/>
                        <a:t>Compensation Participation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CE0: Yes/No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1.330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42915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Compensation Anticipation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CA1: Lowest Accepted Percentage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0.049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0.043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1.054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0.210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0.211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609511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strike="noStrike" dirty="0"/>
                        <a:t>CA2: Expected Percentage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-0.106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-0.047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1.084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-0.521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-0.243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8428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dirty="0"/>
                        <a:t>CA3:Annual Insurance Payment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0.993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1.126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5.403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1.229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563986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Policy Support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PS1: Reported Institute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0.684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0.751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1.281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3.139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3.195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8180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PS2: Knowledge Obtained Method</a:t>
                      </a:r>
                      <a:endParaRPr lang="en-DE" sz="800" dirty="0"/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0.664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0.733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1.333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3.475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2.884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686729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TC1: Damage Area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0.872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0.978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1.729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2.751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3.760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99445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u="none" strike="noStrike" dirty="0">
                          <a:effectLst/>
                        </a:rPr>
                        <a:t>TC2: Perceived economic loss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0.235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0.627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1.475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0.536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2.477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015728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IC1: General Attitude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0.898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0.932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1.415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8.469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2.235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89036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IC2_1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0.278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0.386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1.088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2.983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2.042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05118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IC2_2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0.228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0.213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1.209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2.252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1.914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70570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IC2_3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-0.137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-0.055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1.339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-0.555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-0.221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09482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Benifit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IB: Ecological Value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1.275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797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Q4_Gender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1.228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736378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Q5_Age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1.407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4875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Q6_Education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1.372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12576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AnnualIncome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Q8_AnnualIncome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1.231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345190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HouseholdAsset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Q14_CropAsset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1.705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521082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Tolerance</a:t>
                      </a:r>
                    </a:p>
                    <a:p>
                      <a:pPr algn="l" fontAlgn="b"/>
                      <a:r>
                        <a:rPr lang="en-DE" sz="8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0.2307 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Reflective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Tol1: Killing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0.479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0.787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1.571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0.679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7.315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16.920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7168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Tol2: Population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0.486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0.834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1.593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10.225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23.951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88448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Tol3: </a:t>
                      </a: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Spatial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0.117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0.130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1.223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1.023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0.930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7238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Tol4: Loss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0.362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0.562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1.271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5.172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7.519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85761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DCB1A0B1-44CB-A3D7-D365-8C499DA15361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0</a:t>
            </a:r>
            <a:r>
              <a:rPr lang="zh-CN" altLang="en-US" sz="2000" b="1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 All Data (n=625)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– Measurement Model (GOODNESS-OF-FIT 0.1876 )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372001-3FA6-64DF-22BD-CDBDE99F11AD}"/>
              </a:ext>
            </a:extLst>
          </p:cNvPr>
          <p:cNvSpPr txBox="1"/>
          <p:nvPr/>
        </p:nvSpPr>
        <p:spPr>
          <a:xfrm>
            <a:off x="360828" y="6596390"/>
            <a:ext cx="114703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>
                <a:solidFill>
                  <a:srgbClr val="C00000"/>
                </a:solidFill>
              </a:rPr>
              <a:t>Deleted variables: 1) Reflective</a:t>
            </a:r>
            <a:r>
              <a:rPr lang="en-US" sz="1050" dirty="0">
                <a:solidFill>
                  <a:srgbClr val="C00000"/>
                </a:solidFill>
              </a:rPr>
              <a:t>: </a:t>
            </a:r>
            <a:r>
              <a:rPr lang="en-GB" sz="1050" dirty="0">
                <a:solidFill>
                  <a:srgbClr val="C00000"/>
                </a:solidFill>
              </a:rPr>
              <a:t>outer loading &lt; 0.5 &amp;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1.96; 2) Formative: outer weights &lt; 0.2 or VIF &gt; 3.3 &amp;</a:t>
            </a:r>
            <a:r>
              <a:rPr lang="en-GB" sz="1050" dirty="0">
                <a:solidFill>
                  <a:srgbClr val="C00000"/>
                </a:solidFill>
              </a:rPr>
              <a:t>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  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034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7A9D-B9A5-EA2D-DF61-EE6E935A5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F1275D-61EB-C3DB-6EAF-9DBE68FE7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671124"/>
              </p:ext>
            </p:extLst>
          </p:nvPr>
        </p:nvGraphicFramePr>
        <p:xfrm>
          <a:off x="360828" y="806288"/>
          <a:ext cx="11470347" cy="5556541"/>
        </p:xfrm>
        <a:graphic>
          <a:graphicData uri="http://schemas.openxmlformats.org/drawingml/2006/table">
            <a:tbl>
              <a:tblPr firstRow="1" firstCol="1">
                <a:tableStyleId>{793D81CF-94F2-401A-BA57-92F5A7B2D0C5}</a:tableStyleId>
              </a:tblPr>
              <a:tblGrid>
                <a:gridCol w="878445">
                  <a:extLst>
                    <a:ext uri="{9D8B030D-6E8A-4147-A177-3AD203B41FA5}">
                      <a16:colId xmlns:a16="http://schemas.microsoft.com/office/drawing/2014/main" val="4187685912"/>
                    </a:ext>
                  </a:extLst>
                </a:gridCol>
                <a:gridCol w="548584">
                  <a:extLst>
                    <a:ext uri="{9D8B030D-6E8A-4147-A177-3AD203B41FA5}">
                      <a16:colId xmlns:a16="http://schemas.microsoft.com/office/drawing/2014/main" val="464818759"/>
                    </a:ext>
                  </a:extLst>
                </a:gridCol>
                <a:gridCol w="1701247">
                  <a:extLst>
                    <a:ext uri="{9D8B030D-6E8A-4147-A177-3AD203B41FA5}">
                      <a16:colId xmlns:a16="http://schemas.microsoft.com/office/drawing/2014/main" val="3705544634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461465563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2705932792"/>
                    </a:ext>
                  </a:extLst>
                </a:gridCol>
                <a:gridCol w="963443">
                  <a:extLst>
                    <a:ext uri="{9D8B030D-6E8A-4147-A177-3AD203B41FA5}">
                      <a16:colId xmlns:a16="http://schemas.microsoft.com/office/drawing/2014/main" val="3112367060"/>
                    </a:ext>
                  </a:extLst>
                </a:gridCol>
                <a:gridCol w="1015831">
                  <a:extLst>
                    <a:ext uri="{9D8B030D-6E8A-4147-A177-3AD203B41FA5}">
                      <a16:colId xmlns:a16="http://schemas.microsoft.com/office/drawing/2014/main" val="2074996668"/>
                    </a:ext>
                  </a:extLst>
                </a:gridCol>
                <a:gridCol w="1149002">
                  <a:extLst>
                    <a:ext uri="{9D8B030D-6E8A-4147-A177-3AD203B41FA5}">
                      <a16:colId xmlns:a16="http://schemas.microsoft.com/office/drawing/2014/main" val="3920882787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630609569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3208346022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558437363"/>
                    </a:ext>
                  </a:extLst>
                </a:gridCol>
              </a:tblGrid>
              <a:tr h="159356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Latent variable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Indicators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Indicator Significance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 dirty="0">
                        <a:solidFill>
                          <a:schemeClr val="tx1"/>
                        </a:solidFill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Collinearity Check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Convergent validity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Internal consistency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Discriminant validity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Significance Testing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561350"/>
                  </a:ext>
                </a:extLst>
              </a:tr>
              <a:tr h="30932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Weights </a:t>
                      </a:r>
                      <a:r>
                        <a:rPr lang="en-DE" sz="800" dirty="0"/>
                        <a:t>≥ 0.2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Loadings</a:t>
                      </a:r>
                      <a:r>
                        <a:rPr lang="en-DE" sz="800" dirty="0"/>
                        <a:t>≥ 0.5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VIF  &lt; 3.3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 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Composite reliability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Cross-Loadings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Weights &gt; 1.96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Loadings &gt; 1.96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356081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_Wild boar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CP_WB1: Occur</a:t>
                      </a:r>
                      <a:r>
                        <a:rPr lang="en-GB" sz="800" u="none" strike="noStrike" dirty="0">
                          <a:effectLst/>
                        </a:rPr>
                        <a:t>r</a:t>
                      </a:r>
                      <a:r>
                        <a:rPr lang="en-DE" sz="800" u="none" strike="noStrike" dirty="0">
                          <a:effectLst/>
                        </a:rPr>
                        <a:t>ence </a:t>
                      </a:r>
                      <a:r>
                        <a:rPr lang="en-GB" sz="800" dirty="0"/>
                        <a:t>Frequency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0.430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0.622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1.261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4.447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7.318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83739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CP_WB2: Annual Duration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0.396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0.584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1.185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2.538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4.201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240838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CP_WB3: Conflict Frequency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23231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dirty="0"/>
                        <a:t>CP_WB4: Population Trend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0.643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0.779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1.234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5.270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8.048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744874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_All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CP_A1: </a:t>
                      </a:r>
                      <a:r>
                        <a:rPr lang="en-DE" sz="800" dirty="0"/>
                        <a:t>Conflict-causing Species Number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0.736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0.835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1.433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3.813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5.15</a:t>
                      </a:r>
                      <a:r>
                        <a:rPr kumimoji="0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606314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CP_A2: </a:t>
                      </a:r>
                      <a:r>
                        <a:rPr lang="en-DE" sz="800" dirty="0"/>
                        <a:t>Percieved Conflict Severity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0.494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0.549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1.335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2.148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2.3</a:t>
                      </a:r>
                      <a:r>
                        <a:rPr kumimoji="0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229135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CP_A3: </a:t>
                      </a:r>
                      <a:r>
                        <a:rPr lang="en-DE" sz="800" dirty="0"/>
                        <a:t>Conflict Duration </a:t>
                      </a: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0.245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0.466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1.181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2.059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</a:t>
                      </a:r>
                      <a:r>
                        <a:rPr kumimoji="0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799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428510"/>
                  </a:ext>
                </a:extLst>
              </a:tr>
              <a:tr h="30932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Prevention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PE: Average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1.093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656512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r>
                        <a:rPr lang="en-GB" sz="800" strike="noStrike" dirty="0"/>
                        <a:t>Compensation Participation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CE0: Yes/No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42915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Compensation Anticipation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CA1: Lowest Accepted Percentage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609511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strike="noStrike" dirty="0"/>
                        <a:t>CA2: Expected Percentage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8428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dirty="0"/>
                        <a:t>CA3:Annual Insurance Payment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563986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Policy Support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PS1: Reported Institute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0.664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0.733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1.261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3.570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3.962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8180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PS2: Knowledge Obtained Method</a:t>
                      </a:r>
                      <a:endParaRPr lang="en-DE" sz="800" dirty="0"/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0.684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0.750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1.226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4.000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3.348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686729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TC1: Damage Area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0.853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0.972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1.706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2.708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3.935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99445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u="none" strike="noStrike" dirty="0">
                          <a:effectLst/>
                        </a:rPr>
                        <a:t>TC2: Perceived economic loss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0.264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0.647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1.467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0.613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2.609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015728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IC1: General Attitude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0.907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0.941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1.404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20.200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26.963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89036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IC2_1</a:t>
                      </a: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0.283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0.390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1.084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3.066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3.988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05118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IC2_2</a:t>
                      </a: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0.176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0.208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1.058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1.660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1.908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70570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IC2_3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09482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Benifit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IB: Ecological Value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1.251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797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Q4_Gender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736378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Q5_Age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4875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Q6_Education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12576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AnnualIncome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Q8_AnnualIncome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1.203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345190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HouseholdAsset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Q14_CropAsset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1.697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521082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Tolerance</a:t>
                      </a:r>
                    </a:p>
                    <a:p>
                      <a:pPr algn="l" fontAlgn="b"/>
                      <a:r>
                        <a:rPr lang="en-DE" sz="8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0.2255 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Reflective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Tol1: Killing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0.490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0.789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1.550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0.551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0.781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11.162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19.627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7168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Tol2: Population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0.487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0.841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1.571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17.088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41.429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88448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Tol3: </a:t>
                      </a: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Spatial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7238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Tol4: Loss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0.360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0.567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1.258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6.316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8.777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85761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123EF9D6-8979-E54A-3222-4FA5C72BF588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0</a:t>
            </a:r>
            <a:r>
              <a:rPr lang="zh-CN" altLang="en-US" sz="2000" b="1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 All Data (n=625)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– Measurement Model (GOODNESS-OF-FIT 0.2065 )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7E6BA-A92D-312B-6D28-C51375D97DF8}"/>
              </a:ext>
            </a:extLst>
          </p:cNvPr>
          <p:cNvSpPr txBox="1"/>
          <p:nvPr/>
        </p:nvSpPr>
        <p:spPr>
          <a:xfrm>
            <a:off x="360828" y="6596390"/>
            <a:ext cx="114703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>
                <a:solidFill>
                  <a:srgbClr val="C00000"/>
                </a:solidFill>
              </a:rPr>
              <a:t>Deleted variables: 1) Reflective</a:t>
            </a:r>
            <a:r>
              <a:rPr lang="en-US" sz="1050" dirty="0">
                <a:solidFill>
                  <a:srgbClr val="C00000"/>
                </a:solidFill>
              </a:rPr>
              <a:t>: </a:t>
            </a:r>
            <a:r>
              <a:rPr lang="en-GB" sz="1050" dirty="0">
                <a:solidFill>
                  <a:srgbClr val="C00000"/>
                </a:solidFill>
              </a:rPr>
              <a:t>outer loading &lt; 0.5 &amp;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1.96; 2) Formative: outer weights &lt; 0.2 or VIF &gt; 3.3 &amp;</a:t>
            </a:r>
            <a:r>
              <a:rPr lang="en-GB" sz="1050" dirty="0">
                <a:solidFill>
                  <a:srgbClr val="C00000"/>
                </a:solidFill>
              </a:rPr>
              <a:t>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  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214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3A802-3195-12B4-97E0-AB0464815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BC278C-4195-33A3-F683-AF6F13721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766393"/>
              </p:ext>
            </p:extLst>
          </p:nvPr>
        </p:nvGraphicFramePr>
        <p:xfrm>
          <a:off x="360828" y="806288"/>
          <a:ext cx="11470347" cy="5556541"/>
        </p:xfrm>
        <a:graphic>
          <a:graphicData uri="http://schemas.openxmlformats.org/drawingml/2006/table">
            <a:tbl>
              <a:tblPr firstRow="1" firstCol="1">
                <a:tableStyleId>{793D81CF-94F2-401A-BA57-92F5A7B2D0C5}</a:tableStyleId>
              </a:tblPr>
              <a:tblGrid>
                <a:gridCol w="878445">
                  <a:extLst>
                    <a:ext uri="{9D8B030D-6E8A-4147-A177-3AD203B41FA5}">
                      <a16:colId xmlns:a16="http://schemas.microsoft.com/office/drawing/2014/main" val="4187685912"/>
                    </a:ext>
                  </a:extLst>
                </a:gridCol>
                <a:gridCol w="548584">
                  <a:extLst>
                    <a:ext uri="{9D8B030D-6E8A-4147-A177-3AD203B41FA5}">
                      <a16:colId xmlns:a16="http://schemas.microsoft.com/office/drawing/2014/main" val="464818759"/>
                    </a:ext>
                  </a:extLst>
                </a:gridCol>
                <a:gridCol w="1701247">
                  <a:extLst>
                    <a:ext uri="{9D8B030D-6E8A-4147-A177-3AD203B41FA5}">
                      <a16:colId xmlns:a16="http://schemas.microsoft.com/office/drawing/2014/main" val="3705544634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461465563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2705932792"/>
                    </a:ext>
                  </a:extLst>
                </a:gridCol>
                <a:gridCol w="963443">
                  <a:extLst>
                    <a:ext uri="{9D8B030D-6E8A-4147-A177-3AD203B41FA5}">
                      <a16:colId xmlns:a16="http://schemas.microsoft.com/office/drawing/2014/main" val="3112367060"/>
                    </a:ext>
                  </a:extLst>
                </a:gridCol>
                <a:gridCol w="1015831">
                  <a:extLst>
                    <a:ext uri="{9D8B030D-6E8A-4147-A177-3AD203B41FA5}">
                      <a16:colId xmlns:a16="http://schemas.microsoft.com/office/drawing/2014/main" val="2074996668"/>
                    </a:ext>
                  </a:extLst>
                </a:gridCol>
                <a:gridCol w="1149002">
                  <a:extLst>
                    <a:ext uri="{9D8B030D-6E8A-4147-A177-3AD203B41FA5}">
                      <a16:colId xmlns:a16="http://schemas.microsoft.com/office/drawing/2014/main" val="3920882787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630609569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3208346022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558437363"/>
                    </a:ext>
                  </a:extLst>
                </a:gridCol>
              </a:tblGrid>
              <a:tr h="159356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Latent variable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Indicators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Indicator Significance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 dirty="0">
                        <a:solidFill>
                          <a:schemeClr val="tx1"/>
                        </a:solidFill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Collinearity Check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Convergent validity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Internal consistency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Discriminant validity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Significance Testing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561350"/>
                  </a:ext>
                </a:extLst>
              </a:tr>
              <a:tr h="30932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Weights </a:t>
                      </a:r>
                      <a:r>
                        <a:rPr lang="en-DE" sz="800" dirty="0"/>
                        <a:t>≥ 0.2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Loadings</a:t>
                      </a:r>
                      <a:r>
                        <a:rPr lang="en-DE" sz="800" dirty="0"/>
                        <a:t>≥ 0.5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VIF  &lt; 3.3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 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Composite reliability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Cross-Loadings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Weights &gt; 1.96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Loadings &gt; 1.96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356081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_Wild boar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CP_WB1: Occur</a:t>
                      </a:r>
                      <a:r>
                        <a:rPr lang="en-GB" sz="800" u="none" strike="noStrike" dirty="0">
                          <a:effectLst/>
                        </a:rPr>
                        <a:t>r</a:t>
                      </a:r>
                      <a:r>
                        <a:rPr lang="en-DE" sz="800" u="none" strike="noStrike" dirty="0">
                          <a:effectLst/>
                        </a:rPr>
                        <a:t>ence </a:t>
                      </a:r>
                      <a:r>
                        <a:rPr lang="en-GB" sz="800" dirty="0"/>
                        <a:t>Frequency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0.421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1.246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4.542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7.671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83739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CP_WB2: Annual Duration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0.421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0.606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1.175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2.944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4.848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240838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CP_WB3: Conflict Frequency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23231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dirty="0"/>
                        <a:t>CP_WB4: Population Trend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0.631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0.769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1.223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5.634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8.441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744874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_All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CP_A1: </a:t>
                      </a:r>
                      <a:r>
                        <a:rPr lang="en-DE" sz="800" dirty="0"/>
                        <a:t>Conflict-causing Species Number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0.849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0.880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1.368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6.021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2.767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606314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CP_A2: </a:t>
                      </a:r>
                      <a:r>
                        <a:rPr lang="en-DE" sz="800" dirty="0"/>
                        <a:t>Percieved Conflict Severity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0.477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0.530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1.330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2.092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2.409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229135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CP_A3: </a:t>
                      </a:r>
                      <a:r>
                        <a:rPr lang="en-DE" sz="800" dirty="0"/>
                        <a:t>Conflict Duration </a:t>
                      </a: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428510"/>
                  </a:ext>
                </a:extLst>
              </a:tr>
              <a:tr h="30932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Prevention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PE: Average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1.089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656512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r>
                        <a:rPr lang="en-GB" sz="800" strike="noStrike" dirty="0"/>
                        <a:t>Compensation Participation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CE0: Yes/No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1.299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42915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Compensation Anticipation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CA1: Lowest Accepted Percentage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609511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strike="noStrike" dirty="0"/>
                        <a:t>CA2: Expected Percentage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8428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dirty="0"/>
                        <a:t>CA3:Annual Insurance Payment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1.115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563986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Policy Support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PS1: Reported Institute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0.650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0.720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1.245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4.088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4.932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8180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PS2: Knowledge Obtained Method</a:t>
                      </a:r>
                      <a:endParaRPr lang="en-DE" sz="800" dirty="0"/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0.697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0.763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1.196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4.774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5.226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686729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TC1: Damage Area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0.869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0.977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1.702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2.594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5.398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99445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u="none" strike="noStrike" dirty="0">
                          <a:effectLst/>
                        </a:rPr>
                        <a:t>TC2: Perceived economic loss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0.240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0.631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1.457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0.567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2.586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015728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IC1: General Attitude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1.399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89036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IC2_1</a:t>
                      </a: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05118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IC2_2</a:t>
                      </a: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70570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IC2_3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09482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Benifit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IB: Ecological Value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1.222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797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Q4_Gender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1.186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736378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Q5_Age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1.379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4875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Q6_Education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1.363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12576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AnnualIncome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Q8_AnnualIncome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1.199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345190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HouseholdAsset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Q14_CropAsset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1.695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521082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Tolerance</a:t>
                      </a:r>
                    </a:p>
                    <a:p>
                      <a:pPr algn="l" fontAlgn="b"/>
                      <a:r>
                        <a:rPr lang="en-DE" sz="8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0.2070 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Reflective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Tol1: Killing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0.488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0.790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1.523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0.551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0.781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10.942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22.006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7168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Tol2: Population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0.495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0.845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1.565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17.308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41.220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88448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Tol3: </a:t>
                      </a: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Spatial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7238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Tol4: Loss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0.350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0.559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1.226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5.564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7.840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85761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1EB11A64-23C6-3674-243C-EC3A2A21B9AC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0</a:t>
            </a:r>
            <a:r>
              <a:rPr lang="zh-CN" altLang="en-US" sz="2000" b="1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 All Data (n=625)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– Measurement Model (GOODNESS-OF-FIT 0.2157 )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8D6CD-70D8-3CC4-1344-CBC2FFAC63BE}"/>
              </a:ext>
            </a:extLst>
          </p:cNvPr>
          <p:cNvSpPr txBox="1"/>
          <p:nvPr/>
        </p:nvSpPr>
        <p:spPr>
          <a:xfrm>
            <a:off x="360828" y="6596390"/>
            <a:ext cx="114703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>
                <a:solidFill>
                  <a:srgbClr val="C00000"/>
                </a:solidFill>
              </a:rPr>
              <a:t>Deleted variables: 1) Reflective</a:t>
            </a:r>
            <a:r>
              <a:rPr lang="en-US" sz="1050" dirty="0">
                <a:solidFill>
                  <a:srgbClr val="C00000"/>
                </a:solidFill>
              </a:rPr>
              <a:t>: </a:t>
            </a:r>
            <a:r>
              <a:rPr lang="en-GB" sz="1050" dirty="0">
                <a:solidFill>
                  <a:srgbClr val="C00000"/>
                </a:solidFill>
              </a:rPr>
              <a:t>outer loading &lt; 0.5 &amp;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1.96; 2) Formative: outer weights &lt; 0.2 or VIF &gt; 3.3 &amp;</a:t>
            </a:r>
            <a:r>
              <a:rPr lang="en-GB" sz="1050" dirty="0">
                <a:solidFill>
                  <a:srgbClr val="C00000"/>
                </a:solidFill>
              </a:rPr>
              <a:t>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  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963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F76A-B198-D512-4160-AEE4A3246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B52540-1630-91B7-6DF2-CCD0345AC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74721"/>
              </p:ext>
            </p:extLst>
          </p:nvPr>
        </p:nvGraphicFramePr>
        <p:xfrm>
          <a:off x="360829" y="741734"/>
          <a:ext cx="11143310" cy="5876064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379036">
                  <a:extLst>
                    <a:ext uri="{9D8B030D-6E8A-4147-A177-3AD203B41FA5}">
                      <a16:colId xmlns:a16="http://schemas.microsoft.com/office/drawing/2014/main" val="749563485"/>
                    </a:ext>
                  </a:extLst>
                </a:gridCol>
                <a:gridCol w="173647">
                  <a:extLst>
                    <a:ext uri="{9D8B030D-6E8A-4147-A177-3AD203B41FA5}">
                      <a16:colId xmlns:a16="http://schemas.microsoft.com/office/drawing/2014/main" val="2031556608"/>
                    </a:ext>
                  </a:extLst>
                </a:gridCol>
                <a:gridCol w="1380163">
                  <a:extLst>
                    <a:ext uri="{9D8B030D-6E8A-4147-A177-3AD203B41FA5}">
                      <a16:colId xmlns:a16="http://schemas.microsoft.com/office/drawing/2014/main" val="3343153147"/>
                    </a:ext>
                  </a:extLst>
                </a:gridCol>
                <a:gridCol w="493612">
                  <a:extLst>
                    <a:ext uri="{9D8B030D-6E8A-4147-A177-3AD203B41FA5}">
                      <a16:colId xmlns:a16="http://schemas.microsoft.com/office/drawing/2014/main" val="2157173871"/>
                    </a:ext>
                  </a:extLst>
                </a:gridCol>
                <a:gridCol w="640935">
                  <a:extLst>
                    <a:ext uri="{9D8B030D-6E8A-4147-A177-3AD203B41FA5}">
                      <a16:colId xmlns:a16="http://schemas.microsoft.com/office/drawing/2014/main" val="2521125321"/>
                    </a:ext>
                  </a:extLst>
                </a:gridCol>
                <a:gridCol w="572568">
                  <a:extLst>
                    <a:ext uri="{9D8B030D-6E8A-4147-A177-3AD203B41FA5}">
                      <a16:colId xmlns:a16="http://schemas.microsoft.com/office/drawing/2014/main" val="1048908395"/>
                    </a:ext>
                  </a:extLst>
                </a:gridCol>
                <a:gridCol w="623843">
                  <a:extLst>
                    <a:ext uri="{9D8B030D-6E8A-4147-A177-3AD203B41FA5}">
                      <a16:colId xmlns:a16="http://schemas.microsoft.com/office/drawing/2014/main" val="1968220880"/>
                    </a:ext>
                  </a:extLst>
                </a:gridCol>
                <a:gridCol w="572568">
                  <a:extLst>
                    <a:ext uri="{9D8B030D-6E8A-4147-A177-3AD203B41FA5}">
                      <a16:colId xmlns:a16="http://schemas.microsoft.com/office/drawing/2014/main" val="775436418"/>
                    </a:ext>
                  </a:extLst>
                </a:gridCol>
                <a:gridCol w="764188">
                  <a:extLst>
                    <a:ext uri="{9D8B030D-6E8A-4147-A177-3AD203B41FA5}">
                      <a16:colId xmlns:a16="http://schemas.microsoft.com/office/drawing/2014/main" val="3571124772"/>
                    </a:ext>
                  </a:extLst>
                </a:gridCol>
                <a:gridCol w="4542750">
                  <a:extLst>
                    <a:ext uri="{9D8B030D-6E8A-4147-A177-3AD203B41FA5}">
                      <a16:colId xmlns:a16="http://schemas.microsoft.com/office/drawing/2014/main" val="2235612017"/>
                    </a:ext>
                  </a:extLst>
                </a:gridCol>
              </a:tblGrid>
              <a:tr h="140064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DE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Path</a:t>
                      </a:r>
                    </a:p>
                  </a:txBody>
                  <a:tcPr marL="6467" marR="6467" marT="6467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D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467" marR="6467" marT="6467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effectLst/>
                        </a:rPr>
                        <a:t>Original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 err="1">
                          <a:effectLst/>
                        </a:rPr>
                        <a:t>Mean.Boot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 err="1">
                          <a:effectLst/>
                        </a:rPr>
                        <a:t>Std.Error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effectLst/>
                        </a:rPr>
                        <a:t>perc.025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effectLst/>
                        </a:rPr>
                        <a:t>perc.975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zh-CN" altLang="en-US" sz="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GB" sz="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Tips</a:t>
                      </a:r>
                    </a:p>
                  </a:txBody>
                  <a:tcPr marL="6467" marR="6467" marT="6467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08055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-0.043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-0.034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-0.125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-0.950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843086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Compensation_Participation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2.626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When human-wild boar conflict is more frequent, people prefer to join in the compensation policy.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547083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4.093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human-wild boar conflict is more frequent, people prefer to spend more in the insurance.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03332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-0.033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-0.038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-0.143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-0.606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649503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2.820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human-wild boar conflict is more frequent, people feel more tangible cost.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929447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0.284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3.214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human-wild boar conflict is more frequent, people feel more intangible cost.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24614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-0.133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-0.135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-0.227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-0.038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-2.793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human-wild boar conflict is more frequent, people feel less intangible benefits.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72552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-0.046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-0.050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-0.139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-1.027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61786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ConflictExp_A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-0.084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2.216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329159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ConflictExp_A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Compensation_Participation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0.284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-0.060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3.025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970133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ConflictExp_A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0.178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-0.073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1.545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478026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ConflictExp_A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-0.237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-0.229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-0.359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-2.008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269630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ConflictExp_A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-0.112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0.345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587038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ConflictExp_A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-0.089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0.326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1.223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253074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ConflictExp_A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-0.118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-0.106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-0.204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-2.006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338653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ConflictExp_A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-0.058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-0.058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-0.146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-1.268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745816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-0.050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1.124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730550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-0.082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-0.080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-0.156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-1.986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40349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-0.025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1.516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110243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3.011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prevention is more effective, people show higher tolerance to wild boars.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640345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Compensation_Participation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-0.008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-0.002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-0.106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-0.144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400533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Compensation_Participation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-0.004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1.617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121100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Compensation_Participation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-0.066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-0.067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-0.141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-1.661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702810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Compensation_Participation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-0.115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-0.113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-0.188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-0.042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-3.309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When people join in the compensation policy, they show lower tolerance to wild boars.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359941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-0.051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0.294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485284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-0.053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-0.037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-0.116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-1.089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119361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-0.049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-0.059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-0.114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-0.017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-1.998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people prefer to spend more in the insurance, they feel less intangible benefits.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709150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-0.012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-0.029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-0.136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-0.254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85756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-0.080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1.095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767112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0.172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3.604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people seek for more policy support, they feel more intangible costs.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884391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3.011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people seek for more policy support, they feel more intangible benefits.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758374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-0.073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-0.074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-0.164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-1.551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297538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-0.038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828190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-0.279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-0.281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-0.358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-0.184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-6.208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When people feel more intangible costs, they show lower tolerance to wild boars.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047281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0.246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5.098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people feel more intangible benefits, they show higher tolerance to wild boars.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944657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-0.047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-0.046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-0.120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-1.105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17033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-0.061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-0.061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-0.136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-1.475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726121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Education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-0.012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-0.017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-0.116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-0.261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956511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AnnualIncome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-0.063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405003"/>
                  </a:ext>
                </a:extLst>
              </a:tr>
              <a:tr h="14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HouseholdAsset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-0.070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0.277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533218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6FFE59DA-9D59-F1CC-9BD0-DD030E0B10EF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0</a:t>
            </a:r>
            <a:r>
              <a:rPr lang="zh-CN" altLang="en-US" sz="2000" b="1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 All Data (n=625)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: Structure Model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3716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135E6-B96D-28CE-BDBD-31829B03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C682DE4A-5471-9FAC-26AD-77027574CFC3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0</a:t>
            </a:r>
            <a:r>
              <a:rPr lang="zh-CN" altLang="en-US" sz="2000" b="1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 All Data (n=625) 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2EDD4C3-4042-03AB-6894-80A548A81BAA}"/>
              </a:ext>
            </a:extLst>
          </p:cNvPr>
          <p:cNvGrpSpPr/>
          <p:nvPr/>
        </p:nvGrpSpPr>
        <p:grpSpPr>
          <a:xfrm>
            <a:off x="3885878" y="2078706"/>
            <a:ext cx="2867691" cy="3367339"/>
            <a:chOff x="2517157" y="3186676"/>
            <a:chExt cx="2983133" cy="336733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83C00A10-261A-363D-5B33-0B1FD64E7B02}"/>
                </a:ext>
              </a:extLst>
            </p:cNvPr>
            <p:cNvGrpSpPr/>
            <p:nvPr/>
          </p:nvGrpSpPr>
          <p:grpSpPr>
            <a:xfrm>
              <a:off x="2517159" y="3186676"/>
              <a:ext cx="2983131" cy="598315"/>
              <a:chOff x="1620560" y="3614915"/>
              <a:chExt cx="2983131" cy="598315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44E357-E69A-0816-A945-2C41EFB6BC87}"/>
                  </a:ext>
                </a:extLst>
              </p:cNvPr>
              <p:cNvSpPr txBox="1"/>
              <p:nvPr/>
            </p:nvSpPr>
            <p:spPr>
              <a:xfrm>
                <a:off x="1620561" y="3614915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Prevention Effectiveness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9C07E5-484F-E6CF-4015-23EF11DD5673}"/>
                  </a:ext>
                </a:extLst>
              </p:cNvPr>
              <p:cNvSpPr txBox="1"/>
              <p:nvPr/>
            </p:nvSpPr>
            <p:spPr>
              <a:xfrm>
                <a:off x="1620560" y="3951620"/>
                <a:ext cx="298313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sz="1100" dirty="0"/>
                  <a:t>Average Effectiveness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8CC31D8-202A-EB7C-C7A7-D022F8601A61}"/>
                </a:ext>
              </a:extLst>
            </p:cNvPr>
            <p:cNvGrpSpPr/>
            <p:nvPr/>
          </p:nvGrpSpPr>
          <p:grpSpPr>
            <a:xfrm>
              <a:off x="2517157" y="4766021"/>
              <a:ext cx="2983130" cy="940136"/>
              <a:chOff x="1620556" y="4734443"/>
              <a:chExt cx="2983130" cy="94013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B66CB7-39A4-9DAA-940B-9B549D11FC3A}"/>
                  </a:ext>
                </a:extLst>
              </p:cNvPr>
              <p:cNvSpPr txBox="1"/>
              <p:nvPr/>
            </p:nvSpPr>
            <p:spPr>
              <a:xfrm>
                <a:off x="1620556" y="4734443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Compensation Anticipation 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E10444-7322-703B-CDAA-CE8AD602BD77}"/>
                  </a:ext>
                </a:extLst>
              </p:cNvPr>
              <p:cNvSpPr txBox="1"/>
              <p:nvPr/>
            </p:nvSpPr>
            <p:spPr>
              <a:xfrm>
                <a:off x="1620556" y="5074415"/>
                <a:ext cx="2983130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strike="sngStrike" dirty="0"/>
                  <a:t>Lowest Accepted Percentage, </a:t>
                </a:r>
              </a:p>
              <a:p>
                <a:pPr marL="228600" indent="-228600">
                  <a:buAutoNum type="arabicParenR"/>
                </a:pPr>
                <a:r>
                  <a:rPr lang="en-GB" sz="1100" strike="sngStrike" dirty="0"/>
                  <a:t>Expected Percentage,</a:t>
                </a:r>
              </a:p>
              <a:p>
                <a:pPr marL="228600" indent="-228600">
                  <a:buAutoNum type="arabicParenR"/>
                </a:pPr>
                <a:r>
                  <a:rPr lang="en-GB" sz="1100" dirty="0"/>
                  <a:t>Annual Insurance Payment</a:t>
                </a:r>
                <a:endParaRPr lang="en-DE" sz="1100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8100A42-45D8-7C36-5C67-FF642E87D000}"/>
                </a:ext>
              </a:extLst>
            </p:cNvPr>
            <p:cNvGrpSpPr/>
            <p:nvPr/>
          </p:nvGrpSpPr>
          <p:grpSpPr>
            <a:xfrm>
              <a:off x="2517157" y="5801431"/>
              <a:ext cx="2983132" cy="752584"/>
              <a:chOff x="1620559" y="5985951"/>
              <a:chExt cx="2983132" cy="75258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369445-1C5F-A6D6-85A0-CB6EDFD880C2}"/>
                  </a:ext>
                </a:extLst>
              </p:cNvPr>
              <p:cNvSpPr txBox="1"/>
              <p:nvPr/>
            </p:nvSpPr>
            <p:spPr>
              <a:xfrm>
                <a:off x="1620561" y="5985951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Policy Support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88C21B-68CB-D58A-AC79-4C2C58359416}"/>
                  </a:ext>
                </a:extLst>
              </p:cNvPr>
              <p:cNvSpPr txBox="1"/>
              <p:nvPr/>
            </p:nvSpPr>
            <p:spPr>
              <a:xfrm>
                <a:off x="1620559" y="6307648"/>
                <a:ext cx="298313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US" sz="1100" dirty="0"/>
                  <a:t>Supportive Institute, </a:t>
                </a:r>
              </a:p>
              <a:p>
                <a:pPr marL="228600" indent="-228600">
                  <a:buAutoNum type="arabicParenR"/>
                </a:pPr>
                <a:r>
                  <a:rPr lang="en-US" sz="1100" dirty="0"/>
                  <a:t>Knowledge Obtained Method</a:t>
                </a:r>
                <a:endParaRPr lang="en-DE" sz="1100" dirty="0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F59FFC40-993C-137F-BE5D-5D2926F7081F}"/>
                </a:ext>
              </a:extLst>
            </p:cNvPr>
            <p:cNvGrpSpPr/>
            <p:nvPr/>
          </p:nvGrpSpPr>
          <p:grpSpPr>
            <a:xfrm>
              <a:off x="2517159" y="3874240"/>
              <a:ext cx="2983130" cy="603361"/>
              <a:chOff x="1620558" y="4044766"/>
              <a:chExt cx="2983130" cy="603361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D94BBEA-B16B-6A1A-5EE7-F2B2229329C4}"/>
                  </a:ext>
                </a:extLst>
              </p:cNvPr>
              <p:cNvSpPr txBox="1"/>
              <p:nvPr/>
            </p:nvSpPr>
            <p:spPr>
              <a:xfrm>
                <a:off x="1620558" y="4044766"/>
                <a:ext cx="2983130" cy="30777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Compensation Participation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383C4C-F1F6-FD0C-033E-7465D40EC7F4}"/>
                  </a:ext>
                </a:extLst>
              </p:cNvPr>
              <p:cNvSpPr txBox="1"/>
              <p:nvPr/>
            </p:nvSpPr>
            <p:spPr>
              <a:xfrm>
                <a:off x="1620558" y="4386517"/>
                <a:ext cx="298313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sz="1100" dirty="0"/>
                  <a:t>Yes / No</a:t>
                </a:r>
                <a:endParaRPr lang="en-DE" sz="1100" strike="sngStrike" dirty="0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3BF455C-B74F-2C83-EC03-D614989D1B96}"/>
              </a:ext>
            </a:extLst>
          </p:cNvPr>
          <p:cNvGrpSpPr/>
          <p:nvPr/>
        </p:nvGrpSpPr>
        <p:grpSpPr>
          <a:xfrm>
            <a:off x="7493159" y="2077125"/>
            <a:ext cx="2199398" cy="2513238"/>
            <a:chOff x="6525785" y="1076519"/>
            <a:chExt cx="2386305" cy="251323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105C9F8-EEEB-C26B-3D2A-E47FBB8ECC13}"/>
                </a:ext>
              </a:extLst>
            </p:cNvPr>
            <p:cNvGrpSpPr/>
            <p:nvPr/>
          </p:nvGrpSpPr>
          <p:grpSpPr>
            <a:xfrm>
              <a:off x="6525786" y="1076519"/>
              <a:ext cx="2386304" cy="740358"/>
              <a:chOff x="6142215" y="3162292"/>
              <a:chExt cx="2386304" cy="74035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B443F7F-0914-167F-97AA-6C60E9297308}"/>
                  </a:ext>
                </a:extLst>
              </p:cNvPr>
              <p:cNvSpPr txBox="1"/>
              <p:nvPr/>
            </p:nvSpPr>
            <p:spPr>
              <a:xfrm>
                <a:off x="6142215" y="3162292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Tangible Cost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242FDB-2E1E-8956-936C-7A5B11A67C91}"/>
                  </a:ext>
                </a:extLst>
              </p:cNvPr>
              <p:cNvSpPr txBox="1"/>
              <p:nvPr/>
            </p:nvSpPr>
            <p:spPr>
              <a:xfrm>
                <a:off x="6142218" y="3471763"/>
                <a:ext cx="238630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dirty="0"/>
                  <a:t>Damage Area, </a:t>
                </a:r>
              </a:p>
              <a:p>
                <a:pPr marL="228600" indent="-228600">
                  <a:buAutoNum type="arabicParenR"/>
                </a:pPr>
                <a:r>
                  <a:rPr lang="en-GB" sz="1100" dirty="0"/>
                  <a:t>Perceived</a:t>
                </a:r>
                <a:r>
                  <a:rPr lang="en-DE" sz="1100" dirty="0"/>
                  <a:t> economic loss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E59ECF6-3DC9-CA04-0DA7-88651EE3DAE1}"/>
                </a:ext>
              </a:extLst>
            </p:cNvPr>
            <p:cNvGrpSpPr/>
            <p:nvPr/>
          </p:nvGrpSpPr>
          <p:grpSpPr>
            <a:xfrm>
              <a:off x="6525787" y="1970943"/>
              <a:ext cx="2386302" cy="932427"/>
              <a:chOff x="6142216" y="4056716"/>
              <a:chExt cx="2386302" cy="93242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44D96ED-C064-A8F3-15FC-1B7549A47B99}"/>
                  </a:ext>
                </a:extLst>
              </p:cNvPr>
              <p:cNvSpPr txBox="1"/>
              <p:nvPr/>
            </p:nvSpPr>
            <p:spPr>
              <a:xfrm>
                <a:off x="6142218" y="4056716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Intangible Cost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F862819-5561-2BA9-A52A-60536B441868}"/>
                  </a:ext>
                </a:extLst>
              </p:cNvPr>
              <p:cNvSpPr txBox="1"/>
              <p:nvPr/>
            </p:nvSpPr>
            <p:spPr>
              <a:xfrm>
                <a:off x="6142216" y="4388979"/>
                <a:ext cx="2386301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US" sz="1100" dirty="0"/>
                  <a:t>General</a:t>
                </a:r>
                <a:r>
                  <a:rPr lang="en-DE" sz="1100" dirty="0"/>
                  <a:t> Attitude, </a:t>
                </a:r>
              </a:p>
              <a:p>
                <a:pPr marL="228600" indent="-228600">
                  <a:buAutoNum type="arabicParenR"/>
                </a:pPr>
                <a:r>
                  <a:rPr lang="en-DE" sz="1100" strike="sngStrike" dirty="0"/>
                  <a:t>Descriptive Attitude: First, Second, Third.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E6718A8C-4896-CB27-E2CF-DFFA4861CE6E}"/>
                </a:ext>
              </a:extLst>
            </p:cNvPr>
            <p:cNvGrpSpPr/>
            <p:nvPr/>
          </p:nvGrpSpPr>
          <p:grpSpPr>
            <a:xfrm>
              <a:off x="6525785" y="3016982"/>
              <a:ext cx="2386301" cy="572775"/>
              <a:chOff x="6142214" y="5102755"/>
              <a:chExt cx="2386301" cy="572775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10A218-5828-9AB7-81F0-476A8DA32D9D}"/>
                  </a:ext>
                </a:extLst>
              </p:cNvPr>
              <p:cNvSpPr txBox="1"/>
              <p:nvPr/>
            </p:nvSpPr>
            <p:spPr>
              <a:xfrm>
                <a:off x="6142215" y="5102755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Intangible Benefit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CF1AF01-9672-B12B-D94E-C5BEF9C89F9A}"/>
                  </a:ext>
                </a:extLst>
              </p:cNvPr>
              <p:cNvSpPr txBox="1"/>
              <p:nvPr/>
            </p:nvSpPr>
            <p:spPr>
              <a:xfrm>
                <a:off x="6142214" y="5413920"/>
                <a:ext cx="238630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"/>
                <a:r>
                  <a:rPr lang="en-GB" sz="1100" dirty="0"/>
                  <a:t>Ecological Value</a:t>
                </a:r>
                <a:endParaRPr lang="en-DE" sz="11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893DF82-4705-0FEF-8732-F767596DF514}"/>
              </a:ext>
            </a:extLst>
          </p:cNvPr>
          <p:cNvGrpSpPr/>
          <p:nvPr/>
        </p:nvGrpSpPr>
        <p:grpSpPr>
          <a:xfrm>
            <a:off x="10405840" y="2077125"/>
            <a:ext cx="1499143" cy="736052"/>
            <a:chOff x="8980259" y="4264188"/>
            <a:chExt cx="2126800" cy="73605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71080FD-AEF3-23E2-D3A9-342ABC49D0E4}"/>
                </a:ext>
              </a:extLst>
            </p:cNvPr>
            <p:cNvSpPr txBox="1"/>
            <p:nvPr/>
          </p:nvSpPr>
          <p:spPr>
            <a:xfrm>
              <a:off x="8980259" y="4264188"/>
              <a:ext cx="21268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en-DE"/>
              </a:defPPr>
              <a:lvl1pPr algn="ctr">
                <a:buNone/>
                <a:defRPr sz="1600" b="1">
                  <a:latin typeface="Heiti SC Medium" pitchFamily="2" charset="-128"/>
                  <a:ea typeface="Heiti SC Medium" pitchFamily="2" charset="-128"/>
                  <a:cs typeface="+mj-cs"/>
                </a:defRPr>
              </a:lvl1pPr>
            </a:lstStyle>
            <a:p>
              <a:r>
                <a:rPr lang="en-GB" sz="1400" dirty="0"/>
                <a:t>Tolerance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827522-6889-7B4A-551E-3F3CEF128F14}"/>
                </a:ext>
              </a:extLst>
            </p:cNvPr>
            <p:cNvSpPr txBox="1"/>
            <p:nvPr/>
          </p:nvSpPr>
          <p:spPr>
            <a:xfrm>
              <a:off x="8980259" y="4569353"/>
              <a:ext cx="21267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DE" sz="1100" dirty="0"/>
                <a:t>Killing, Population,</a:t>
              </a:r>
            </a:p>
            <a:p>
              <a:pPr algn="ctr"/>
              <a:r>
                <a:rPr lang="en-DE" sz="1100" strike="sngStrike" dirty="0"/>
                <a:t>Spatial</a:t>
              </a:r>
              <a:r>
                <a:rPr lang="en-DE" sz="1100" dirty="0"/>
                <a:t>, Loss</a:t>
              </a:r>
            </a:p>
          </p:txBody>
        </p:sp>
      </p:grp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4993BFB7-6110-7A5C-1594-0E7ACEA99474}"/>
              </a:ext>
            </a:extLst>
          </p:cNvPr>
          <p:cNvCxnSpPr>
            <a:cxnSpLocks/>
            <a:stCxn id="13" idx="0"/>
            <a:endCxn id="17" idx="0"/>
          </p:cNvCxnSpPr>
          <p:nvPr/>
        </p:nvCxnSpPr>
        <p:spPr>
          <a:xfrm rot="5400000" flipH="1" flipV="1">
            <a:off x="5153789" y="-1360362"/>
            <a:ext cx="1581" cy="6876556"/>
          </a:xfrm>
          <a:prstGeom prst="bentConnector3">
            <a:avLst>
              <a:gd name="adj1" fmla="val 473466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5A059739-DE04-C1AA-5F23-1C407801E2C9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4448977" y="-653971"/>
            <a:ext cx="1924117" cy="7389470"/>
          </a:xfrm>
          <a:prstGeom prst="bentConnector4">
            <a:avLst>
              <a:gd name="adj1" fmla="val -60944"/>
              <a:gd name="adj2" fmla="val 999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90C19D01-0C5F-9DB2-773B-7A72E1C3293E}"/>
              </a:ext>
            </a:extLst>
          </p:cNvPr>
          <p:cNvCxnSpPr>
            <a:cxnSpLocks/>
            <a:stCxn id="18" idx="3"/>
            <a:endCxn id="73" idx="1"/>
          </p:cNvCxnSpPr>
          <p:nvPr/>
        </p:nvCxnSpPr>
        <p:spPr>
          <a:xfrm flipV="1">
            <a:off x="9692556" y="2231014"/>
            <a:ext cx="713284" cy="894424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6D9BFFD3-6C0E-26AC-BBE8-FB4E983B771F}"/>
              </a:ext>
            </a:extLst>
          </p:cNvPr>
          <p:cNvCxnSpPr>
            <a:cxnSpLocks/>
            <a:stCxn id="19" idx="3"/>
            <a:endCxn id="73" idx="1"/>
          </p:cNvCxnSpPr>
          <p:nvPr/>
        </p:nvCxnSpPr>
        <p:spPr>
          <a:xfrm flipV="1">
            <a:off x="9692553" y="2231014"/>
            <a:ext cx="713287" cy="194046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7B7683C-7C9C-7EF7-0823-3AF111B93DEB}"/>
              </a:ext>
            </a:extLst>
          </p:cNvPr>
          <p:cNvGrpSpPr/>
          <p:nvPr/>
        </p:nvGrpSpPr>
        <p:grpSpPr>
          <a:xfrm>
            <a:off x="274276" y="2078706"/>
            <a:ext cx="2884045" cy="2137268"/>
            <a:chOff x="691856" y="1130805"/>
            <a:chExt cx="3238828" cy="223587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699F8DE-4071-A582-B6CC-A2CA037551D4}"/>
                </a:ext>
              </a:extLst>
            </p:cNvPr>
            <p:cNvGrpSpPr/>
            <p:nvPr/>
          </p:nvGrpSpPr>
          <p:grpSpPr>
            <a:xfrm>
              <a:off x="691858" y="1130805"/>
              <a:ext cx="3238825" cy="1143494"/>
              <a:chOff x="691858" y="1130805"/>
              <a:chExt cx="3238825" cy="114349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CA8F2B-C136-D50F-76A6-F757336F81DF}"/>
                  </a:ext>
                </a:extLst>
              </p:cNvPr>
              <p:cNvSpPr txBox="1"/>
              <p:nvPr/>
            </p:nvSpPr>
            <p:spPr>
              <a:xfrm>
                <a:off x="691861" y="1130805"/>
                <a:ext cx="3238822" cy="3219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GB" sz="1400" b="1" dirty="0">
                    <a:latin typeface="Heiti SC Medium" pitchFamily="2" charset="-128"/>
                    <a:ea typeface="Heiti SC Medium" pitchFamily="2" charset="-128"/>
                    <a:cs typeface="+mj-cs"/>
                  </a:rPr>
                  <a:t>Conflict Experience - Wild boar</a:t>
                </a: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E4670A-C237-A146-D65C-D0327C4E82B0}"/>
                  </a:ext>
                </a:extLst>
              </p:cNvPr>
              <p:cNvSpPr txBox="1"/>
              <p:nvPr/>
            </p:nvSpPr>
            <p:spPr>
              <a:xfrm>
                <a:off x="691858" y="1469360"/>
                <a:ext cx="3238821" cy="804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dirty="0"/>
                  <a:t>Occur</a:t>
                </a:r>
                <a:r>
                  <a:rPr lang="en-GB" sz="1100" dirty="0"/>
                  <a:t>r</a:t>
                </a:r>
                <a:r>
                  <a:rPr lang="en-DE" sz="1100" dirty="0"/>
                  <a:t>ence </a:t>
                </a:r>
                <a:r>
                  <a:rPr lang="en-GB" sz="1100" dirty="0"/>
                  <a:t>Frequency</a:t>
                </a:r>
                <a:r>
                  <a:rPr lang="en-DE" sz="1100" dirty="0"/>
                  <a:t>, 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Annual Duration,</a:t>
                </a:r>
              </a:p>
              <a:p>
                <a:pPr marL="228600" indent="-228600">
                  <a:buAutoNum type="arabicParenR"/>
                </a:pPr>
                <a:r>
                  <a:rPr lang="en-DE" sz="1100" strike="sngStrike" dirty="0"/>
                  <a:t>Conflict </a:t>
                </a:r>
                <a:r>
                  <a:rPr lang="en-GB" sz="1100" strike="sngStrike" dirty="0"/>
                  <a:t>Frequency</a:t>
                </a:r>
                <a:r>
                  <a:rPr lang="en-DE" sz="1100" strike="sngStrike" dirty="0"/>
                  <a:t>,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Population Trend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7E05337-069A-2F18-CA00-CCCBC5F8E930}"/>
                </a:ext>
              </a:extLst>
            </p:cNvPr>
            <p:cNvGrpSpPr/>
            <p:nvPr/>
          </p:nvGrpSpPr>
          <p:grpSpPr>
            <a:xfrm>
              <a:off x="691856" y="2405831"/>
              <a:ext cx="3238828" cy="960844"/>
              <a:chOff x="691855" y="2344082"/>
              <a:chExt cx="3238828" cy="960844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CA1FBD-C8DF-33B7-417B-76D9C7E79693}"/>
                  </a:ext>
                </a:extLst>
              </p:cNvPr>
              <p:cNvSpPr txBox="1"/>
              <p:nvPr/>
            </p:nvSpPr>
            <p:spPr>
              <a:xfrm>
                <a:off x="691861" y="2344082"/>
                <a:ext cx="3238822" cy="3219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GB" sz="1400" b="1" dirty="0">
                    <a:latin typeface="Heiti SC Medium" pitchFamily="2" charset="-128"/>
                    <a:ea typeface="Heiti SC Medium" pitchFamily="2" charset="-128"/>
                  </a:rPr>
                  <a:t>Conflict Experience - All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F34C446-CC4E-2823-B4F0-DA8A3BB236DD}"/>
                  </a:ext>
                </a:extLst>
              </p:cNvPr>
              <p:cNvSpPr txBox="1"/>
              <p:nvPr/>
            </p:nvSpPr>
            <p:spPr>
              <a:xfrm>
                <a:off x="691855" y="2677073"/>
                <a:ext cx="3238822" cy="62785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dirty="0"/>
                  <a:t>Conflict-causing Species Number, 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Percieved Conflict Severity,</a:t>
                </a:r>
              </a:p>
              <a:p>
                <a:pPr marL="228600" indent="-228600">
                  <a:buAutoNum type="arabicParenR"/>
                </a:pPr>
                <a:r>
                  <a:rPr lang="en-DE" sz="1100" strike="sngStrike" dirty="0"/>
                  <a:t>Conflict Duration  </a:t>
                </a:r>
              </a:p>
            </p:txBody>
          </p:sp>
        </p:grpSp>
      </p:grpSp>
      <p:sp>
        <p:nvSpPr>
          <p:cNvPr id="318" name="TextBox 317">
            <a:extLst>
              <a:ext uri="{FF2B5EF4-FFF2-40B4-BE49-F238E27FC236}">
                <a16:creationId xmlns:a16="http://schemas.microsoft.com/office/drawing/2014/main" id="{181F6729-16E4-6CE5-2BBA-F28977C64E4D}"/>
              </a:ext>
            </a:extLst>
          </p:cNvPr>
          <p:cNvSpPr txBox="1"/>
          <p:nvPr/>
        </p:nvSpPr>
        <p:spPr>
          <a:xfrm>
            <a:off x="10032848" y="4017588"/>
            <a:ext cx="101568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Gender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7CA7AE0D-D30D-CBBC-9594-D09E42620FC1}"/>
              </a:ext>
            </a:extLst>
          </p:cNvPr>
          <p:cNvSpPr txBox="1"/>
          <p:nvPr/>
        </p:nvSpPr>
        <p:spPr>
          <a:xfrm>
            <a:off x="10032846" y="4350208"/>
            <a:ext cx="101567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Age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BBECF915-4B9C-29CD-D3C1-411D89FF6BEC}"/>
              </a:ext>
            </a:extLst>
          </p:cNvPr>
          <p:cNvSpPr txBox="1"/>
          <p:nvPr/>
        </p:nvSpPr>
        <p:spPr>
          <a:xfrm>
            <a:off x="10023381" y="4686234"/>
            <a:ext cx="101567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Education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4C3691E8-567A-AE6C-8C28-C4144E997CFD}"/>
              </a:ext>
            </a:extLst>
          </p:cNvPr>
          <p:cNvSpPr txBox="1"/>
          <p:nvPr/>
        </p:nvSpPr>
        <p:spPr>
          <a:xfrm>
            <a:off x="10019480" y="5018854"/>
            <a:ext cx="101567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Income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7DABB5FF-02FE-F370-E53E-FFFB5C4D00A7}"/>
              </a:ext>
            </a:extLst>
          </p:cNvPr>
          <p:cNvSpPr txBox="1"/>
          <p:nvPr/>
        </p:nvSpPr>
        <p:spPr>
          <a:xfrm>
            <a:off x="10019479" y="5351474"/>
            <a:ext cx="101567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DE"/>
            </a:defPPr>
            <a:lvl1pPr algn="ctr">
              <a:buNone/>
              <a:defRPr sz="1600" b="1">
                <a:latin typeface="Heiti SC Medium" pitchFamily="2" charset="-128"/>
                <a:ea typeface="Heiti SC Medium" pitchFamily="2" charset="-128"/>
                <a:cs typeface="+mj-cs"/>
              </a:defRPr>
            </a:lvl1pPr>
          </a:lstStyle>
          <a:p>
            <a:r>
              <a:rPr lang="en-GB" sz="1100" dirty="0"/>
              <a:t>Household Asset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C43EB-F924-37C9-39AF-F8871A3BA8DA}"/>
              </a:ext>
            </a:extLst>
          </p:cNvPr>
          <p:cNvSpPr txBox="1"/>
          <p:nvPr/>
        </p:nvSpPr>
        <p:spPr>
          <a:xfrm>
            <a:off x="4751882" y="1112478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altLang="zh-CN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0.20</a:t>
            </a:r>
            <a:endParaRPr lang="en-DE" sz="1200" u="none" strike="noStrike" kern="1200" dirty="0">
              <a:solidFill>
                <a:schemeClr val="accent1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DFDB5-6451-1C7B-DE1E-10C3FEBFBBA8}"/>
              </a:ext>
            </a:extLst>
          </p:cNvPr>
          <p:cNvSpPr txBox="1"/>
          <p:nvPr/>
        </p:nvSpPr>
        <p:spPr>
          <a:xfrm>
            <a:off x="6264718" y="675479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altLang="zh-CN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-0.13</a:t>
            </a:r>
            <a:endParaRPr lang="en-DE" sz="1200" u="none" strike="noStrike" kern="1200" dirty="0">
              <a:solidFill>
                <a:schemeClr val="accent1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BCA290-D9EE-BE6F-0F91-B51532FB0DED}"/>
              </a:ext>
            </a:extLst>
          </p:cNvPr>
          <p:cNvSpPr txBox="1"/>
          <p:nvPr/>
        </p:nvSpPr>
        <p:spPr>
          <a:xfrm>
            <a:off x="3093902" y="2278249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0.</a:t>
            </a:r>
            <a:r>
              <a:rPr lang="en-US" altLang="zh-CN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10</a:t>
            </a:r>
            <a:endParaRPr lang="en-DE" sz="1200" u="none" strike="noStrike" kern="1200" dirty="0">
              <a:solidFill>
                <a:schemeClr val="accent1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B4B48DA-8F33-3830-66F9-B57F94F1AB58}"/>
              </a:ext>
            </a:extLst>
          </p:cNvPr>
          <p:cNvCxnSpPr>
            <a:cxnSpLocks/>
          </p:cNvCxnSpPr>
          <p:nvPr/>
        </p:nvCxnSpPr>
        <p:spPr>
          <a:xfrm>
            <a:off x="3160913" y="2232595"/>
            <a:ext cx="727558" cy="1579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BB8B607-31E9-8D4D-5573-D049DD63F045}"/>
              </a:ext>
            </a:extLst>
          </p:cNvPr>
          <p:cNvCxnSpPr>
            <a:cxnSpLocks/>
          </p:cNvCxnSpPr>
          <p:nvPr/>
        </p:nvCxnSpPr>
        <p:spPr>
          <a:xfrm flipV="1">
            <a:off x="6753569" y="2231014"/>
            <a:ext cx="739591" cy="1581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E499241-654D-F84F-13C6-087878DBEF4C}"/>
              </a:ext>
            </a:extLst>
          </p:cNvPr>
          <p:cNvCxnSpPr>
            <a:cxnSpLocks/>
          </p:cNvCxnSpPr>
          <p:nvPr/>
        </p:nvCxnSpPr>
        <p:spPr>
          <a:xfrm flipV="1">
            <a:off x="6753568" y="4171477"/>
            <a:ext cx="739592" cy="67587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5904F37-8A10-3F09-F436-8A01B6E9FD4A}"/>
              </a:ext>
            </a:extLst>
          </p:cNvPr>
          <p:cNvSpPr txBox="1"/>
          <p:nvPr/>
        </p:nvSpPr>
        <p:spPr>
          <a:xfrm>
            <a:off x="6593034" y="1990997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u="none" strike="noStrike" kern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rPr>
              <a:t>0.</a:t>
            </a:r>
            <a:r>
              <a:rPr lang="en-US" altLang="zh-CN" sz="1200" u="none" strike="noStrike" kern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rPr>
              <a:t>12</a:t>
            </a:r>
            <a:endParaRPr lang="en-DE" sz="1200" u="none" strike="noStrike" kern="12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7F7CA1F-61CB-085A-938E-35B58DEF77BC}"/>
              </a:ext>
            </a:extLst>
          </p:cNvPr>
          <p:cNvSpPr txBox="1"/>
          <p:nvPr/>
        </p:nvSpPr>
        <p:spPr>
          <a:xfrm>
            <a:off x="6758204" y="4460693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u="none" strike="noStrike" kern="1200" dirty="0">
                <a:solidFill>
                  <a:schemeClr val="accent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0.</a:t>
            </a:r>
            <a:r>
              <a:rPr lang="en-US" altLang="zh-CN" sz="1200" u="none" strike="noStrike" kern="1200" dirty="0">
                <a:solidFill>
                  <a:schemeClr val="accent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12</a:t>
            </a:r>
            <a:endParaRPr lang="en-DE" sz="1200" u="none" strike="noStrike" kern="1200" dirty="0">
              <a:solidFill>
                <a:schemeClr val="accent2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D13E74C-3F04-C5CE-B6BE-EDB3729CAA67}"/>
              </a:ext>
            </a:extLst>
          </p:cNvPr>
          <p:cNvCxnSpPr>
            <a:cxnSpLocks/>
          </p:cNvCxnSpPr>
          <p:nvPr/>
        </p:nvCxnSpPr>
        <p:spPr>
          <a:xfrm flipV="1">
            <a:off x="6753568" y="3125438"/>
            <a:ext cx="739595" cy="172191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BE8ED1E-2B01-C2D9-413D-2A3B7B628407}"/>
              </a:ext>
            </a:extLst>
          </p:cNvPr>
          <p:cNvSpPr txBox="1"/>
          <p:nvPr/>
        </p:nvSpPr>
        <p:spPr>
          <a:xfrm>
            <a:off x="6704162" y="3164716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u="none" strike="noStrike" kern="1200" dirty="0">
                <a:solidFill>
                  <a:schemeClr val="accent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0.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18</a:t>
            </a:r>
            <a:endParaRPr lang="en-DE" sz="1200" u="none" strike="noStrike" kern="1200" dirty="0">
              <a:solidFill>
                <a:schemeClr val="accent2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EFCD9BB-26EE-5496-6285-22FF107A693A}"/>
              </a:ext>
            </a:extLst>
          </p:cNvPr>
          <p:cNvSpPr txBox="1"/>
          <p:nvPr/>
        </p:nvSpPr>
        <p:spPr>
          <a:xfrm>
            <a:off x="9351879" y="2486857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altLang="zh-CN" sz="1200" u="none" strike="noStrike" kern="12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-0.28</a:t>
            </a:r>
            <a:endParaRPr lang="en-DE" sz="1200" u="none" strike="noStrike" kern="1200" dirty="0">
              <a:solidFill>
                <a:schemeClr val="accent6">
                  <a:lumMod val="60000"/>
                  <a:lumOff val="40000"/>
                </a:schemeClr>
              </a:solidFill>
              <a:effectLst/>
              <a:highlight>
                <a:srgbClr val="FFFF00"/>
              </a:highlight>
              <a:latin typeface="+mn-lt"/>
              <a:ea typeface="+mn-ea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E5BB509-6547-1E1A-D890-94FAD004BC50}"/>
              </a:ext>
            </a:extLst>
          </p:cNvPr>
          <p:cNvSpPr txBox="1"/>
          <p:nvPr/>
        </p:nvSpPr>
        <p:spPr>
          <a:xfrm>
            <a:off x="9717361" y="3218696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altLang="zh-CN" sz="1200" u="none" strike="noStrike" kern="1200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0.19</a:t>
            </a:r>
            <a:endParaRPr lang="en-DE" sz="1200" u="none" strike="noStrike" kern="1200" dirty="0">
              <a:solidFill>
                <a:schemeClr val="accent6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405139-F536-0E49-9F84-9EA789B265C2}"/>
              </a:ext>
            </a:extLst>
          </p:cNvPr>
          <p:cNvCxnSpPr>
            <a:cxnSpLocks/>
          </p:cNvCxnSpPr>
          <p:nvPr/>
        </p:nvCxnSpPr>
        <p:spPr>
          <a:xfrm>
            <a:off x="3158320" y="2232595"/>
            <a:ext cx="727560" cy="687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06AC3DB-6D9D-912D-6EE9-BA8E78646779}"/>
              </a:ext>
            </a:extLst>
          </p:cNvPr>
          <p:cNvSpPr txBox="1"/>
          <p:nvPr/>
        </p:nvSpPr>
        <p:spPr>
          <a:xfrm>
            <a:off x="2814077" y="2899960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0.</a:t>
            </a:r>
            <a:r>
              <a:rPr lang="en-US" altLang="zh-CN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10</a:t>
            </a:r>
            <a:endParaRPr lang="en-DE" sz="1200" u="none" strike="noStrike" kern="1200" dirty="0">
              <a:solidFill>
                <a:schemeClr val="accent1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4077E810-A04E-480A-BBB0-53638A7CD91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19642" y="-1024635"/>
            <a:ext cx="918246" cy="7124928"/>
          </a:xfrm>
          <a:prstGeom prst="bentConnector4">
            <a:avLst>
              <a:gd name="adj1" fmla="val -104491"/>
              <a:gd name="adj2" fmla="val 999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3A48E3F-093B-A26B-CA11-9CF9A0EAA024}"/>
              </a:ext>
            </a:extLst>
          </p:cNvPr>
          <p:cNvSpPr txBox="1"/>
          <p:nvPr/>
        </p:nvSpPr>
        <p:spPr>
          <a:xfrm>
            <a:off x="5540182" y="887136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altLang="zh-CN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0.18</a:t>
            </a:r>
            <a:endParaRPr lang="en-DE" sz="1200" u="none" strike="noStrike" kern="1200" dirty="0">
              <a:solidFill>
                <a:schemeClr val="accent1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A64DDCF6-0F7A-25EE-46ED-C7BECF50943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017688" y="-496146"/>
            <a:ext cx="689145" cy="5835688"/>
          </a:xfrm>
          <a:prstGeom prst="bentConnector3">
            <a:avLst>
              <a:gd name="adj1" fmla="val 149758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F7AD3F9-5C77-220D-62F4-95D0CDA9D140}"/>
              </a:ext>
            </a:extLst>
          </p:cNvPr>
          <p:cNvSpPr txBox="1"/>
          <p:nvPr/>
        </p:nvSpPr>
        <p:spPr>
          <a:xfrm>
            <a:off x="6136393" y="1489850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sz="1200" u="none" strike="noStrike" kern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u="none" strike="noStrike" kern="12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0.12</a:t>
            </a:r>
            <a:endParaRPr lang="en-DE" sz="1200" u="none" strike="noStrike" kern="12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2DCE60D-4BD0-6952-FFBB-D3DEFB38E45A}"/>
              </a:ext>
            </a:extLst>
          </p:cNvPr>
          <p:cNvCxnSpPr>
            <a:cxnSpLocks/>
          </p:cNvCxnSpPr>
          <p:nvPr/>
        </p:nvCxnSpPr>
        <p:spPr>
          <a:xfrm>
            <a:off x="6753566" y="3811940"/>
            <a:ext cx="739594" cy="35953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A448B11-15B4-18B1-A40C-213B5FDD038F}"/>
              </a:ext>
            </a:extLst>
          </p:cNvPr>
          <p:cNvSpPr txBox="1"/>
          <p:nvPr/>
        </p:nvSpPr>
        <p:spPr>
          <a:xfrm>
            <a:off x="6460560" y="3601789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sz="1200" u="none" strike="noStrike" kern="120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-0.05</a:t>
            </a:r>
            <a:endParaRPr lang="en-DE" sz="1200" u="none" strike="noStrike" kern="1200" dirty="0">
              <a:solidFill>
                <a:schemeClr val="accent2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43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C94CD0-F0B0-F683-9BFC-7A53E9532197}"/>
              </a:ext>
            </a:extLst>
          </p:cNvPr>
          <p:cNvSpPr txBox="1"/>
          <p:nvPr/>
        </p:nvSpPr>
        <p:spPr>
          <a:xfrm>
            <a:off x="717976" y="1270162"/>
            <a:ext cx="10071943" cy="4340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400" b="1" dirty="0">
                <a:ea typeface="HEITI TC MEDIUM" pitchFamily="2" charset="-128"/>
                <a:cs typeface="+mj-cs"/>
              </a:rPr>
              <a:t>Conclusion:</a:t>
            </a:r>
          </a:p>
          <a:p>
            <a:pPr>
              <a:lnSpc>
                <a:spcPct val="200000"/>
              </a:lnSpc>
            </a:pPr>
            <a:r>
              <a:rPr lang="en-GB" sz="1400" b="1" dirty="0">
                <a:ea typeface="HEITI TC MEDIUM" pitchFamily="2" charset="-128"/>
              </a:rPr>
              <a:t>1.   Compensation Participation → Tolerance</a:t>
            </a:r>
            <a:r>
              <a:rPr lang="zh-CN" altLang="en-US" sz="1400" b="1" dirty="0">
                <a:ea typeface="HEITI TC MEDIUM" pitchFamily="2" charset="-128"/>
              </a:rPr>
              <a:t> （</a:t>
            </a:r>
            <a:r>
              <a:rPr lang="el-GR" altLang="zh-CN" sz="1400" b="1" dirty="0">
                <a:ea typeface="Heiti TC Medium" pitchFamily="2" charset="-128"/>
              </a:rPr>
              <a:t>β = -0.115</a:t>
            </a:r>
            <a:r>
              <a:rPr lang="zh-CN" altLang="el-GR" sz="1400" b="1" dirty="0">
                <a:ea typeface="Heiti TC Medium" pitchFamily="2" charset="-128"/>
              </a:rPr>
              <a:t>，</a:t>
            </a:r>
            <a:r>
              <a:rPr lang="en-GB" altLang="zh-CN" sz="1400" b="1" dirty="0">
                <a:ea typeface="Heiti TC Medium" pitchFamily="2" charset="-128"/>
              </a:rPr>
              <a:t>t = -3.309</a:t>
            </a:r>
            <a:r>
              <a:rPr lang="zh-CN" altLang="en-US" sz="1400" b="1" dirty="0">
                <a:ea typeface="HEITI TC MEDIUM" pitchFamily="2" charset="-128"/>
              </a:rPr>
              <a:t>）</a:t>
            </a:r>
            <a:endParaRPr lang="en-US" altLang="zh-CN" sz="1400" b="1" dirty="0">
              <a:ea typeface="HEITI TC MEDIUM" pitchFamily="2" charset="-128"/>
            </a:endParaRPr>
          </a:p>
          <a:p>
            <a:pPr marL="355600">
              <a:lnSpc>
                <a:spcPct val="200000"/>
              </a:lnSpc>
            </a:pPr>
            <a:r>
              <a:rPr lang="en-US" altLang="zh-CN" sz="1400" dirty="0">
                <a:ea typeface="Heiti TC Medium" pitchFamily="2" charset="-128"/>
              </a:rPr>
              <a:t>The people who participate the compensation policy have the lower tolerance to wild boars. </a:t>
            </a:r>
            <a:r>
              <a:rPr lang="en-US" altLang="zh-CN" sz="1400" b="1" dirty="0">
                <a:highlight>
                  <a:srgbClr val="FFFF00"/>
                </a:highlight>
                <a:ea typeface="HEITI TC MEDIUM" pitchFamily="2" charset="-128"/>
              </a:rPr>
              <a:t>(Support the hypothesis)</a:t>
            </a:r>
            <a:endParaRPr lang="en-GB" altLang="zh-CN" sz="1400" b="1" dirty="0">
              <a:highlight>
                <a:srgbClr val="FFFF00"/>
              </a:highlight>
              <a:ea typeface="HEITI TC MEDIUM" pitchFamily="2" charset="-128"/>
            </a:endParaRPr>
          </a:p>
          <a:p>
            <a:pPr marL="342900" indent="-342900">
              <a:lnSpc>
                <a:spcPct val="200000"/>
              </a:lnSpc>
              <a:buAutoNum type="arabicPeriod" startAt="2"/>
            </a:pPr>
            <a:r>
              <a:rPr lang="en-GB" sz="1400" b="1" dirty="0">
                <a:ea typeface="Heiti TC Medium" pitchFamily="2" charset="-128"/>
              </a:rPr>
              <a:t>Conflict Experience - Wild boar→ Compensation Participation  (</a:t>
            </a:r>
            <a:r>
              <a:rPr lang="el-GR" sz="1400" b="1" dirty="0">
                <a:ea typeface="Heiti TC Medium" pitchFamily="2" charset="-128"/>
              </a:rPr>
              <a:t>β = 0.108，</a:t>
            </a:r>
            <a:r>
              <a:rPr lang="en-GB" sz="1400" b="1" dirty="0">
                <a:ea typeface="Heiti TC Medium" pitchFamily="2" charset="-128"/>
              </a:rPr>
              <a:t>t = 2.626)</a:t>
            </a:r>
          </a:p>
          <a:p>
            <a:pPr marL="355600">
              <a:lnSpc>
                <a:spcPct val="200000"/>
              </a:lnSpc>
            </a:pPr>
            <a:r>
              <a:rPr lang="en-GB" sz="1400" dirty="0">
                <a:ea typeface="Heiti TC Medium" pitchFamily="2" charset="-128"/>
              </a:rPr>
              <a:t>When people perceived more frequent  human-wild boar conflict, they prefer to join in the compensation policy.</a:t>
            </a:r>
          </a:p>
          <a:p>
            <a:pPr marL="342900" indent="-342900">
              <a:lnSpc>
                <a:spcPct val="200000"/>
              </a:lnSpc>
              <a:buAutoNum type="arabicPeriod" startAt="3"/>
            </a:pPr>
            <a:r>
              <a:rPr lang="en-GB" sz="1400" b="1" dirty="0">
                <a:ea typeface="Heiti TC Medium" pitchFamily="2" charset="-128"/>
              </a:rPr>
              <a:t>Compensation Participation → Intangible Benefits / Costs (Not Significant</a:t>
            </a:r>
            <a:r>
              <a:rPr lang="en-GB" sz="1400" b="1" dirty="0">
                <a:ea typeface="HEITI TC MEDIUM" pitchFamily="2" charset="-128"/>
              </a:rPr>
              <a:t>!)</a:t>
            </a:r>
          </a:p>
          <a:p>
            <a:pPr marL="355600">
              <a:lnSpc>
                <a:spcPct val="200000"/>
              </a:lnSpc>
            </a:pPr>
            <a:r>
              <a:rPr lang="en-GB" sz="1400" dirty="0">
                <a:ea typeface="Heiti TC Medium" pitchFamily="2" charset="-128"/>
              </a:rPr>
              <a:t>Compensation Participation have no impact on intangible benefits and costs. </a:t>
            </a:r>
          </a:p>
          <a:p>
            <a:pPr marL="342900" indent="-342900">
              <a:lnSpc>
                <a:spcPct val="200000"/>
              </a:lnSpc>
              <a:buAutoNum type="arabicPeriod" startAt="4"/>
            </a:pPr>
            <a:r>
              <a:rPr lang="en-GB" sz="1400" b="1" dirty="0">
                <a:ea typeface="Heiti TC Medium" pitchFamily="2" charset="-128"/>
              </a:rPr>
              <a:t>Intangible Benefits </a:t>
            </a:r>
            <a:r>
              <a:rPr lang="en-GB" sz="1400" b="1" dirty="0">
                <a:ea typeface="HEITI TC MEDIUM" pitchFamily="2" charset="-128"/>
              </a:rPr>
              <a:t>→ Tolerance (</a:t>
            </a:r>
            <a:r>
              <a:rPr lang="el-GR" sz="1400" b="1" dirty="0">
                <a:ea typeface="Heiti TC Medium" pitchFamily="2" charset="-128"/>
              </a:rPr>
              <a:t>β = 0.185，</a:t>
            </a:r>
            <a:r>
              <a:rPr lang="en-GB" sz="1400" b="1" dirty="0">
                <a:ea typeface="HEITI TC MEDIUM" pitchFamily="2" charset="-128"/>
              </a:rPr>
              <a:t>t = 5.098)</a:t>
            </a:r>
            <a:r>
              <a:rPr lang="zh-CN" altLang="en-US" sz="1400" b="1" dirty="0">
                <a:ea typeface="HEITI TC MEDIUM" pitchFamily="2" charset="-128"/>
              </a:rPr>
              <a:t> </a:t>
            </a:r>
            <a:r>
              <a:rPr lang="en-US" altLang="zh-CN" sz="1400" b="1" dirty="0">
                <a:ea typeface="HEITI TC MEDIUM" pitchFamily="2" charset="-128"/>
              </a:rPr>
              <a:t>&amp;</a:t>
            </a:r>
            <a:r>
              <a:rPr lang="zh-CN" altLang="en-US" sz="1400" b="1" dirty="0">
                <a:ea typeface="Heiti TC Medium" pitchFamily="2" charset="-128"/>
              </a:rPr>
              <a:t> </a:t>
            </a:r>
            <a:r>
              <a:rPr lang="en-GB" sz="1400" b="1" dirty="0">
                <a:ea typeface="Heiti TC Medium" pitchFamily="2" charset="-128"/>
              </a:rPr>
              <a:t>Intangible </a:t>
            </a:r>
            <a:r>
              <a:rPr lang="en-GB" sz="1400" b="1" dirty="0">
                <a:ea typeface="HEITI TC MEDIUM" pitchFamily="2" charset="-128"/>
              </a:rPr>
              <a:t>Costs → Tolerance (</a:t>
            </a:r>
            <a:r>
              <a:rPr lang="el-GR" sz="1400" b="1" dirty="0">
                <a:ea typeface="HEITI TC MEDIUM" pitchFamily="2" charset="-128"/>
              </a:rPr>
              <a:t>β = -0.279，</a:t>
            </a:r>
            <a:r>
              <a:rPr lang="en-GB" sz="1400" b="1" dirty="0">
                <a:ea typeface="Heiti TC Medium" pitchFamily="2" charset="-128"/>
              </a:rPr>
              <a:t>t = </a:t>
            </a:r>
            <a:r>
              <a:rPr lang="en-GB" sz="1400" b="1" dirty="0">
                <a:ea typeface="HEITI TC MEDIUM" pitchFamily="2" charset="-128"/>
              </a:rPr>
              <a:t>-6.208)</a:t>
            </a:r>
          </a:p>
          <a:p>
            <a:pPr marL="355600">
              <a:lnSpc>
                <a:spcPct val="200000"/>
              </a:lnSpc>
            </a:pPr>
            <a:r>
              <a:rPr lang="en-GB" sz="1400" dirty="0">
                <a:ea typeface="Heiti TC Medium" pitchFamily="2" charset="-128"/>
              </a:rPr>
              <a:t>These two paths illustrate that intangible benefits and costs are the ley factors of tolerance, and compensation policy is almost entirely uninvolved in shaping meaning, values, and attitudes.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124E89-66AF-790A-9E71-0AEB81D6C329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0</a:t>
            </a:r>
            <a:r>
              <a:rPr lang="zh-CN" altLang="en-US" sz="2000" b="1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 All Data (n=625)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76855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254A2-DAA6-F511-613E-EF2DE51AB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2C93D-E612-2473-B28F-278D35BEBEFE}"/>
              </a:ext>
            </a:extLst>
          </p:cNvPr>
          <p:cNvSpPr txBox="1">
            <a:spLocks/>
          </p:cNvSpPr>
          <p:nvPr/>
        </p:nvSpPr>
        <p:spPr>
          <a:xfrm>
            <a:off x="3356658" y="1558858"/>
            <a:ext cx="8835342" cy="353565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800" b="1" dirty="0">
                <a:latin typeface="Heiti SC Medium" pitchFamily="2" charset="-128"/>
                <a:ea typeface="Heiti SC Medium" pitchFamily="2" charset="-128"/>
              </a:rPr>
              <a:t>Question 2: When people have compensation experience, is intangible cost the most important factor of tolerance?</a:t>
            </a:r>
            <a:endParaRPr lang="en-US" altLang="zh-CN" sz="1800" b="1" dirty="0">
              <a:latin typeface="Heiti SC Medium" pitchFamily="2" charset="-128"/>
              <a:ea typeface="Heiti SC Medium" pitchFamily="2" charset="-128"/>
            </a:endParaRPr>
          </a:p>
          <a:p>
            <a:pPr marL="1295400" indent="-2778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Heiti SC Medium" pitchFamily="2" charset="-128"/>
                <a:ea typeface="Heiti SC Medium" pitchFamily="2" charset="-128"/>
              </a:rPr>
              <a:t>Excluded the variables having no significant paths in the model (Conflict Experience – All, Gender, Age, Education, Income and Household Assessment)</a:t>
            </a:r>
          </a:p>
          <a:p>
            <a:pPr marL="95250">
              <a:lnSpc>
                <a:spcPct val="200000"/>
              </a:lnSpc>
            </a:pPr>
            <a:r>
              <a:rPr lang="en-US" sz="1800" b="1" dirty="0">
                <a:latin typeface="Heiti SC Medium" pitchFamily="2" charset="-128"/>
                <a:ea typeface="Heiti SC Medium" pitchFamily="2" charset="-128"/>
              </a:rPr>
              <a:t>Hypothesis 2: Yes, intangible cost is the most important factor of tolerance.</a:t>
            </a:r>
          </a:p>
          <a:p>
            <a:pPr marL="1295400" indent="-28733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Heiti SC Medium" pitchFamily="2" charset="-128"/>
                <a:ea typeface="Heiti SC Medium" pitchFamily="2" charset="-128"/>
              </a:rPr>
              <a:t>Based on the result of the first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5F377B-953E-CCE4-0594-0E0F49E2C3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6" r="30464"/>
          <a:stretch/>
        </p:blipFill>
        <p:spPr>
          <a:xfrm>
            <a:off x="0" y="0"/>
            <a:ext cx="3356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9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3DE50-F964-9066-A83D-0348B345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5B54C7F7-88EF-A19F-4DA9-869DE70FEA17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1 - with compensation (n=277) 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40FE24BB-183A-2D73-2485-A04FD058C0A4}"/>
              </a:ext>
            </a:extLst>
          </p:cNvPr>
          <p:cNvGrpSpPr/>
          <p:nvPr/>
        </p:nvGrpSpPr>
        <p:grpSpPr>
          <a:xfrm>
            <a:off x="134578" y="1872354"/>
            <a:ext cx="3176182" cy="2453003"/>
            <a:chOff x="710614" y="990285"/>
            <a:chExt cx="3566902" cy="2566171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1B105202-3F8B-9A47-F87F-DA455CDD52E0}"/>
                </a:ext>
              </a:extLst>
            </p:cNvPr>
            <p:cNvGrpSpPr/>
            <p:nvPr/>
          </p:nvGrpSpPr>
          <p:grpSpPr>
            <a:xfrm>
              <a:off x="867499" y="1206157"/>
              <a:ext cx="3238824" cy="1143494"/>
              <a:chOff x="691858" y="1130805"/>
              <a:chExt cx="3238825" cy="114349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6B5BF5-069D-0B3D-1A70-D8AE62B4586A}"/>
                  </a:ext>
                </a:extLst>
              </p:cNvPr>
              <p:cNvSpPr txBox="1"/>
              <p:nvPr/>
            </p:nvSpPr>
            <p:spPr>
              <a:xfrm>
                <a:off x="691861" y="1130805"/>
                <a:ext cx="3238822" cy="3219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GB" sz="1400" b="1" dirty="0">
                    <a:latin typeface="Heiti SC Medium" pitchFamily="2" charset="-128"/>
                    <a:ea typeface="Heiti SC Medium" pitchFamily="2" charset="-128"/>
                    <a:cs typeface="+mj-cs"/>
                  </a:rPr>
                  <a:t>Conflict Experience - Wild boar</a:t>
                </a: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E6DDED-CC9B-A60E-C977-15E767430CF0}"/>
                  </a:ext>
                </a:extLst>
              </p:cNvPr>
              <p:cNvSpPr txBox="1"/>
              <p:nvPr/>
            </p:nvSpPr>
            <p:spPr>
              <a:xfrm>
                <a:off x="691858" y="1469360"/>
                <a:ext cx="3238821" cy="804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dirty="0"/>
                  <a:t>Occur</a:t>
                </a:r>
                <a:r>
                  <a:rPr lang="en-GB" sz="1100" dirty="0"/>
                  <a:t>r</a:t>
                </a:r>
                <a:r>
                  <a:rPr lang="en-DE" sz="1100" dirty="0"/>
                  <a:t>ence </a:t>
                </a:r>
                <a:r>
                  <a:rPr lang="en-GB" sz="1100" dirty="0"/>
                  <a:t>Frequency</a:t>
                </a:r>
                <a:r>
                  <a:rPr lang="en-DE" sz="1100" dirty="0"/>
                  <a:t>, 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Annual Duration,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Conflict </a:t>
                </a:r>
                <a:r>
                  <a:rPr lang="en-GB" sz="1100" dirty="0"/>
                  <a:t>Frequency</a:t>
                </a:r>
                <a:r>
                  <a:rPr lang="en-DE" sz="1100" dirty="0"/>
                  <a:t>,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Population Trend</a:t>
                </a:r>
              </a:p>
            </p:txBody>
          </p:sp>
        </p:grpSp>
        <p:sp>
          <p:nvSpPr>
            <p:cNvPr id="254" name="Rounded Rectangle 253">
              <a:extLst>
                <a:ext uri="{FF2B5EF4-FFF2-40B4-BE49-F238E27FC236}">
                  <a16:creationId xmlns:a16="http://schemas.microsoft.com/office/drawing/2014/main" id="{407F0E51-45AC-C191-B71D-D819057C914A}"/>
                </a:ext>
              </a:extLst>
            </p:cNvPr>
            <p:cNvSpPr/>
            <p:nvPr/>
          </p:nvSpPr>
          <p:spPr>
            <a:xfrm>
              <a:off x="710614" y="990285"/>
              <a:ext cx="3566902" cy="2566171"/>
            </a:xfrm>
            <a:prstGeom prst="roundRect">
              <a:avLst>
                <a:gd name="adj" fmla="val 11337"/>
              </a:avLst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 sz="1600"/>
            </a:p>
          </p:txBody>
        </p:sp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D5D3D6AE-8414-FA59-483C-43254E6B3757}"/>
              </a:ext>
            </a:extLst>
          </p:cNvPr>
          <p:cNvGrpSpPr/>
          <p:nvPr/>
        </p:nvGrpSpPr>
        <p:grpSpPr>
          <a:xfrm>
            <a:off x="3664728" y="1872355"/>
            <a:ext cx="3288014" cy="3674597"/>
            <a:chOff x="2198386" y="3054211"/>
            <a:chExt cx="3288014" cy="3674597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E738652-0ECF-83A8-19B5-4AC1CE8E1A69}"/>
                </a:ext>
              </a:extLst>
            </p:cNvPr>
            <p:cNvGrpSpPr/>
            <p:nvPr/>
          </p:nvGrpSpPr>
          <p:grpSpPr>
            <a:xfrm>
              <a:off x="2419536" y="3260562"/>
              <a:ext cx="2867691" cy="3367339"/>
              <a:chOff x="2517157" y="3186676"/>
              <a:chExt cx="2983133" cy="3367339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5DA8B8F1-E697-04B6-AA9A-D3F74721552F}"/>
                  </a:ext>
                </a:extLst>
              </p:cNvPr>
              <p:cNvGrpSpPr/>
              <p:nvPr/>
            </p:nvGrpSpPr>
            <p:grpSpPr>
              <a:xfrm>
                <a:off x="2517159" y="3186676"/>
                <a:ext cx="2983131" cy="598315"/>
                <a:chOff x="1620560" y="3614915"/>
                <a:chExt cx="2983131" cy="598315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026AC25-D90D-0622-D54E-B7A11152737B}"/>
                    </a:ext>
                  </a:extLst>
                </p:cNvPr>
                <p:cNvSpPr txBox="1"/>
                <p:nvPr/>
              </p:nvSpPr>
              <p:spPr>
                <a:xfrm>
                  <a:off x="1620561" y="3614915"/>
                  <a:ext cx="298313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Prevention Effectiveness</a:t>
                  </a: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A7DBEDAA-E420-609F-00A7-B462997086F4}"/>
                    </a:ext>
                  </a:extLst>
                </p:cNvPr>
                <p:cNvSpPr txBox="1"/>
                <p:nvPr/>
              </p:nvSpPr>
              <p:spPr>
                <a:xfrm>
                  <a:off x="1620560" y="3951620"/>
                  <a:ext cx="298313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DE" sz="1100" dirty="0"/>
                    <a:t>Average Effectiveness</a:t>
                  </a:r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51966328-6C43-BDA0-060C-8F6F934B190C}"/>
                  </a:ext>
                </a:extLst>
              </p:cNvPr>
              <p:cNvGrpSpPr/>
              <p:nvPr/>
            </p:nvGrpSpPr>
            <p:grpSpPr>
              <a:xfrm>
                <a:off x="2517157" y="4766021"/>
                <a:ext cx="2983130" cy="940136"/>
                <a:chOff x="1620556" y="4734443"/>
                <a:chExt cx="2983130" cy="940136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DF86E80-E38F-0763-9FE6-127FDD9D5531}"/>
                    </a:ext>
                  </a:extLst>
                </p:cNvPr>
                <p:cNvSpPr txBox="1"/>
                <p:nvPr/>
              </p:nvSpPr>
              <p:spPr>
                <a:xfrm>
                  <a:off x="1620556" y="4734443"/>
                  <a:ext cx="298313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Compensation Anticipation 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530E08C-1299-2CE3-8B88-ED80C85C6EF5}"/>
                    </a:ext>
                  </a:extLst>
                </p:cNvPr>
                <p:cNvSpPr txBox="1"/>
                <p:nvPr/>
              </p:nvSpPr>
              <p:spPr>
                <a:xfrm>
                  <a:off x="1620556" y="5074415"/>
                  <a:ext cx="2983130" cy="600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28600" indent="-228600">
                    <a:buAutoNum type="arabicParenR"/>
                  </a:pPr>
                  <a:r>
                    <a:rPr lang="en-DE" sz="1100" dirty="0"/>
                    <a:t>Lowest Accepted Percentage, </a:t>
                  </a:r>
                </a:p>
                <a:p>
                  <a:pPr marL="228600" indent="-228600">
                    <a:buAutoNum type="arabicParenR"/>
                  </a:pPr>
                  <a:r>
                    <a:rPr lang="en-GB" sz="1100" dirty="0"/>
                    <a:t>Expected Percentage,</a:t>
                  </a:r>
                </a:p>
                <a:p>
                  <a:pPr marL="228600" indent="-228600">
                    <a:buAutoNum type="arabicParenR"/>
                  </a:pPr>
                  <a:r>
                    <a:rPr lang="en-GB" sz="1100" dirty="0"/>
                    <a:t>Annual Insurance Payment</a:t>
                  </a:r>
                  <a:endParaRPr lang="en-DE" sz="1100" dirty="0"/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5EDF32C1-C209-E81D-3545-FA07E21391DB}"/>
                  </a:ext>
                </a:extLst>
              </p:cNvPr>
              <p:cNvGrpSpPr/>
              <p:nvPr/>
            </p:nvGrpSpPr>
            <p:grpSpPr>
              <a:xfrm>
                <a:off x="2517157" y="5801431"/>
                <a:ext cx="2983132" cy="752584"/>
                <a:chOff x="1620559" y="5985951"/>
                <a:chExt cx="2983132" cy="752584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48A772D-39A7-ADF5-A220-635B57014515}"/>
                    </a:ext>
                  </a:extLst>
                </p:cNvPr>
                <p:cNvSpPr txBox="1"/>
                <p:nvPr/>
              </p:nvSpPr>
              <p:spPr>
                <a:xfrm>
                  <a:off x="1620561" y="5985951"/>
                  <a:ext cx="298313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Policy Support</a:t>
                  </a: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3CD3F02-4629-3E50-AC9B-12E53AB2DE50}"/>
                    </a:ext>
                  </a:extLst>
                </p:cNvPr>
                <p:cNvSpPr txBox="1"/>
                <p:nvPr/>
              </p:nvSpPr>
              <p:spPr>
                <a:xfrm>
                  <a:off x="1620559" y="6307648"/>
                  <a:ext cx="298313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28600" indent="-228600">
                    <a:buAutoNum type="arabicParenR"/>
                  </a:pPr>
                  <a:r>
                    <a:rPr lang="en-US" sz="1100" dirty="0"/>
                    <a:t>Supportive Institute, </a:t>
                  </a:r>
                </a:p>
                <a:p>
                  <a:pPr marL="228600" indent="-228600">
                    <a:buAutoNum type="arabicParenR"/>
                  </a:pPr>
                  <a:r>
                    <a:rPr lang="en-US" sz="1100" dirty="0"/>
                    <a:t>Knowledge Obtained Method</a:t>
                  </a:r>
                  <a:endParaRPr lang="en-DE" sz="1100" dirty="0"/>
                </a:p>
              </p:txBody>
            </p:sp>
          </p:grpSp>
        </p:grpSp>
        <p:sp>
          <p:nvSpPr>
            <p:cNvPr id="255" name="Rounded Rectangle 254">
              <a:extLst>
                <a:ext uri="{FF2B5EF4-FFF2-40B4-BE49-F238E27FC236}">
                  <a16:creationId xmlns:a16="http://schemas.microsoft.com/office/drawing/2014/main" id="{9A2B9572-0B6F-641F-817B-A3B4BA47532A}"/>
                </a:ext>
              </a:extLst>
            </p:cNvPr>
            <p:cNvSpPr/>
            <p:nvPr/>
          </p:nvSpPr>
          <p:spPr>
            <a:xfrm>
              <a:off x="2198386" y="3054211"/>
              <a:ext cx="3288014" cy="3674597"/>
            </a:xfrm>
            <a:prstGeom prst="roundRect">
              <a:avLst>
                <a:gd name="adj" fmla="val 11337"/>
              </a:avLst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 sz="1600"/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7A83E581-FB00-9B34-880B-6DFB37BAB8EA}"/>
              </a:ext>
            </a:extLst>
          </p:cNvPr>
          <p:cNvGrpSpPr/>
          <p:nvPr/>
        </p:nvGrpSpPr>
        <p:grpSpPr>
          <a:xfrm>
            <a:off x="7306710" y="1872355"/>
            <a:ext cx="2606567" cy="2785645"/>
            <a:chOff x="7785731" y="1850044"/>
            <a:chExt cx="2606567" cy="2785645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11119D8-D94D-A154-51D7-816C17739E22}"/>
                </a:ext>
              </a:extLst>
            </p:cNvPr>
            <p:cNvGrpSpPr/>
            <p:nvPr/>
          </p:nvGrpSpPr>
          <p:grpSpPr>
            <a:xfrm>
              <a:off x="7972180" y="2054814"/>
              <a:ext cx="2199398" cy="2513238"/>
              <a:chOff x="6525785" y="1076519"/>
              <a:chExt cx="2386305" cy="2513238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1F2879AD-6307-A46F-F32A-4AA794A15099}"/>
                  </a:ext>
                </a:extLst>
              </p:cNvPr>
              <p:cNvGrpSpPr/>
              <p:nvPr/>
            </p:nvGrpSpPr>
            <p:grpSpPr>
              <a:xfrm>
                <a:off x="6525786" y="1076519"/>
                <a:ext cx="2386304" cy="740358"/>
                <a:chOff x="6142215" y="3162292"/>
                <a:chExt cx="2386304" cy="740358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DE10A3E-FCA9-5C96-C8BD-69F8712D799E}"/>
                    </a:ext>
                  </a:extLst>
                </p:cNvPr>
                <p:cNvSpPr txBox="1"/>
                <p:nvPr/>
              </p:nvSpPr>
              <p:spPr>
                <a:xfrm>
                  <a:off x="6142215" y="3162292"/>
                  <a:ext cx="238630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Tangible Cost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A69D68A-5B3D-EB51-0572-331446A4E9F1}"/>
                    </a:ext>
                  </a:extLst>
                </p:cNvPr>
                <p:cNvSpPr txBox="1"/>
                <p:nvPr/>
              </p:nvSpPr>
              <p:spPr>
                <a:xfrm>
                  <a:off x="6142218" y="3471763"/>
                  <a:ext cx="238630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28600" indent="-228600">
                    <a:buAutoNum type="arabicParenR"/>
                  </a:pPr>
                  <a:r>
                    <a:rPr lang="en-DE" sz="1100" dirty="0"/>
                    <a:t>Damage Area, </a:t>
                  </a:r>
                </a:p>
                <a:p>
                  <a:pPr marL="228600" indent="-228600">
                    <a:buAutoNum type="arabicParenR"/>
                  </a:pPr>
                  <a:r>
                    <a:rPr lang="en-GB" sz="1100" dirty="0"/>
                    <a:t>Perceived</a:t>
                  </a:r>
                  <a:r>
                    <a:rPr lang="en-DE" sz="1100" dirty="0"/>
                    <a:t> economic loss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4F618788-BC3D-7701-38FE-85FAD5E32468}"/>
                  </a:ext>
                </a:extLst>
              </p:cNvPr>
              <p:cNvGrpSpPr/>
              <p:nvPr/>
            </p:nvGrpSpPr>
            <p:grpSpPr>
              <a:xfrm>
                <a:off x="6525787" y="1970943"/>
                <a:ext cx="2386302" cy="932427"/>
                <a:chOff x="6142216" y="4056716"/>
                <a:chExt cx="2386302" cy="932427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C6C729D-BBD1-4D7C-D5FA-DDB6F3B4313A}"/>
                    </a:ext>
                  </a:extLst>
                </p:cNvPr>
                <p:cNvSpPr txBox="1"/>
                <p:nvPr/>
              </p:nvSpPr>
              <p:spPr>
                <a:xfrm>
                  <a:off x="6142218" y="4056716"/>
                  <a:ext cx="238630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Intangible Cost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3EB68A1-C123-236D-4F3B-EBB07442479C}"/>
                    </a:ext>
                  </a:extLst>
                </p:cNvPr>
                <p:cNvSpPr txBox="1"/>
                <p:nvPr/>
              </p:nvSpPr>
              <p:spPr>
                <a:xfrm>
                  <a:off x="6142216" y="4388979"/>
                  <a:ext cx="2386301" cy="600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28600" indent="-228600">
                    <a:buAutoNum type="arabicParenR"/>
                  </a:pPr>
                  <a:r>
                    <a:rPr lang="en-US" sz="1100" dirty="0"/>
                    <a:t>General</a:t>
                  </a:r>
                  <a:r>
                    <a:rPr lang="en-DE" sz="1100" dirty="0"/>
                    <a:t> Attitude, </a:t>
                  </a:r>
                </a:p>
                <a:p>
                  <a:pPr marL="228600" indent="-228600">
                    <a:buAutoNum type="arabicParenR"/>
                  </a:pPr>
                  <a:r>
                    <a:rPr lang="en-DE" sz="1100" dirty="0"/>
                    <a:t>Descriptive Attitude: First, Second, Third.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38922A4-7539-65B4-00B6-C3096BE6DAB6}"/>
                  </a:ext>
                </a:extLst>
              </p:cNvPr>
              <p:cNvGrpSpPr/>
              <p:nvPr/>
            </p:nvGrpSpPr>
            <p:grpSpPr>
              <a:xfrm>
                <a:off x="6525785" y="3016982"/>
                <a:ext cx="2386301" cy="572775"/>
                <a:chOff x="6142214" y="5102755"/>
                <a:chExt cx="2386301" cy="572775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7799B1E-F2CC-FDB4-C5C8-E9DBA98B799A}"/>
                    </a:ext>
                  </a:extLst>
                </p:cNvPr>
                <p:cNvSpPr txBox="1"/>
                <p:nvPr/>
              </p:nvSpPr>
              <p:spPr>
                <a:xfrm>
                  <a:off x="6142215" y="5102755"/>
                  <a:ext cx="238630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Intangible Benefit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5BFF335-DB17-5800-28CD-49FD4AF8DBD9}"/>
                    </a:ext>
                  </a:extLst>
                </p:cNvPr>
                <p:cNvSpPr txBox="1"/>
                <p:nvPr/>
              </p:nvSpPr>
              <p:spPr>
                <a:xfrm>
                  <a:off x="6142214" y="5413920"/>
                  <a:ext cx="238630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fontAlgn="b"/>
                  <a:r>
                    <a:rPr lang="en-GB" sz="1100" dirty="0"/>
                    <a:t>Ecological Value</a:t>
                  </a:r>
                  <a:endParaRPr lang="en-DE" sz="1100" dirty="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264" name="Rounded Rectangle 263">
              <a:extLst>
                <a:ext uri="{FF2B5EF4-FFF2-40B4-BE49-F238E27FC236}">
                  <a16:creationId xmlns:a16="http://schemas.microsoft.com/office/drawing/2014/main" id="{E46B8B75-6D7D-D639-7E83-2405C4102F40}"/>
                </a:ext>
              </a:extLst>
            </p:cNvPr>
            <p:cNvSpPr/>
            <p:nvPr/>
          </p:nvSpPr>
          <p:spPr>
            <a:xfrm>
              <a:off x="7785731" y="1850044"/>
              <a:ext cx="2606567" cy="2785645"/>
            </a:xfrm>
            <a:prstGeom prst="roundRect">
              <a:avLst>
                <a:gd name="adj" fmla="val 11337"/>
              </a:avLst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86FF1FC9-D0DF-5FA6-1F25-BF81436413F6}"/>
              </a:ext>
            </a:extLst>
          </p:cNvPr>
          <p:cNvGrpSpPr/>
          <p:nvPr/>
        </p:nvGrpSpPr>
        <p:grpSpPr>
          <a:xfrm>
            <a:off x="10267245" y="1878048"/>
            <a:ext cx="1790177" cy="1046277"/>
            <a:chOff x="10267244" y="1925272"/>
            <a:chExt cx="1790177" cy="104627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E9142CA-8577-90AA-D28C-B9901B742282}"/>
                </a:ext>
              </a:extLst>
            </p:cNvPr>
            <p:cNvGrpSpPr/>
            <p:nvPr/>
          </p:nvGrpSpPr>
          <p:grpSpPr>
            <a:xfrm>
              <a:off x="10405839" y="2124349"/>
              <a:ext cx="1499143" cy="736052"/>
              <a:chOff x="8980259" y="4264188"/>
              <a:chExt cx="2126800" cy="736052"/>
            </a:xfrm>
          </p:grpSpPr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558C957-9585-FC1A-BA11-CA4BAD40E6EB}"/>
                  </a:ext>
                </a:extLst>
              </p:cNvPr>
              <p:cNvSpPr txBox="1"/>
              <p:nvPr/>
            </p:nvSpPr>
            <p:spPr>
              <a:xfrm>
                <a:off x="8980259" y="4264188"/>
                <a:ext cx="21268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Tolerance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4CD300-660E-62DA-B22E-A9741AEFD759}"/>
                  </a:ext>
                </a:extLst>
              </p:cNvPr>
              <p:cNvSpPr txBox="1"/>
              <p:nvPr/>
            </p:nvSpPr>
            <p:spPr>
              <a:xfrm>
                <a:off x="8980259" y="4569353"/>
                <a:ext cx="21267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sz="1100" dirty="0"/>
                  <a:t>Killing, Population,</a:t>
                </a:r>
              </a:p>
              <a:p>
                <a:pPr algn="ctr"/>
                <a:r>
                  <a:rPr lang="en-DE" sz="1100" dirty="0"/>
                  <a:t>Spatial, Loss</a:t>
                </a:r>
              </a:p>
            </p:txBody>
          </p:sp>
        </p:grpSp>
        <p:sp>
          <p:nvSpPr>
            <p:cNvPr id="303" name="Rounded Rectangle 302">
              <a:extLst>
                <a:ext uri="{FF2B5EF4-FFF2-40B4-BE49-F238E27FC236}">
                  <a16:creationId xmlns:a16="http://schemas.microsoft.com/office/drawing/2014/main" id="{0D9BD193-D859-7837-56CE-97F87A9082ED}"/>
                </a:ext>
              </a:extLst>
            </p:cNvPr>
            <p:cNvSpPr/>
            <p:nvPr/>
          </p:nvSpPr>
          <p:spPr>
            <a:xfrm>
              <a:off x="10267244" y="1925272"/>
              <a:ext cx="1790177" cy="1046277"/>
            </a:xfrm>
            <a:prstGeom prst="roundRect">
              <a:avLst>
                <a:gd name="adj" fmla="val 11337"/>
              </a:avLst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76AC1126-3F1F-BA6D-F6BB-A0F73859831B}"/>
              </a:ext>
            </a:extLst>
          </p:cNvPr>
          <p:cNvCxnSpPr>
            <a:cxnSpLocks/>
          </p:cNvCxnSpPr>
          <p:nvPr/>
        </p:nvCxnSpPr>
        <p:spPr>
          <a:xfrm>
            <a:off x="3310760" y="2221485"/>
            <a:ext cx="3539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F64082D7-4E3D-E4DE-15B0-3EADA8B5919A}"/>
              </a:ext>
            </a:extLst>
          </p:cNvPr>
          <p:cNvCxnSpPr/>
          <p:nvPr/>
        </p:nvCxnSpPr>
        <p:spPr>
          <a:xfrm>
            <a:off x="6952742" y="2221485"/>
            <a:ext cx="3539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98B4C567-7187-CF54-C8AF-ABA8918C79ED}"/>
              </a:ext>
            </a:extLst>
          </p:cNvPr>
          <p:cNvCxnSpPr/>
          <p:nvPr/>
        </p:nvCxnSpPr>
        <p:spPr>
          <a:xfrm>
            <a:off x="9913277" y="2221485"/>
            <a:ext cx="3539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0" name="Elbow Connector 319">
            <a:extLst>
              <a:ext uri="{FF2B5EF4-FFF2-40B4-BE49-F238E27FC236}">
                <a16:creationId xmlns:a16="http://schemas.microsoft.com/office/drawing/2014/main" id="{7A8C887A-1EE0-188B-F242-C12AE6DD4841}"/>
              </a:ext>
            </a:extLst>
          </p:cNvPr>
          <p:cNvCxnSpPr>
            <a:cxnSpLocks/>
            <a:stCxn id="254" idx="2"/>
            <a:endCxn id="264" idx="2"/>
          </p:cNvCxnSpPr>
          <p:nvPr/>
        </p:nvCxnSpPr>
        <p:spPr>
          <a:xfrm rot="16200000" flipH="1">
            <a:off x="5000010" y="1048015"/>
            <a:ext cx="332643" cy="6887325"/>
          </a:xfrm>
          <a:prstGeom prst="bentConnector3">
            <a:avLst>
              <a:gd name="adj1" fmla="val 4417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Elbow Connector 323">
            <a:extLst>
              <a:ext uri="{FF2B5EF4-FFF2-40B4-BE49-F238E27FC236}">
                <a16:creationId xmlns:a16="http://schemas.microsoft.com/office/drawing/2014/main" id="{C9BABF9C-EBBC-7914-1373-7458D829C183}"/>
              </a:ext>
            </a:extLst>
          </p:cNvPr>
          <p:cNvCxnSpPr>
            <a:cxnSpLocks/>
            <a:stCxn id="254" idx="2"/>
            <a:endCxn id="303" idx="2"/>
          </p:cNvCxnSpPr>
          <p:nvPr/>
        </p:nvCxnSpPr>
        <p:spPr>
          <a:xfrm rot="5400000" flipH="1" flipV="1">
            <a:off x="5741985" y="-1094992"/>
            <a:ext cx="1401032" cy="9439665"/>
          </a:xfrm>
          <a:prstGeom prst="bentConnector3">
            <a:avLst>
              <a:gd name="adj1" fmla="val -11745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Elbow Connector 330">
            <a:extLst>
              <a:ext uri="{FF2B5EF4-FFF2-40B4-BE49-F238E27FC236}">
                <a16:creationId xmlns:a16="http://schemas.microsoft.com/office/drawing/2014/main" id="{1F1DAC68-7D1B-EB80-1454-6E7D5AA8C999}"/>
              </a:ext>
            </a:extLst>
          </p:cNvPr>
          <p:cNvCxnSpPr>
            <a:cxnSpLocks/>
            <a:stCxn id="255" idx="2"/>
          </p:cNvCxnSpPr>
          <p:nvPr/>
        </p:nvCxnSpPr>
        <p:spPr>
          <a:xfrm rot="5400000" flipH="1" flipV="1">
            <a:off x="7012711" y="1220349"/>
            <a:ext cx="2622626" cy="6030579"/>
          </a:xfrm>
          <a:prstGeom prst="bentConnector4">
            <a:avLst>
              <a:gd name="adj1" fmla="val -22802"/>
              <a:gd name="adj2" fmla="val 99981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7" name="TextBox 346">
            <a:extLst>
              <a:ext uri="{FF2B5EF4-FFF2-40B4-BE49-F238E27FC236}">
                <a16:creationId xmlns:a16="http://schemas.microsoft.com/office/drawing/2014/main" id="{516307B0-0A19-7024-B97E-BF31DB8A62A2}"/>
              </a:ext>
            </a:extLst>
          </p:cNvPr>
          <p:cNvSpPr txBox="1"/>
          <p:nvPr/>
        </p:nvSpPr>
        <p:spPr>
          <a:xfrm>
            <a:off x="134578" y="1393690"/>
            <a:ext cx="3176182" cy="400050"/>
          </a:xfrm>
          <a:prstGeom prst="roundRect">
            <a:avLst>
              <a:gd name="adj" fmla="val 39766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400" b="1" dirty="0">
                <a:latin typeface="Heiti SC Medium" pitchFamily="2" charset="-128"/>
                <a:ea typeface="Heiti SC Medium" pitchFamily="2" charset="-128"/>
                <a:cs typeface="+mj-cs"/>
              </a:rPr>
              <a:t>Conflict Experience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0C94390F-7DFE-A0AE-2A15-9A04CAB1CCD0}"/>
              </a:ext>
            </a:extLst>
          </p:cNvPr>
          <p:cNvSpPr txBox="1"/>
          <p:nvPr/>
        </p:nvSpPr>
        <p:spPr>
          <a:xfrm>
            <a:off x="3664728" y="1390596"/>
            <a:ext cx="3288014" cy="400050"/>
          </a:xfrm>
          <a:prstGeom prst="roundRect">
            <a:avLst>
              <a:gd name="adj" fmla="val 39766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400" b="1" dirty="0">
                <a:latin typeface="Heiti SC Medium" pitchFamily="2" charset="-128"/>
                <a:ea typeface="Heiti SC Medium" pitchFamily="2" charset="-128"/>
                <a:cs typeface="+mj-cs"/>
              </a:rPr>
              <a:t>Mitigation Strategy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0D4A4D46-0B7A-5CC3-63B5-6EC6056EF25F}"/>
              </a:ext>
            </a:extLst>
          </p:cNvPr>
          <p:cNvSpPr txBox="1"/>
          <p:nvPr/>
        </p:nvSpPr>
        <p:spPr>
          <a:xfrm>
            <a:off x="7306710" y="1396174"/>
            <a:ext cx="2606567" cy="400050"/>
          </a:xfrm>
          <a:prstGeom prst="roundRect">
            <a:avLst>
              <a:gd name="adj" fmla="val 39766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400" b="1" dirty="0">
                <a:latin typeface="Heiti SC Medium" pitchFamily="2" charset="-128"/>
                <a:ea typeface="Heiti SC Medium" pitchFamily="2" charset="-128"/>
                <a:cs typeface="+mj-cs"/>
              </a:rPr>
              <a:t>Cost &amp; Benefit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7A180137-59DC-93B2-BFE3-F20CD2CDD394}"/>
              </a:ext>
            </a:extLst>
          </p:cNvPr>
          <p:cNvSpPr txBox="1"/>
          <p:nvPr/>
        </p:nvSpPr>
        <p:spPr>
          <a:xfrm>
            <a:off x="10267245" y="1390596"/>
            <a:ext cx="1790177" cy="400050"/>
          </a:xfrm>
          <a:prstGeom prst="roundRect">
            <a:avLst>
              <a:gd name="adj" fmla="val 39766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400" b="1" dirty="0">
                <a:latin typeface="Heiti SC Medium" pitchFamily="2" charset="-128"/>
                <a:ea typeface="Heiti SC Medium" pitchFamily="2" charset="-128"/>
                <a:cs typeface="+mj-cs"/>
              </a:rPr>
              <a:t>Tolerance</a:t>
            </a:r>
          </a:p>
        </p:txBody>
      </p:sp>
    </p:spTree>
    <p:extLst>
      <p:ext uri="{BB962C8B-B14F-4D97-AF65-F5344CB8AC3E}">
        <p14:creationId xmlns:p14="http://schemas.microsoft.com/office/powerpoint/2010/main" val="1628363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BD053-C4E2-9A64-EA56-EF40ADFD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0C27153F-899D-F972-0440-F7F6373350FD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1 - with compensation (n=277) 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5A08393-5B91-5CA0-6195-4CE8AC7D70D7}"/>
              </a:ext>
            </a:extLst>
          </p:cNvPr>
          <p:cNvGrpSpPr/>
          <p:nvPr/>
        </p:nvGrpSpPr>
        <p:grpSpPr>
          <a:xfrm>
            <a:off x="3885878" y="2078706"/>
            <a:ext cx="2867691" cy="3367339"/>
            <a:chOff x="2517157" y="3186676"/>
            <a:chExt cx="2983133" cy="336733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253D89-AF92-3020-965E-12058DAB6A3A}"/>
                </a:ext>
              </a:extLst>
            </p:cNvPr>
            <p:cNvGrpSpPr/>
            <p:nvPr/>
          </p:nvGrpSpPr>
          <p:grpSpPr>
            <a:xfrm>
              <a:off x="2517159" y="3186676"/>
              <a:ext cx="2983131" cy="598315"/>
              <a:chOff x="1620560" y="3614915"/>
              <a:chExt cx="2983131" cy="598315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5AB6CA-DC97-795E-5B7D-1A73C77140B1}"/>
                  </a:ext>
                </a:extLst>
              </p:cNvPr>
              <p:cNvSpPr txBox="1"/>
              <p:nvPr/>
            </p:nvSpPr>
            <p:spPr>
              <a:xfrm>
                <a:off x="1620561" y="3614915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Prevention Effectiveness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C2ED67-C16B-4287-5306-E029D1CFDF3E}"/>
                  </a:ext>
                </a:extLst>
              </p:cNvPr>
              <p:cNvSpPr txBox="1"/>
              <p:nvPr/>
            </p:nvSpPr>
            <p:spPr>
              <a:xfrm>
                <a:off x="1620560" y="3951620"/>
                <a:ext cx="298313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sz="1100" dirty="0"/>
                  <a:t>Average Effectiveness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34BF1FA-F647-7188-3507-C36CD8C9636C}"/>
                </a:ext>
              </a:extLst>
            </p:cNvPr>
            <p:cNvGrpSpPr/>
            <p:nvPr/>
          </p:nvGrpSpPr>
          <p:grpSpPr>
            <a:xfrm>
              <a:off x="2517157" y="4766021"/>
              <a:ext cx="2983130" cy="940136"/>
              <a:chOff x="1620556" y="4734443"/>
              <a:chExt cx="2983130" cy="94013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14C402-8C2D-0D90-B573-D03E74C1AC1D}"/>
                  </a:ext>
                </a:extLst>
              </p:cNvPr>
              <p:cNvSpPr txBox="1"/>
              <p:nvPr/>
            </p:nvSpPr>
            <p:spPr>
              <a:xfrm>
                <a:off x="1620556" y="4734443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Compensation Anticipation 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4C1342-64E1-03D1-DC2D-D235207C1A4D}"/>
                  </a:ext>
                </a:extLst>
              </p:cNvPr>
              <p:cNvSpPr txBox="1"/>
              <p:nvPr/>
            </p:nvSpPr>
            <p:spPr>
              <a:xfrm>
                <a:off x="1620556" y="5074415"/>
                <a:ext cx="2983130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dirty="0"/>
                  <a:t>Lowest Accepted Percentage, </a:t>
                </a:r>
              </a:p>
              <a:p>
                <a:pPr marL="228600" indent="-228600">
                  <a:buAutoNum type="arabicParenR"/>
                </a:pPr>
                <a:r>
                  <a:rPr lang="en-GB" sz="1100" dirty="0"/>
                  <a:t>Expected Percentage,</a:t>
                </a:r>
              </a:p>
              <a:p>
                <a:pPr marL="228600" indent="-228600">
                  <a:buAutoNum type="arabicParenR"/>
                </a:pPr>
                <a:r>
                  <a:rPr lang="en-GB" sz="1100" dirty="0"/>
                  <a:t>Annual Insurance Payment</a:t>
                </a:r>
                <a:endParaRPr lang="en-DE" sz="1100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6D2C75E-B3C3-35C5-3B55-EA4FAE30FDB6}"/>
                </a:ext>
              </a:extLst>
            </p:cNvPr>
            <p:cNvGrpSpPr/>
            <p:nvPr/>
          </p:nvGrpSpPr>
          <p:grpSpPr>
            <a:xfrm>
              <a:off x="2517157" y="5801431"/>
              <a:ext cx="2983132" cy="752584"/>
              <a:chOff x="1620559" y="5985951"/>
              <a:chExt cx="2983132" cy="75258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1676C3-0334-0845-B320-51C146E219D8}"/>
                  </a:ext>
                </a:extLst>
              </p:cNvPr>
              <p:cNvSpPr txBox="1"/>
              <p:nvPr/>
            </p:nvSpPr>
            <p:spPr>
              <a:xfrm>
                <a:off x="1620561" y="5985951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Policy Support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94F387-8271-7A14-E800-E3562B906156}"/>
                  </a:ext>
                </a:extLst>
              </p:cNvPr>
              <p:cNvSpPr txBox="1"/>
              <p:nvPr/>
            </p:nvSpPr>
            <p:spPr>
              <a:xfrm>
                <a:off x="1620559" y="6307648"/>
                <a:ext cx="298313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US" sz="1100" dirty="0"/>
                  <a:t>Supportive Institute, </a:t>
                </a:r>
              </a:p>
              <a:p>
                <a:pPr marL="228600" indent="-228600">
                  <a:buAutoNum type="arabicParenR"/>
                </a:pPr>
                <a:r>
                  <a:rPr lang="en-US" sz="1100" dirty="0"/>
                  <a:t>Knowledge Obtained Method</a:t>
                </a:r>
                <a:endParaRPr lang="en-DE" sz="1100" dirty="0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59B45C4-BA3D-50A3-6497-31BA5154B35F}"/>
              </a:ext>
            </a:extLst>
          </p:cNvPr>
          <p:cNvGrpSpPr/>
          <p:nvPr/>
        </p:nvGrpSpPr>
        <p:grpSpPr>
          <a:xfrm>
            <a:off x="7493159" y="2077125"/>
            <a:ext cx="2199398" cy="2513238"/>
            <a:chOff x="6525785" y="1076519"/>
            <a:chExt cx="2386305" cy="251323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4DD42F4-A729-C50A-4681-C1C30661211B}"/>
                </a:ext>
              </a:extLst>
            </p:cNvPr>
            <p:cNvGrpSpPr/>
            <p:nvPr/>
          </p:nvGrpSpPr>
          <p:grpSpPr>
            <a:xfrm>
              <a:off x="6525786" y="1076519"/>
              <a:ext cx="2386304" cy="740358"/>
              <a:chOff x="6142215" y="3162292"/>
              <a:chExt cx="2386304" cy="74035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8237FF3-F8DB-A8D8-D663-2497062FC317}"/>
                  </a:ext>
                </a:extLst>
              </p:cNvPr>
              <p:cNvSpPr txBox="1"/>
              <p:nvPr/>
            </p:nvSpPr>
            <p:spPr>
              <a:xfrm>
                <a:off x="6142215" y="3162292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Tangible Cost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EF4C17-CBCB-C902-0C92-9527746B887F}"/>
                  </a:ext>
                </a:extLst>
              </p:cNvPr>
              <p:cNvSpPr txBox="1"/>
              <p:nvPr/>
            </p:nvSpPr>
            <p:spPr>
              <a:xfrm>
                <a:off x="6142218" y="3471763"/>
                <a:ext cx="238630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dirty="0"/>
                  <a:t>Damage Area, </a:t>
                </a:r>
              </a:p>
              <a:p>
                <a:pPr marL="228600" indent="-228600">
                  <a:buAutoNum type="arabicParenR"/>
                </a:pPr>
                <a:r>
                  <a:rPr lang="en-GB" sz="1100" dirty="0"/>
                  <a:t>Perceived</a:t>
                </a:r>
                <a:r>
                  <a:rPr lang="en-DE" sz="1100" dirty="0"/>
                  <a:t> economic loss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8AA591B-3333-32F4-8B2D-EAF5271F4D49}"/>
                </a:ext>
              </a:extLst>
            </p:cNvPr>
            <p:cNvGrpSpPr/>
            <p:nvPr/>
          </p:nvGrpSpPr>
          <p:grpSpPr>
            <a:xfrm>
              <a:off x="6525787" y="1970943"/>
              <a:ext cx="2386302" cy="932427"/>
              <a:chOff x="6142216" y="4056716"/>
              <a:chExt cx="2386302" cy="93242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D4DA09-AF5C-4559-39CE-99E3D3596C96}"/>
                  </a:ext>
                </a:extLst>
              </p:cNvPr>
              <p:cNvSpPr txBox="1"/>
              <p:nvPr/>
            </p:nvSpPr>
            <p:spPr>
              <a:xfrm>
                <a:off x="6142218" y="4056716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Intangible Cost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124EADE-12F3-DA9C-E29E-66C1C8124B9C}"/>
                  </a:ext>
                </a:extLst>
              </p:cNvPr>
              <p:cNvSpPr txBox="1"/>
              <p:nvPr/>
            </p:nvSpPr>
            <p:spPr>
              <a:xfrm>
                <a:off x="6142216" y="4388979"/>
                <a:ext cx="2386301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US" sz="1100" dirty="0"/>
                  <a:t>General</a:t>
                </a:r>
                <a:r>
                  <a:rPr lang="en-DE" sz="1100" dirty="0"/>
                  <a:t> Attitude, 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Descriptive Attitude: First, Second, Third.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4B0CFE5-FD16-BA81-524A-19BA64AAE0A6}"/>
                </a:ext>
              </a:extLst>
            </p:cNvPr>
            <p:cNvGrpSpPr/>
            <p:nvPr/>
          </p:nvGrpSpPr>
          <p:grpSpPr>
            <a:xfrm>
              <a:off x="6525785" y="3016982"/>
              <a:ext cx="2386301" cy="572775"/>
              <a:chOff x="6142214" y="5102755"/>
              <a:chExt cx="2386301" cy="572775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3627434-CCE1-EBCF-C874-68CF6537D360}"/>
                  </a:ext>
                </a:extLst>
              </p:cNvPr>
              <p:cNvSpPr txBox="1"/>
              <p:nvPr/>
            </p:nvSpPr>
            <p:spPr>
              <a:xfrm>
                <a:off x="6142215" y="5102755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Intangible Benefit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6D22DB8-DAA9-1272-20C8-A305080F6093}"/>
                  </a:ext>
                </a:extLst>
              </p:cNvPr>
              <p:cNvSpPr txBox="1"/>
              <p:nvPr/>
            </p:nvSpPr>
            <p:spPr>
              <a:xfrm>
                <a:off x="6142214" y="5413920"/>
                <a:ext cx="238630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"/>
                <a:r>
                  <a:rPr lang="en-GB" sz="1100" dirty="0"/>
                  <a:t>Ecological Value</a:t>
                </a:r>
                <a:endParaRPr lang="en-DE" sz="11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D727653-9FA3-2430-5A45-8C23F4E22D9A}"/>
              </a:ext>
            </a:extLst>
          </p:cNvPr>
          <p:cNvGrpSpPr/>
          <p:nvPr/>
        </p:nvGrpSpPr>
        <p:grpSpPr>
          <a:xfrm>
            <a:off x="10405840" y="2077125"/>
            <a:ext cx="1499143" cy="736052"/>
            <a:chOff x="8980259" y="4264188"/>
            <a:chExt cx="2126800" cy="73605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40C2EEA-0C98-A357-8C55-556EF993A722}"/>
                </a:ext>
              </a:extLst>
            </p:cNvPr>
            <p:cNvSpPr txBox="1"/>
            <p:nvPr/>
          </p:nvSpPr>
          <p:spPr>
            <a:xfrm>
              <a:off x="8980259" y="4264188"/>
              <a:ext cx="21268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en-DE"/>
              </a:defPPr>
              <a:lvl1pPr algn="ctr">
                <a:buNone/>
                <a:defRPr sz="1600" b="1">
                  <a:latin typeface="Heiti SC Medium" pitchFamily="2" charset="-128"/>
                  <a:ea typeface="Heiti SC Medium" pitchFamily="2" charset="-128"/>
                  <a:cs typeface="+mj-cs"/>
                </a:defRPr>
              </a:lvl1pPr>
            </a:lstStyle>
            <a:p>
              <a:r>
                <a:rPr lang="en-GB" sz="1400" dirty="0"/>
                <a:t>Tolerance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69F603D-819B-85BC-7405-B872C82635FE}"/>
                </a:ext>
              </a:extLst>
            </p:cNvPr>
            <p:cNvSpPr txBox="1"/>
            <p:nvPr/>
          </p:nvSpPr>
          <p:spPr>
            <a:xfrm>
              <a:off x="8980259" y="4569353"/>
              <a:ext cx="21267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DE" sz="1100" dirty="0"/>
                <a:t>Killing, Population,</a:t>
              </a:r>
            </a:p>
            <a:p>
              <a:pPr algn="ctr"/>
              <a:r>
                <a:rPr lang="en-DE" sz="1100" dirty="0"/>
                <a:t>Spatial, Loss</a:t>
              </a: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F26955AC-19A3-7035-8FA8-0D0E6EF21127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158320" y="2232595"/>
            <a:ext cx="7275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793828B1-0425-FF21-FC29-94944E927E48}"/>
              </a:ext>
            </a:extLst>
          </p:cNvPr>
          <p:cNvCxnSpPr>
            <a:cxnSpLocks/>
            <a:stCxn id="17" idx="3"/>
            <a:endCxn id="73" idx="1"/>
          </p:cNvCxnSpPr>
          <p:nvPr/>
        </p:nvCxnSpPr>
        <p:spPr>
          <a:xfrm>
            <a:off x="9692553" y="2231014"/>
            <a:ext cx="713287" cy="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74F1B3A-031B-FECB-9C8A-E9712E2A4C01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3158320" y="2232595"/>
            <a:ext cx="727558" cy="1579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4E57AB2-CBBC-60F8-D527-0294A855E652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3158320" y="2232595"/>
            <a:ext cx="727560" cy="2614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E2D4201D-0C74-84FE-67E2-0583EEFDA192}"/>
              </a:ext>
            </a:extLst>
          </p:cNvPr>
          <p:cNvCxnSpPr>
            <a:cxnSpLocks/>
            <a:stCxn id="13" idx="0"/>
            <a:endCxn id="17" idx="0"/>
          </p:cNvCxnSpPr>
          <p:nvPr/>
        </p:nvCxnSpPr>
        <p:spPr>
          <a:xfrm rot="5400000" flipH="1" flipV="1">
            <a:off x="5153789" y="-1360362"/>
            <a:ext cx="1581" cy="6876556"/>
          </a:xfrm>
          <a:prstGeom prst="bentConnector3">
            <a:avLst>
              <a:gd name="adj1" fmla="val 473466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B57E7751-4280-1316-4104-232CC517FEAD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4819642" y="-1024635"/>
            <a:ext cx="918246" cy="7124928"/>
          </a:xfrm>
          <a:prstGeom prst="bentConnector4">
            <a:avLst>
              <a:gd name="adj1" fmla="val -97275"/>
              <a:gd name="adj2" fmla="val 999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B5D77263-C840-C4E1-B4E4-D031737F9F4B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4448977" y="-653971"/>
            <a:ext cx="1924117" cy="7389470"/>
          </a:xfrm>
          <a:prstGeom prst="bentConnector4">
            <a:avLst>
              <a:gd name="adj1" fmla="val -52679"/>
              <a:gd name="adj2" fmla="val 999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3EC0CA15-FC6F-5BB2-2081-77ABB8F59662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 flipV="1">
            <a:off x="6753569" y="2231014"/>
            <a:ext cx="739591" cy="1581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04955537-05B8-55D0-C361-0F66556FB98E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6753569" y="2232595"/>
            <a:ext cx="739594" cy="892843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CCD9C978-0D72-9BEF-D487-564B0279A919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6753569" y="2232595"/>
            <a:ext cx="739591" cy="1938882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E1AF2652-166B-5E76-EE85-74912AAA9DA5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 flipV="1">
            <a:off x="6753566" y="2231014"/>
            <a:ext cx="739594" cy="158092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F8B8860E-995F-116C-804D-1DD6D1FA224B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 flipV="1">
            <a:off x="6753566" y="3125438"/>
            <a:ext cx="739597" cy="68650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F584F688-9804-C2FD-52D0-FBA13E806C27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6753566" y="3811940"/>
            <a:ext cx="739594" cy="35953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7D9435E5-1049-8A44-D8B7-B21ED4CD74A7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753568" y="2231014"/>
            <a:ext cx="739592" cy="261633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BCB3B8F0-511B-7B20-CE82-014FAC0F4339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 flipV="1">
            <a:off x="6753568" y="3125438"/>
            <a:ext cx="739595" cy="172191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5C52218C-7FE6-69B5-BE5C-99C32295CD8F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 flipV="1">
            <a:off x="6753568" y="4171477"/>
            <a:ext cx="739592" cy="67587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9AAA4364-3A6B-8E4A-20C2-9AB1DC74FEE4}"/>
              </a:ext>
            </a:extLst>
          </p:cNvPr>
          <p:cNvCxnSpPr>
            <a:cxnSpLocks/>
            <a:stCxn id="18" idx="3"/>
            <a:endCxn id="73" idx="1"/>
          </p:cNvCxnSpPr>
          <p:nvPr/>
        </p:nvCxnSpPr>
        <p:spPr>
          <a:xfrm flipV="1">
            <a:off x="9692556" y="2231014"/>
            <a:ext cx="713284" cy="894424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86239EA7-4D11-A223-F096-33F68FEC703E}"/>
              </a:ext>
            </a:extLst>
          </p:cNvPr>
          <p:cNvCxnSpPr>
            <a:cxnSpLocks/>
            <a:stCxn id="19" idx="3"/>
            <a:endCxn id="73" idx="1"/>
          </p:cNvCxnSpPr>
          <p:nvPr/>
        </p:nvCxnSpPr>
        <p:spPr>
          <a:xfrm flipV="1">
            <a:off x="9692553" y="2231014"/>
            <a:ext cx="713287" cy="194046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3" name="Elbow Connector 252">
            <a:extLst>
              <a:ext uri="{FF2B5EF4-FFF2-40B4-BE49-F238E27FC236}">
                <a16:creationId xmlns:a16="http://schemas.microsoft.com/office/drawing/2014/main" id="{4F53D7FD-8D38-D953-C799-3C1EA5857093}"/>
              </a:ext>
            </a:extLst>
          </p:cNvPr>
          <p:cNvCxnSpPr>
            <a:cxnSpLocks/>
            <a:stCxn id="14" idx="0"/>
            <a:endCxn id="73" idx="0"/>
          </p:cNvCxnSpPr>
          <p:nvPr/>
        </p:nvCxnSpPr>
        <p:spPr>
          <a:xfrm rot="5400000" flipH="1" flipV="1">
            <a:off x="8236778" y="-839927"/>
            <a:ext cx="1581" cy="5835687"/>
          </a:xfrm>
          <a:prstGeom prst="bentConnector3">
            <a:avLst>
              <a:gd name="adj1" fmla="val 14559203"/>
            </a:avLst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5" name="Elbow Connector 264">
            <a:extLst>
              <a:ext uri="{FF2B5EF4-FFF2-40B4-BE49-F238E27FC236}">
                <a16:creationId xmlns:a16="http://schemas.microsoft.com/office/drawing/2014/main" id="{CEF63FC3-F3FE-C0B7-8540-B7FF13B6BF0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696488" y="-39804"/>
            <a:ext cx="1580926" cy="5835690"/>
          </a:xfrm>
          <a:prstGeom prst="bentConnector3">
            <a:avLst>
              <a:gd name="adj1" fmla="val 128920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9" name="Elbow Connector 268">
            <a:extLst>
              <a:ext uri="{FF2B5EF4-FFF2-40B4-BE49-F238E27FC236}">
                <a16:creationId xmlns:a16="http://schemas.microsoft.com/office/drawing/2014/main" id="{F5D3EF46-ED68-8AD7-6448-F72FD6E928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04186" y="474405"/>
            <a:ext cx="2616336" cy="5835688"/>
          </a:xfrm>
          <a:prstGeom prst="bentConnector3">
            <a:avLst>
              <a:gd name="adj1" fmla="val 121446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Elbow Connector 272">
            <a:extLst>
              <a:ext uri="{FF2B5EF4-FFF2-40B4-BE49-F238E27FC236}">
                <a16:creationId xmlns:a16="http://schemas.microsoft.com/office/drawing/2014/main" id="{688E3270-021D-73C7-BDFE-D1F2DDAA121A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6363449" y="-2568443"/>
            <a:ext cx="9729" cy="9304026"/>
          </a:xfrm>
          <a:prstGeom prst="bentConnector4">
            <a:avLst>
              <a:gd name="adj1" fmla="val -11962010"/>
              <a:gd name="adj2" fmla="val 999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04C35A1-E557-E4A8-B004-3AF7076AA88F}"/>
              </a:ext>
            </a:extLst>
          </p:cNvPr>
          <p:cNvGrpSpPr/>
          <p:nvPr/>
        </p:nvGrpSpPr>
        <p:grpSpPr>
          <a:xfrm>
            <a:off x="274278" y="2078706"/>
            <a:ext cx="2884042" cy="1093066"/>
            <a:chOff x="691858" y="1130805"/>
            <a:chExt cx="3238825" cy="114349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E353475-335E-00F5-3F5B-B18A4091C2D7}"/>
                </a:ext>
              </a:extLst>
            </p:cNvPr>
            <p:cNvSpPr txBox="1"/>
            <p:nvPr/>
          </p:nvSpPr>
          <p:spPr>
            <a:xfrm>
              <a:off x="691861" y="1130805"/>
              <a:ext cx="3238822" cy="32197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GB" sz="1400" b="1" dirty="0">
                  <a:latin typeface="Heiti SC Medium" pitchFamily="2" charset="-128"/>
                  <a:ea typeface="Heiti SC Medium" pitchFamily="2" charset="-128"/>
                  <a:cs typeface="+mj-cs"/>
                </a:rPr>
                <a:t>Conflict Experience - Wild boar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ED4F3DA-22A6-7889-F243-D4CA8C9785C3}"/>
                </a:ext>
              </a:extLst>
            </p:cNvPr>
            <p:cNvSpPr txBox="1"/>
            <p:nvPr/>
          </p:nvSpPr>
          <p:spPr>
            <a:xfrm>
              <a:off x="691858" y="1469360"/>
              <a:ext cx="3238821" cy="804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arenR"/>
              </a:pPr>
              <a:r>
                <a:rPr lang="en-DE" sz="1100" dirty="0"/>
                <a:t>Occur</a:t>
              </a:r>
              <a:r>
                <a:rPr lang="en-GB" sz="1100" dirty="0"/>
                <a:t>r</a:t>
              </a:r>
              <a:r>
                <a:rPr lang="en-DE" sz="1100" dirty="0"/>
                <a:t>ence </a:t>
              </a:r>
              <a:r>
                <a:rPr lang="en-GB" sz="1100" dirty="0"/>
                <a:t>Frequency</a:t>
              </a:r>
              <a:r>
                <a:rPr lang="en-DE" sz="1100" dirty="0"/>
                <a:t>, </a:t>
              </a:r>
            </a:p>
            <a:p>
              <a:pPr marL="228600" indent="-228600">
                <a:buAutoNum type="arabicParenR"/>
              </a:pPr>
              <a:r>
                <a:rPr lang="en-DE" sz="1100" dirty="0"/>
                <a:t>Annual Duration,</a:t>
              </a:r>
            </a:p>
            <a:p>
              <a:pPr marL="228600" indent="-228600">
                <a:buAutoNum type="arabicParenR"/>
              </a:pPr>
              <a:r>
                <a:rPr lang="en-DE" sz="1100" dirty="0"/>
                <a:t>Conflict </a:t>
              </a:r>
              <a:r>
                <a:rPr lang="en-GB" sz="1100" dirty="0"/>
                <a:t>Frequency</a:t>
              </a:r>
              <a:r>
                <a:rPr lang="en-DE" sz="1100" dirty="0"/>
                <a:t>,</a:t>
              </a:r>
            </a:p>
            <a:p>
              <a:pPr marL="228600" indent="-228600">
                <a:buAutoNum type="arabicParenR"/>
              </a:pPr>
              <a:r>
                <a:rPr lang="en-DE" sz="1100" dirty="0"/>
                <a:t>Population Trend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796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9A255-1C7B-68BD-1300-B7827FFEF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BC19AE-E199-E411-5700-C1A730635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45769"/>
              </p:ext>
            </p:extLst>
          </p:nvPr>
        </p:nvGraphicFramePr>
        <p:xfrm>
          <a:off x="360828" y="806288"/>
          <a:ext cx="11470347" cy="5628428"/>
        </p:xfrm>
        <a:graphic>
          <a:graphicData uri="http://schemas.openxmlformats.org/drawingml/2006/table">
            <a:tbl>
              <a:tblPr firstRow="1" firstCol="1">
                <a:tableStyleId>{793D81CF-94F2-401A-BA57-92F5A7B2D0C5}</a:tableStyleId>
              </a:tblPr>
              <a:tblGrid>
                <a:gridCol w="878445">
                  <a:extLst>
                    <a:ext uri="{9D8B030D-6E8A-4147-A177-3AD203B41FA5}">
                      <a16:colId xmlns:a16="http://schemas.microsoft.com/office/drawing/2014/main" val="4187685912"/>
                    </a:ext>
                  </a:extLst>
                </a:gridCol>
                <a:gridCol w="548584">
                  <a:extLst>
                    <a:ext uri="{9D8B030D-6E8A-4147-A177-3AD203B41FA5}">
                      <a16:colId xmlns:a16="http://schemas.microsoft.com/office/drawing/2014/main" val="464818759"/>
                    </a:ext>
                  </a:extLst>
                </a:gridCol>
                <a:gridCol w="1701247">
                  <a:extLst>
                    <a:ext uri="{9D8B030D-6E8A-4147-A177-3AD203B41FA5}">
                      <a16:colId xmlns:a16="http://schemas.microsoft.com/office/drawing/2014/main" val="3705544634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461465563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2705932792"/>
                    </a:ext>
                  </a:extLst>
                </a:gridCol>
                <a:gridCol w="963443">
                  <a:extLst>
                    <a:ext uri="{9D8B030D-6E8A-4147-A177-3AD203B41FA5}">
                      <a16:colId xmlns:a16="http://schemas.microsoft.com/office/drawing/2014/main" val="3112367060"/>
                    </a:ext>
                  </a:extLst>
                </a:gridCol>
                <a:gridCol w="1015831">
                  <a:extLst>
                    <a:ext uri="{9D8B030D-6E8A-4147-A177-3AD203B41FA5}">
                      <a16:colId xmlns:a16="http://schemas.microsoft.com/office/drawing/2014/main" val="2074996668"/>
                    </a:ext>
                  </a:extLst>
                </a:gridCol>
                <a:gridCol w="1149002">
                  <a:extLst>
                    <a:ext uri="{9D8B030D-6E8A-4147-A177-3AD203B41FA5}">
                      <a16:colId xmlns:a16="http://schemas.microsoft.com/office/drawing/2014/main" val="3920882787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630609569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3208346022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558437363"/>
                    </a:ext>
                  </a:extLst>
                </a:gridCol>
              </a:tblGrid>
              <a:tr h="159356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Latent variable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Indicators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Indicator Significance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 dirty="0">
                        <a:solidFill>
                          <a:schemeClr val="tx1"/>
                        </a:solidFill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Collinearity Check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Convergent validity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Internal consistency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Discriminant validity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Significance Testing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561350"/>
                  </a:ext>
                </a:extLst>
              </a:tr>
              <a:tr h="30932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Weights </a:t>
                      </a:r>
                      <a:r>
                        <a:rPr lang="en-DE" sz="800" dirty="0"/>
                        <a:t>≥ 0.2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Loadings</a:t>
                      </a:r>
                      <a:r>
                        <a:rPr lang="en-DE" sz="800" dirty="0"/>
                        <a:t>≥ 0.5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VIF  &lt; 3.3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 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Composite reliability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Cross-Loadings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Weights &gt; 1.96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Loadings &gt; 1.96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356081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_Wild boar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CP_WB1: Occur</a:t>
                      </a:r>
                      <a:r>
                        <a:rPr lang="en-GB" sz="800" u="none" strike="noStrike" dirty="0">
                          <a:effectLst/>
                        </a:rPr>
                        <a:t>r</a:t>
                      </a:r>
                      <a:r>
                        <a:rPr lang="en-DE" sz="800" u="none" strike="noStrike" dirty="0">
                          <a:effectLst/>
                        </a:rPr>
                        <a:t>ence </a:t>
                      </a:r>
                      <a:r>
                        <a:rPr lang="en-GB" sz="800" dirty="0"/>
                        <a:t>Frequency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0.034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0.037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1.144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0.184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0.242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83739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CP_WB2: Annual Duration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0.567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0.693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1.165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1.761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1.14</a:t>
                      </a:r>
                      <a:r>
                        <a:rPr kumimoji="0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240838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CP_WB3: Conflict Frequency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-0.569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-0.597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1.209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-1.307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-1.12</a:t>
                      </a:r>
                      <a:r>
                        <a:rPr kumimoji="0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23231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dirty="0"/>
                        <a:t>CP_WB4: Population Trend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0.470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0.568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1.193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1.440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0.89</a:t>
                      </a:r>
                      <a:r>
                        <a:rPr kumimoji="0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744874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_All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Formative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CP_A1: </a:t>
                      </a:r>
                      <a:r>
                        <a:rPr lang="en-DE" sz="800" strike="sngStrike" dirty="0"/>
                        <a:t>Conflict-causing Species Number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06314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CP_A2: </a:t>
                      </a:r>
                      <a:r>
                        <a:rPr lang="en-DE" sz="800" strike="sngStrike" dirty="0"/>
                        <a:t>Percieved Conflict Severity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229135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CP_A3: </a:t>
                      </a:r>
                      <a:r>
                        <a:rPr lang="en-DE" sz="800" strike="sngStrike" dirty="0"/>
                        <a:t>Conflict Duration 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428510"/>
                  </a:ext>
                </a:extLst>
              </a:tr>
              <a:tr h="30932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Prevention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PE: Average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1.147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656512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r>
                        <a:rPr lang="en-GB" sz="800" strike="sngStrike" dirty="0"/>
                        <a:t>Compensation Experience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Formative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CE1: Timeliness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669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CE2: Satisfaction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032467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Compensation Anticipation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CA1: Lowest Accepted Percentage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0.240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0.257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1.046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0.645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0.83</a:t>
                      </a:r>
                      <a:r>
                        <a:rPr kumimoji="0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609511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strike="noStrike" dirty="0"/>
                        <a:t>CA2: Expected Percentage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-0.304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-0.289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1.086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-0.633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-0.6</a:t>
                      </a:r>
                      <a:r>
                        <a:rPr kumimoji="0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8428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dirty="0"/>
                        <a:t>CA3:Annual Insurance Payment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0.926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0.918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1.094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2.130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</a:t>
                      </a:r>
                      <a:r>
                        <a:rPr kumimoji="0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76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563986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Policy Support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PS1: Reported Institute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0.497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0.678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1.277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2.888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4.3</a:t>
                      </a:r>
                      <a:r>
                        <a:rPr kumimoji="0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8180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PS2: Knowledge Obtained Method</a:t>
                      </a:r>
                      <a:endParaRPr lang="en-DE" sz="800" dirty="0"/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0.757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0.876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1.439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6.158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7.892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686729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TC1: Damage Area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-0.880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0.322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1.459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-0.930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0.702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99445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u="none" strike="noStrike" dirty="0">
                          <a:effectLst/>
                        </a:rPr>
                        <a:t>TC2: Perceived economic loss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1.099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-0.652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1.542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1.163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-1.062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015728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IC1: General Attitude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0.750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0.809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1.221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2.421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1.546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89036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IC2_1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0.341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0.417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1.143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1.983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1.693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05118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IC2_2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0.098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0.246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1.180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0.539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1.576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70570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IC2_3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0.440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1.449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0.809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1.141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09482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Benifit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IB: Ecological Value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1.394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797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Q4_Gender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736378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Q5_Age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4875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Q6_Education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2576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AnnualIncome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Q8_AnnualIncome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345190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HouseholdAsset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sngStrike" dirty="0">
                          <a:solidFill>
                            <a:srgbClr val="C00000"/>
                          </a:solidFill>
                          <a:effectLst/>
                        </a:rPr>
                        <a:t>Q14_CropAsset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521082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Tolerance</a:t>
                      </a:r>
                    </a:p>
                    <a:p>
                      <a:pPr algn="l" fontAlgn="b"/>
                      <a:r>
                        <a:rPr lang="en-DE" sz="8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</a:t>
                      </a:r>
                      <a:r>
                        <a:rPr lang="en-US" altLang="zh-CN" sz="8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160</a:t>
                      </a:r>
                      <a:endParaRPr lang="en-DE" sz="800" b="1" i="0" u="none" strike="noStrike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Reflective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Tol1: Killing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0.284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1.543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0.326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1.202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2.040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7168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Tol2: Population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0.281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1.501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1.479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2.223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88448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Tol3: </a:t>
                      </a: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Spatial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1.230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2.789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1.780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7238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Tol4: Loss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0.524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1.231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2.817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2.153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85761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32F7E94-5C94-9CE4-D16D-2CD03221E371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1 - with compensation (n=277) - Measurement Model (GOODNESS-OF-FIT 0.18)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22811A-DC3F-0933-D4DE-6E9889A9031C}"/>
              </a:ext>
            </a:extLst>
          </p:cNvPr>
          <p:cNvSpPr txBox="1"/>
          <p:nvPr/>
        </p:nvSpPr>
        <p:spPr>
          <a:xfrm>
            <a:off x="360828" y="6596390"/>
            <a:ext cx="114703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>
                <a:solidFill>
                  <a:srgbClr val="C00000"/>
                </a:solidFill>
              </a:rPr>
              <a:t>Deleted variables: 1) Reflective</a:t>
            </a:r>
            <a:r>
              <a:rPr lang="en-US" sz="1050" dirty="0">
                <a:solidFill>
                  <a:srgbClr val="C00000"/>
                </a:solidFill>
              </a:rPr>
              <a:t>: </a:t>
            </a:r>
            <a:r>
              <a:rPr lang="en-GB" sz="1050" dirty="0">
                <a:solidFill>
                  <a:srgbClr val="C00000"/>
                </a:solidFill>
              </a:rPr>
              <a:t>outer loading &lt; 0.5 &amp;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1.96; 2) Formative: outer weights &lt; 0.2 or VIF &gt; 3.3 &amp;</a:t>
            </a:r>
            <a:r>
              <a:rPr lang="en-GB" sz="1050" dirty="0">
                <a:solidFill>
                  <a:srgbClr val="C00000"/>
                </a:solidFill>
              </a:rPr>
              <a:t>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  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087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3114B-24E3-8EB5-2EAE-746D0884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5E6541-AD56-3553-12FC-13776FCCA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160723"/>
              </p:ext>
            </p:extLst>
          </p:nvPr>
        </p:nvGraphicFramePr>
        <p:xfrm>
          <a:off x="360828" y="806288"/>
          <a:ext cx="11470347" cy="5628428"/>
        </p:xfrm>
        <a:graphic>
          <a:graphicData uri="http://schemas.openxmlformats.org/drawingml/2006/table">
            <a:tbl>
              <a:tblPr firstRow="1" firstCol="1">
                <a:tableStyleId>{793D81CF-94F2-401A-BA57-92F5A7B2D0C5}</a:tableStyleId>
              </a:tblPr>
              <a:tblGrid>
                <a:gridCol w="878445">
                  <a:extLst>
                    <a:ext uri="{9D8B030D-6E8A-4147-A177-3AD203B41FA5}">
                      <a16:colId xmlns:a16="http://schemas.microsoft.com/office/drawing/2014/main" val="4187685912"/>
                    </a:ext>
                  </a:extLst>
                </a:gridCol>
                <a:gridCol w="548584">
                  <a:extLst>
                    <a:ext uri="{9D8B030D-6E8A-4147-A177-3AD203B41FA5}">
                      <a16:colId xmlns:a16="http://schemas.microsoft.com/office/drawing/2014/main" val="464818759"/>
                    </a:ext>
                  </a:extLst>
                </a:gridCol>
                <a:gridCol w="1701247">
                  <a:extLst>
                    <a:ext uri="{9D8B030D-6E8A-4147-A177-3AD203B41FA5}">
                      <a16:colId xmlns:a16="http://schemas.microsoft.com/office/drawing/2014/main" val="3705544634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461465563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2705932792"/>
                    </a:ext>
                  </a:extLst>
                </a:gridCol>
                <a:gridCol w="963443">
                  <a:extLst>
                    <a:ext uri="{9D8B030D-6E8A-4147-A177-3AD203B41FA5}">
                      <a16:colId xmlns:a16="http://schemas.microsoft.com/office/drawing/2014/main" val="3112367060"/>
                    </a:ext>
                  </a:extLst>
                </a:gridCol>
                <a:gridCol w="1015831">
                  <a:extLst>
                    <a:ext uri="{9D8B030D-6E8A-4147-A177-3AD203B41FA5}">
                      <a16:colId xmlns:a16="http://schemas.microsoft.com/office/drawing/2014/main" val="2074996668"/>
                    </a:ext>
                  </a:extLst>
                </a:gridCol>
                <a:gridCol w="1149002">
                  <a:extLst>
                    <a:ext uri="{9D8B030D-6E8A-4147-A177-3AD203B41FA5}">
                      <a16:colId xmlns:a16="http://schemas.microsoft.com/office/drawing/2014/main" val="3920882787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630609569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3208346022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558437363"/>
                    </a:ext>
                  </a:extLst>
                </a:gridCol>
              </a:tblGrid>
              <a:tr h="159356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Latent variable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Indicators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Indicator Significance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 dirty="0">
                        <a:solidFill>
                          <a:schemeClr val="tx1"/>
                        </a:solidFill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Collinearity Check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Convergent validity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Internal consistency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Discriminant validity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Significance Testing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561350"/>
                  </a:ext>
                </a:extLst>
              </a:tr>
              <a:tr h="30932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Weights </a:t>
                      </a:r>
                      <a:r>
                        <a:rPr lang="en-DE" sz="800" dirty="0"/>
                        <a:t>≥ 0.2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Loadings</a:t>
                      </a:r>
                      <a:r>
                        <a:rPr lang="en-DE" sz="800" dirty="0"/>
                        <a:t>≥ 0.5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VIF  &lt; 3.3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 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Composite reliability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Cross-Loadings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Weights &gt; 1.96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Loadings &gt; 1.96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356081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_Wild boar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CP_WB1: Occur</a:t>
                      </a:r>
                      <a:r>
                        <a:rPr lang="en-GB" sz="800" u="none" strike="noStrike" dirty="0">
                          <a:effectLst/>
                        </a:rPr>
                        <a:t>r</a:t>
                      </a:r>
                      <a:r>
                        <a:rPr lang="en-DE" sz="800" u="none" strike="noStrike" dirty="0">
                          <a:effectLst/>
                        </a:rPr>
                        <a:t>ence </a:t>
                      </a:r>
                      <a:r>
                        <a:rPr lang="en-GB" sz="800" dirty="0"/>
                        <a:t>Frequency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83739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CP_WB2: Annual Duration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0.690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0.801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1.147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4.423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4.855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240838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CP_WB3: Conflict Frequency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23231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dirty="0"/>
                        <a:t>CP_WB4: Population Trend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0.609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0.734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1.171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3.669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4.893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744874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_All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Formative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CP_A1: </a:t>
                      </a:r>
                      <a:r>
                        <a:rPr lang="en-DE" sz="800" strike="sngStrike" dirty="0"/>
                        <a:t>Conflict-causing Species Number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06314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CP_A2: </a:t>
                      </a:r>
                      <a:r>
                        <a:rPr lang="en-DE" sz="800" strike="sngStrike" dirty="0"/>
                        <a:t>Percieved Conflict Severity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229135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CP_A3: </a:t>
                      </a:r>
                      <a:r>
                        <a:rPr lang="en-DE" sz="800" strike="sngStrike" dirty="0"/>
                        <a:t>Conflict Duration 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428510"/>
                  </a:ext>
                </a:extLst>
              </a:tr>
              <a:tr h="30932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Prevention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PE: Average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1.111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656512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r>
                        <a:rPr lang="en-GB" sz="800" strike="sngStrike" dirty="0"/>
                        <a:t>Compensation Experience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Formative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CE1: Timeliness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669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CE2: Satisfaction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032467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Compensation Anticipation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CA1: Lowest Accepted Percentage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609511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strike="noStrike" dirty="0"/>
                        <a:t>CA2: Expected Percentage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8428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dirty="0"/>
                        <a:t>CA3:Annual Insurance Payment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1.063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563986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Policy Support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PS1: Reported Institute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0.510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0.688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1.217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3.723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5.548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8180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PS2: Knowledge Obtained Method</a:t>
                      </a:r>
                      <a:endParaRPr lang="en-DE" sz="800" dirty="0"/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0.747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0.869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1.341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6.917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12.205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686729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TC1: Damage Area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99445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u="none" strike="noStrike" dirty="0">
                          <a:effectLst/>
                        </a:rPr>
                        <a:t>TC2: Perceived economic loss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1.104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015728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IC1: General Attitude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0.671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0.740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1.183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3.106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3.260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89036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IC2_1</a:t>
                      </a: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0.343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0.401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1.090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2.333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2.728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05118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IC2_2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70570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IC2_3</a:t>
                      </a: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0.584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0.626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1.296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1.819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1.938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09482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Benifit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IB: Ecological Value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1.354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797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Q4_Gender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736378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Q5_Age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4875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Q6_Education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2576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AnnualIncome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Q8_AnnualIncome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345190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HouseholdAsset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sngStrike" dirty="0">
                          <a:solidFill>
                            <a:srgbClr val="C00000"/>
                          </a:solidFill>
                          <a:effectLst/>
                        </a:rPr>
                        <a:t>Q14_CropAsset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521082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Tolerance</a:t>
                      </a:r>
                    </a:p>
                    <a:p>
                      <a:pPr algn="l" fontAlgn="b"/>
                      <a:r>
                        <a:rPr lang="en-DE" sz="8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0.2173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Reflective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Tol1: Killing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0.223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0.328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1.184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0.353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0.632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0.736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1.022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7168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Tol2: Population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88448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Tol3: </a:t>
                      </a: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Spatial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0.697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0.715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1.166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4.556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4.931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7238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Tol4: Loss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0.644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0.664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1.157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4.600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5.443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85761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93509D0B-2377-DC95-5F11-5E680B24D7B0}"/>
              </a:ext>
            </a:extLst>
          </p:cNvPr>
          <p:cNvSpPr txBox="1">
            <a:spLocks/>
          </p:cNvSpPr>
          <p:nvPr/>
        </p:nvSpPr>
        <p:spPr>
          <a:xfrm>
            <a:off x="360828" y="240218"/>
            <a:ext cx="11470343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1.1 - with compensation (n=277) - Measurement Model (GOODNESS-OF-FIT 0.2064)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6AEA27-DD0A-4AE4-E621-3599130AC75E}"/>
              </a:ext>
            </a:extLst>
          </p:cNvPr>
          <p:cNvSpPr txBox="1"/>
          <p:nvPr/>
        </p:nvSpPr>
        <p:spPr>
          <a:xfrm>
            <a:off x="360828" y="6596390"/>
            <a:ext cx="114703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>
                <a:solidFill>
                  <a:srgbClr val="C00000"/>
                </a:solidFill>
              </a:rPr>
              <a:t>Deleted variables: 1) Reflective</a:t>
            </a:r>
            <a:r>
              <a:rPr lang="en-US" sz="1050" dirty="0">
                <a:solidFill>
                  <a:srgbClr val="C00000"/>
                </a:solidFill>
              </a:rPr>
              <a:t>: </a:t>
            </a:r>
            <a:r>
              <a:rPr lang="en-GB" sz="1050" dirty="0">
                <a:solidFill>
                  <a:srgbClr val="C00000"/>
                </a:solidFill>
              </a:rPr>
              <a:t>outer loading &lt; 0.5 &amp;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1.96; 2) Formative: outer weights &lt; 0.2 or VIF &gt; 3.3 &amp;</a:t>
            </a:r>
            <a:r>
              <a:rPr lang="en-GB" sz="1050" dirty="0">
                <a:solidFill>
                  <a:srgbClr val="C00000"/>
                </a:solidFill>
              </a:rPr>
              <a:t>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  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1418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A1581-F483-A064-7F38-3E86BE584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DEF4E4-4560-7567-A2E1-B5CBFB094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9376"/>
              </p:ext>
            </p:extLst>
          </p:nvPr>
        </p:nvGraphicFramePr>
        <p:xfrm>
          <a:off x="360828" y="806288"/>
          <a:ext cx="11470347" cy="5628428"/>
        </p:xfrm>
        <a:graphic>
          <a:graphicData uri="http://schemas.openxmlformats.org/drawingml/2006/table">
            <a:tbl>
              <a:tblPr firstRow="1" firstCol="1">
                <a:tableStyleId>{793D81CF-94F2-401A-BA57-92F5A7B2D0C5}</a:tableStyleId>
              </a:tblPr>
              <a:tblGrid>
                <a:gridCol w="878445">
                  <a:extLst>
                    <a:ext uri="{9D8B030D-6E8A-4147-A177-3AD203B41FA5}">
                      <a16:colId xmlns:a16="http://schemas.microsoft.com/office/drawing/2014/main" val="4187685912"/>
                    </a:ext>
                  </a:extLst>
                </a:gridCol>
                <a:gridCol w="548584">
                  <a:extLst>
                    <a:ext uri="{9D8B030D-6E8A-4147-A177-3AD203B41FA5}">
                      <a16:colId xmlns:a16="http://schemas.microsoft.com/office/drawing/2014/main" val="464818759"/>
                    </a:ext>
                  </a:extLst>
                </a:gridCol>
                <a:gridCol w="1701247">
                  <a:extLst>
                    <a:ext uri="{9D8B030D-6E8A-4147-A177-3AD203B41FA5}">
                      <a16:colId xmlns:a16="http://schemas.microsoft.com/office/drawing/2014/main" val="3705544634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461465563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2705932792"/>
                    </a:ext>
                  </a:extLst>
                </a:gridCol>
                <a:gridCol w="963443">
                  <a:extLst>
                    <a:ext uri="{9D8B030D-6E8A-4147-A177-3AD203B41FA5}">
                      <a16:colId xmlns:a16="http://schemas.microsoft.com/office/drawing/2014/main" val="3112367060"/>
                    </a:ext>
                  </a:extLst>
                </a:gridCol>
                <a:gridCol w="1015831">
                  <a:extLst>
                    <a:ext uri="{9D8B030D-6E8A-4147-A177-3AD203B41FA5}">
                      <a16:colId xmlns:a16="http://schemas.microsoft.com/office/drawing/2014/main" val="2074996668"/>
                    </a:ext>
                  </a:extLst>
                </a:gridCol>
                <a:gridCol w="1149002">
                  <a:extLst>
                    <a:ext uri="{9D8B030D-6E8A-4147-A177-3AD203B41FA5}">
                      <a16:colId xmlns:a16="http://schemas.microsoft.com/office/drawing/2014/main" val="3920882787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630609569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3208346022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558437363"/>
                    </a:ext>
                  </a:extLst>
                </a:gridCol>
              </a:tblGrid>
              <a:tr h="159356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Latent variable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Indicators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Indicator Significance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 dirty="0">
                        <a:solidFill>
                          <a:schemeClr val="tx1"/>
                        </a:solidFill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Collinearity Check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Convergent validity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Internal consistency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Discriminant validity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Significance Testing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561350"/>
                  </a:ext>
                </a:extLst>
              </a:tr>
              <a:tr h="30932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Weights </a:t>
                      </a:r>
                      <a:r>
                        <a:rPr lang="en-DE" sz="800" dirty="0"/>
                        <a:t>≥ 0.2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Loadings</a:t>
                      </a:r>
                      <a:r>
                        <a:rPr lang="en-DE" sz="800" dirty="0"/>
                        <a:t>≥ 0.5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VIF  &lt; 3.3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 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Composite reliability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Cross-Loadings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Weights &gt; 1.96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Loadings &gt; 1.96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356081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_Wild boar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CP_WB1: Occur</a:t>
                      </a:r>
                      <a:r>
                        <a:rPr lang="en-GB" sz="800" u="none" strike="noStrike" dirty="0">
                          <a:effectLst/>
                        </a:rPr>
                        <a:t>r</a:t>
                      </a:r>
                      <a:r>
                        <a:rPr lang="en-DE" sz="800" u="none" strike="noStrike" dirty="0">
                          <a:effectLst/>
                        </a:rPr>
                        <a:t>ence </a:t>
                      </a:r>
                      <a:r>
                        <a:rPr lang="en-GB" sz="800" dirty="0"/>
                        <a:t>Frequency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83739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CP_WB2: Annual Duration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0.629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0.751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1.135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4.193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5.777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240838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CP_WB3: Conflict Frequency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23231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dirty="0"/>
                        <a:t>CP_WB4: Population Trend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0.672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0.785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1.160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4.634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6.709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744874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_All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Formative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CP_A1: </a:t>
                      </a:r>
                      <a:r>
                        <a:rPr lang="en-DE" sz="800" strike="sngStrike" dirty="0"/>
                        <a:t>Conflict-causing Species Number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06314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CP_A2: </a:t>
                      </a:r>
                      <a:r>
                        <a:rPr lang="en-DE" sz="800" strike="sngStrike" dirty="0"/>
                        <a:t>Percieved Conflict Severity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229135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CP_A3: </a:t>
                      </a:r>
                      <a:r>
                        <a:rPr lang="en-DE" sz="800" strike="sngStrike" dirty="0"/>
                        <a:t>Conflict Duration 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428510"/>
                  </a:ext>
                </a:extLst>
              </a:tr>
              <a:tr h="30932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Prevention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PE: Average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1.096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656512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r>
                        <a:rPr lang="en-GB" sz="800" strike="sngStrike" dirty="0"/>
                        <a:t>Compensation Experience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Formative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CE1: Timeliness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669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CE2: Satisfaction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032467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Compensation Anticipation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CA1: Lowest Accepted Percentage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609511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strike="noStrike" dirty="0"/>
                        <a:t>CA2: Expected Percentage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8428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dirty="0"/>
                        <a:t>CA3:Annual Insurance Payment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1.057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563986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Policy Support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PS1: Reported Institute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0.531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0.705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1.170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4.425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6.779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8180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PS2: Knowledge Obtained Method</a:t>
                      </a:r>
                      <a:endParaRPr lang="en-DE" sz="800" dirty="0"/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0.730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0.857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1.265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7.381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12.260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686729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TC1: Damage Area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99445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u="none" strike="noStrike" dirty="0">
                          <a:effectLst/>
                        </a:rPr>
                        <a:t>TC2: Perceived economic loss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1.089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015728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IC1: General Attitude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1.171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89036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IC2_1</a:t>
                      </a: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05118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IC2_2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70570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IC2_3</a:t>
                      </a: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09482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Benifit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IB: Ecological Value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1.215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797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Q4_Gender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736378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Q5_Age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4875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Q6_Education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2576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AnnualIncome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Q8_AnnualIncome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345190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HouseholdAsset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sngStrike" dirty="0">
                          <a:solidFill>
                            <a:srgbClr val="C00000"/>
                          </a:solidFill>
                          <a:effectLst/>
                        </a:rPr>
                        <a:t>Q14_CropAsset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521082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Tolerance</a:t>
                      </a:r>
                    </a:p>
                    <a:p>
                      <a:pPr algn="l" fontAlgn="b"/>
                      <a:r>
                        <a:rPr lang="en-DE" sz="8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0.2086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Reflective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Tol1: Killing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0.501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0.668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67168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Tol2: Population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88448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Tol3: </a:t>
                      </a: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Spatial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0.701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0.703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1.141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6.551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6.333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7238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Tol4: Loss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0.711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0.713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1.145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6.771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6.482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85761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1CA0BF62-BA7E-803C-12A0-941AC1AFEE52}"/>
              </a:ext>
            </a:extLst>
          </p:cNvPr>
          <p:cNvSpPr txBox="1">
            <a:spLocks/>
          </p:cNvSpPr>
          <p:nvPr/>
        </p:nvSpPr>
        <p:spPr>
          <a:xfrm>
            <a:off x="360828" y="240218"/>
            <a:ext cx="11470343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1.2 - with compensation (n=277) - Measurement Model (GOODNESS-OF-FIT 0.2177)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A2B70E-4891-44C0-860A-98C8010C9920}"/>
              </a:ext>
            </a:extLst>
          </p:cNvPr>
          <p:cNvSpPr txBox="1"/>
          <p:nvPr/>
        </p:nvSpPr>
        <p:spPr>
          <a:xfrm>
            <a:off x="360828" y="6596390"/>
            <a:ext cx="114703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>
                <a:solidFill>
                  <a:srgbClr val="C00000"/>
                </a:solidFill>
              </a:rPr>
              <a:t>Deleted variables: 1) Reflective</a:t>
            </a:r>
            <a:r>
              <a:rPr lang="en-US" sz="1050" dirty="0">
                <a:solidFill>
                  <a:srgbClr val="C00000"/>
                </a:solidFill>
              </a:rPr>
              <a:t>: </a:t>
            </a:r>
            <a:r>
              <a:rPr lang="en-GB" sz="1050" dirty="0">
                <a:solidFill>
                  <a:srgbClr val="C00000"/>
                </a:solidFill>
              </a:rPr>
              <a:t>outer loading &lt; 0.5 &amp;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1.96; 2) Formative: outer weights &lt; 0.2 or VIF &gt; 3.3 &amp;</a:t>
            </a:r>
            <a:r>
              <a:rPr lang="en-GB" sz="1050" dirty="0">
                <a:solidFill>
                  <a:srgbClr val="C00000"/>
                </a:solidFill>
              </a:rPr>
              <a:t>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  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597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548EE-9637-7BE5-7F40-3DA41969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5028D8-0A02-7CBE-7FD2-FE92440D08AB}"/>
              </a:ext>
            </a:extLst>
          </p:cNvPr>
          <p:cNvGraphicFramePr>
            <a:graphicFrameLocks noGrp="1"/>
          </p:cNvGraphicFramePr>
          <p:nvPr/>
        </p:nvGraphicFramePr>
        <p:xfrm>
          <a:off x="360829" y="741734"/>
          <a:ext cx="11143310" cy="5069403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379036">
                  <a:extLst>
                    <a:ext uri="{9D8B030D-6E8A-4147-A177-3AD203B41FA5}">
                      <a16:colId xmlns:a16="http://schemas.microsoft.com/office/drawing/2014/main" val="749563485"/>
                    </a:ext>
                  </a:extLst>
                </a:gridCol>
                <a:gridCol w="173647">
                  <a:extLst>
                    <a:ext uri="{9D8B030D-6E8A-4147-A177-3AD203B41FA5}">
                      <a16:colId xmlns:a16="http://schemas.microsoft.com/office/drawing/2014/main" val="2031556608"/>
                    </a:ext>
                  </a:extLst>
                </a:gridCol>
                <a:gridCol w="1380163">
                  <a:extLst>
                    <a:ext uri="{9D8B030D-6E8A-4147-A177-3AD203B41FA5}">
                      <a16:colId xmlns:a16="http://schemas.microsoft.com/office/drawing/2014/main" val="3343153147"/>
                    </a:ext>
                  </a:extLst>
                </a:gridCol>
                <a:gridCol w="493612">
                  <a:extLst>
                    <a:ext uri="{9D8B030D-6E8A-4147-A177-3AD203B41FA5}">
                      <a16:colId xmlns:a16="http://schemas.microsoft.com/office/drawing/2014/main" val="2157173871"/>
                    </a:ext>
                  </a:extLst>
                </a:gridCol>
                <a:gridCol w="640935">
                  <a:extLst>
                    <a:ext uri="{9D8B030D-6E8A-4147-A177-3AD203B41FA5}">
                      <a16:colId xmlns:a16="http://schemas.microsoft.com/office/drawing/2014/main" val="2521125321"/>
                    </a:ext>
                  </a:extLst>
                </a:gridCol>
                <a:gridCol w="572568">
                  <a:extLst>
                    <a:ext uri="{9D8B030D-6E8A-4147-A177-3AD203B41FA5}">
                      <a16:colId xmlns:a16="http://schemas.microsoft.com/office/drawing/2014/main" val="1048908395"/>
                    </a:ext>
                  </a:extLst>
                </a:gridCol>
                <a:gridCol w="623843">
                  <a:extLst>
                    <a:ext uri="{9D8B030D-6E8A-4147-A177-3AD203B41FA5}">
                      <a16:colId xmlns:a16="http://schemas.microsoft.com/office/drawing/2014/main" val="1968220880"/>
                    </a:ext>
                  </a:extLst>
                </a:gridCol>
                <a:gridCol w="572568">
                  <a:extLst>
                    <a:ext uri="{9D8B030D-6E8A-4147-A177-3AD203B41FA5}">
                      <a16:colId xmlns:a16="http://schemas.microsoft.com/office/drawing/2014/main" val="775436418"/>
                    </a:ext>
                  </a:extLst>
                </a:gridCol>
                <a:gridCol w="764188">
                  <a:extLst>
                    <a:ext uri="{9D8B030D-6E8A-4147-A177-3AD203B41FA5}">
                      <a16:colId xmlns:a16="http://schemas.microsoft.com/office/drawing/2014/main" val="3571124772"/>
                    </a:ext>
                  </a:extLst>
                </a:gridCol>
                <a:gridCol w="4542750">
                  <a:extLst>
                    <a:ext uri="{9D8B030D-6E8A-4147-A177-3AD203B41FA5}">
                      <a16:colId xmlns:a16="http://schemas.microsoft.com/office/drawing/2014/main" val="2235612017"/>
                    </a:ext>
                  </a:extLst>
                </a:gridCol>
              </a:tblGrid>
              <a:tr h="215499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DE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Path</a:t>
                      </a: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D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467" marR="6467" marT="6467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effectLst/>
                        </a:rPr>
                        <a:t>Original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 err="1">
                          <a:effectLst/>
                        </a:rPr>
                        <a:t>Mean.Boot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 err="1">
                          <a:effectLst/>
                        </a:rPr>
                        <a:t>Std.Error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effectLst/>
                        </a:rPr>
                        <a:t>perc.025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effectLst/>
                        </a:rPr>
                        <a:t>perc.975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zh-CN" altLang="en-US" sz="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GB" sz="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Tips</a:t>
                      </a: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08055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0.0147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0.0644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-0.1112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0.1301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843086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0.1389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0.1579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0.0411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0.0952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0.2464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3.380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human-wild boar conflict is more frequent, people prefer to spend more in the insurance.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547083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-0.2462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-0.2517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0.0612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-0.3638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-0.1299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-4.023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human-wild boar conflict is more frequent, people seek for less policy support.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03332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0.1997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0.1989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0.0737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0.0651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0.3442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2.710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human-wild boar conflict is more frequent, people feel more tangible cost.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649503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0.1098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0.1053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0.0719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-0.0515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0.2378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1.527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929447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-0.2608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-0.2547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0.0562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-0.3681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-0.141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-4.641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human-wild boar conflict is more frequent, people feel less intangible benefits.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24614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0.0388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-0.0833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0.1588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0.636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72552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0.1232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0.1188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0.0491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0.0149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0.2163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2.509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prevention is more effective, people show higher tolerance to wild boars.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61786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-0.2089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-0.206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0.0537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-0.3046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-0.101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-3.890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prevention is more effective, people feel less</a:t>
                      </a:r>
                      <a:r>
                        <a:rPr lang="zh-CN" altLang="en-US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</a:t>
                      </a:r>
                      <a:r>
                        <a:rPr lang="zh-CN" altLang="en-US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costs.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329159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0.0361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0.0362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0.0621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-0.0836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0.1554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970133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0.0927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0.0899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0.0664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-0.0408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0.2162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1.396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478026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-0.0326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-0.0204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0.0382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-0.086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0.0667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-0.853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269630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-0.0483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-0.0171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0.0701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-0.1285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0.1144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-0.689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587038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-0.0706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-0.0853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-0.1575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-0.0366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-2.277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people prefer to spend more in the insurance, they feel less intangible benefits.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253074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-0.0263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-0.0184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0.0509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-0.1115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0.0958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-0.517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338653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-0.0494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-0.0453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0.0652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-0.1651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-0.758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745816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0.1721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0.1807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0.0601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0.0649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0.2986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2.864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people seek for more policy support, they feel more intangible costs.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730550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0.1924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0.1889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0.0572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0.0759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0.2984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3.364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people seek for more policy support, they feel more intangible benefits.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40349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-0.3488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-0.3516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0.0592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-0.4708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-0.2273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-5.892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people seek for more policy support, they show lower tolerance to wild boars.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110243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0.0716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0.0667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0.0564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-0.0476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0.173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1.270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640345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-0.1777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-0.1767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0.0573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-0.2792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-0.0674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-3.101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people feel more intangible costs, they show lower tolerance to wild boars.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400533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0.1465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0.1507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0.0598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0.0285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0.2751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2.450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people feel more intangible benefits, they show higher tolerance to wild boars.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12110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66497BA0-5B54-7DCF-1735-068C3A838A62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1.2 - with compensation (n=277) : Structure Model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34825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EBAEB-295B-4C27-A6F1-521433746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94F3216F-B129-7C03-3319-239AD2233FD2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1 - with compensation (n=277)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F6A53B5-E374-70E3-F88E-EFAC2CFE05B0}"/>
              </a:ext>
            </a:extLst>
          </p:cNvPr>
          <p:cNvGrpSpPr/>
          <p:nvPr/>
        </p:nvGrpSpPr>
        <p:grpSpPr>
          <a:xfrm>
            <a:off x="3885878" y="2078706"/>
            <a:ext cx="2867691" cy="3367339"/>
            <a:chOff x="2517157" y="3186676"/>
            <a:chExt cx="2983133" cy="336733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72CE925-2B98-8EB3-9147-3D97CDF80D87}"/>
                </a:ext>
              </a:extLst>
            </p:cNvPr>
            <p:cNvGrpSpPr/>
            <p:nvPr/>
          </p:nvGrpSpPr>
          <p:grpSpPr>
            <a:xfrm>
              <a:off x="2517159" y="3186676"/>
              <a:ext cx="2983131" cy="598315"/>
              <a:chOff x="1620560" y="3614915"/>
              <a:chExt cx="2983131" cy="598315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EAD05E-88B3-BC62-265B-34D5198381E4}"/>
                  </a:ext>
                </a:extLst>
              </p:cNvPr>
              <p:cNvSpPr txBox="1"/>
              <p:nvPr/>
            </p:nvSpPr>
            <p:spPr>
              <a:xfrm>
                <a:off x="1620561" y="3614915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Prevention Effectiveness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03BB1E-9327-4D9A-AF3B-918A36F6FC13}"/>
                  </a:ext>
                </a:extLst>
              </p:cNvPr>
              <p:cNvSpPr txBox="1"/>
              <p:nvPr/>
            </p:nvSpPr>
            <p:spPr>
              <a:xfrm>
                <a:off x="1620560" y="3951620"/>
                <a:ext cx="298313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sz="1100" dirty="0"/>
                  <a:t>Average Effectiveness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BB8761A-90B4-2585-D62A-BCD3A1447845}"/>
                </a:ext>
              </a:extLst>
            </p:cNvPr>
            <p:cNvGrpSpPr/>
            <p:nvPr/>
          </p:nvGrpSpPr>
          <p:grpSpPr>
            <a:xfrm>
              <a:off x="2517157" y="4766021"/>
              <a:ext cx="2983130" cy="940136"/>
              <a:chOff x="1620556" y="4734443"/>
              <a:chExt cx="2983130" cy="94013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411283-AEC5-6CBA-C001-2E535289DE27}"/>
                  </a:ext>
                </a:extLst>
              </p:cNvPr>
              <p:cNvSpPr txBox="1"/>
              <p:nvPr/>
            </p:nvSpPr>
            <p:spPr>
              <a:xfrm>
                <a:off x="1620556" y="4734443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Compensation Anticipation 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69B016-A3B7-D1B8-418C-EA3EA137A70B}"/>
                  </a:ext>
                </a:extLst>
              </p:cNvPr>
              <p:cNvSpPr txBox="1"/>
              <p:nvPr/>
            </p:nvSpPr>
            <p:spPr>
              <a:xfrm>
                <a:off x="1620556" y="5074415"/>
                <a:ext cx="2983130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strike="sngStrike" dirty="0"/>
                  <a:t>Lowest Accepted Percentage, </a:t>
                </a:r>
              </a:p>
              <a:p>
                <a:pPr marL="228600" indent="-228600">
                  <a:buAutoNum type="arabicParenR"/>
                </a:pPr>
                <a:r>
                  <a:rPr lang="en-GB" sz="1100" strike="sngStrike" dirty="0"/>
                  <a:t>Expected Percentage,</a:t>
                </a:r>
              </a:p>
              <a:p>
                <a:pPr marL="228600" indent="-228600">
                  <a:buAutoNum type="arabicParenR"/>
                </a:pPr>
                <a:r>
                  <a:rPr lang="en-GB" sz="1100" dirty="0"/>
                  <a:t>Annual Insurance Payment</a:t>
                </a:r>
                <a:endParaRPr lang="en-DE" sz="1100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565EB50-8AC2-6291-2030-F3D88804BE8C}"/>
                </a:ext>
              </a:extLst>
            </p:cNvPr>
            <p:cNvGrpSpPr/>
            <p:nvPr/>
          </p:nvGrpSpPr>
          <p:grpSpPr>
            <a:xfrm>
              <a:off x="2517157" y="5801431"/>
              <a:ext cx="2983132" cy="752584"/>
              <a:chOff x="1620559" y="5985951"/>
              <a:chExt cx="2983132" cy="75258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DDA4E3-F25D-320E-910E-0F32EB7EDC46}"/>
                  </a:ext>
                </a:extLst>
              </p:cNvPr>
              <p:cNvSpPr txBox="1"/>
              <p:nvPr/>
            </p:nvSpPr>
            <p:spPr>
              <a:xfrm>
                <a:off x="1620561" y="5985951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Policy Dependency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CCC6A1-A0BE-A2A8-D705-0CD588A2705D}"/>
                  </a:ext>
                </a:extLst>
              </p:cNvPr>
              <p:cNvSpPr txBox="1"/>
              <p:nvPr/>
            </p:nvSpPr>
            <p:spPr>
              <a:xfrm>
                <a:off x="1620559" y="6307648"/>
                <a:ext cx="298313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US" sz="1100" dirty="0"/>
                  <a:t>Supportive Institute, </a:t>
                </a:r>
              </a:p>
              <a:p>
                <a:pPr marL="228600" indent="-228600">
                  <a:buAutoNum type="arabicParenR"/>
                </a:pPr>
                <a:r>
                  <a:rPr lang="en-US" sz="1100" dirty="0"/>
                  <a:t>Knowledge Obtained Method</a:t>
                </a:r>
                <a:endParaRPr lang="en-DE" sz="1100" dirty="0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B460573-1EA5-CD1F-FF12-1922CC084492}"/>
              </a:ext>
            </a:extLst>
          </p:cNvPr>
          <p:cNvGrpSpPr/>
          <p:nvPr/>
        </p:nvGrpSpPr>
        <p:grpSpPr>
          <a:xfrm>
            <a:off x="7493159" y="2077125"/>
            <a:ext cx="2199398" cy="2513238"/>
            <a:chOff x="6525785" y="1076519"/>
            <a:chExt cx="2386305" cy="251323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4B89A67-338F-047C-7FED-89313B1285FB}"/>
                </a:ext>
              </a:extLst>
            </p:cNvPr>
            <p:cNvGrpSpPr/>
            <p:nvPr/>
          </p:nvGrpSpPr>
          <p:grpSpPr>
            <a:xfrm>
              <a:off x="6525786" y="1076519"/>
              <a:ext cx="2386304" cy="740358"/>
              <a:chOff x="6142215" y="3162292"/>
              <a:chExt cx="2386304" cy="74035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5D80E4-7154-418E-2024-73E1CC46EC18}"/>
                  </a:ext>
                </a:extLst>
              </p:cNvPr>
              <p:cNvSpPr txBox="1"/>
              <p:nvPr/>
            </p:nvSpPr>
            <p:spPr>
              <a:xfrm>
                <a:off x="6142215" y="3162292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Tangible Cost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F0FCB4-313A-6DBB-49A5-49DF32C1D59C}"/>
                  </a:ext>
                </a:extLst>
              </p:cNvPr>
              <p:cNvSpPr txBox="1"/>
              <p:nvPr/>
            </p:nvSpPr>
            <p:spPr>
              <a:xfrm>
                <a:off x="6142218" y="3471763"/>
                <a:ext cx="238630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strike="sngStrike" dirty="0"/>
                  <a:t>Damage Area, </a:t>
                </a:r>
              </a:p>
              <a:p>
                <a:pPr marL="228600" indent="-228600">
                  <a:buAutoNum type="arabicParenR"/>
                </a:pPr>
                <a:r>
                  <a:rPr lang="en-GB" sz="1100" dirty="0"/>
                  <a:t>Perceived</a:t>
                </a:r>
                <a:r>
                  <a:rPr lang="en-DE" sz="1100" dirty="0"/>
                  <a:t> economic loss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3E93A56-202E-EBAD-0257-B0A703C9DCC0}"/>
                </a:ext>
              </a:extLst>
            </p:cNvPr>
            <p:cNvGrpSpPr/>
            <p:nvPr/>
          </p:nvGrpSpPr>
          <p:grpSpPr>
            <a:xfrm>
              <a:off x="6525787" y="1970943"/>
              <a:ext cx="2386302" cy="932427"/>
              <a:chOff x="6142216" y="4056716"/>
              <a:chExt cx="2386302" cy="93242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E449EC-2FB3-19B1-AC7B-24BBFF50123C}"/>
                  </a:ext>
                </a:extLst>
              </p:cNvPr>
              <p:cNvSpPr txBox="1"/>
              <p:nvPr/>
            </p:nvSpPr>
            <p:spPr>
              <a:xfrm>
                <a:off x="6142218" y="4056716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Intangible Cost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2D74FB9-D5DD-AF52-A316-AA9BF4B76AC4}"/>
                  </a:ext>
                </a:extLst>
              </p:cNvPr>
              <p:cNvSpPr txBox="1"/>
              <p:nvPr/>
            </p:nvSpPr>
            <p:spPr>
              <a:xfrm>
                <a:off x="6142216" y="4388979"/>
                <a:ext cx="2386301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US" sz="1100" dirty="0"/>
                  <a:t>General</a:t>
                </a:r>
                <a:r>
                  <a:rPr lang="en-DE" sz="1100" dirty="0"/>
                  <a:t> Attitude, </a:t>
                </a:r>
              </a:p>
              <a:p>
                <a:pPr marL="228600" indent="-228600">
                  <a:buAutoNum type="arabicParenR"/>
                </a:pPr>
                <a:r>
                  <a:rPr lang="en-DE" sz="1100" strike="sngStrike" dirty="0"/>
                  <a:t>Descriptive Attitude: First, Second, Third</a:t>
                </a:r>
                <a:r>
                  <a:rPr lang="en-DE" sz="1100" dirty="0"/>
                  <a:t>.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3A328D7-7362-1A0B-8E26-0061450938EE}"/>
                </a:ext>
              </a:extLst>
            </p:cNvPr>
            <p:cNvGrpSpPr/>
            <p:nvPr/>
          </p:nvGrpSpPr>
          <p:grpSpPr>
            <a:xfrm>
              <a:off x="6525785" y="3016982"/>
              <a:ext cx="2386301" cy="572775"/>
              <a:chOff x="6142214" y="5102755"/>
              <a:chExt cx="2386301" cy="572775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2FAB41-174B-2FFE-F353-4E695A0E5626}"/>
                  </a:ext>
                </a:extLst>
              </p:cNvPr>
              <p:cNvSpPr txBox="1"/>
              <p:nvPr/>
            </p:nvSpPr>
            <p:spPr>
              <a:xfrm>
                <a:off x="6142215" y="5102755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Intangible Benefit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E1F7693-8320-36B4-8D41-93C99F742447}"/>
                  </a:ext>
                </a:extLst>
              </p:cNvPr>
              <p:cNvSpPr txBox="1"/>
              <p:nvPr/>
            </p:nvSpPr>
            <p:spPr>
              <a:xfrm>
                <a:off x="6142214" y="5413920"/>
                <a:ext cx="238630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"/>
                <a:r>
                  <a:rPr lang="en-GB" sz="1100" dirty="0"/>
                  <a:t>Ecological Value</a:t>
                </a:r>
                <a:endParaRPr lang="en-DE" sz="11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B631AB8-1C13-4444-6141-0FF2E6ACC36A}"/>
              </a:ext>
            </a:extLst>
          </p:cNvPr>
          <p:cNvGrpSpPr/>
          <p:nvPr/>
        </p:nvGrpSpPr>
        <p:grpSpPr>
          <a:xfrm>
            <a:off x="10405840" y="2077125"/>
            <a:ext cx="1499143" cy="736052"/>
            <a:chOff x="8980259" y="4264188"/>
            <a:chExt cx="2126800" cy="73605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12C4A61-49EB-B58A-6FE7-94E9D378C0CF}"/>
                </a:ext>
              </a:extLst>
            </p:cNvPr>
            <p:cNvSpPr txBox="1"/>
            <p:nvPr/>
          </p:nvSpPr>
          <p:spPr>
            <a:xfrm>
              <a:off x="8980259" y="4264188"/>
              <a:ext cx="21268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en-DE"/>
              </a:defPPr>
              <a:lvl1pPr algn="ctr">
                <a:buNone/>
                <a:defRPr sz="1600" b="1">
                  <a:latin typeface="Heiti SC Medium" pitchFamily="2" charset="-128"/>
                  <a:ea typeface="Heiti SC Medium" pitchFamily="2" charset="-128"/>
                  <a:cs typeface="+mj-cs"/>
                </a:defRPr>
              </a:lvl1pPr>
            </a:lstStyle>
            <a:p>
              <a:r>
                <a:rPr lang="en-GB" sz="1400" dirty="0"/>
                <a:t>Tolerance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1403A17-F94C-C216-6060-9C37D842FAE3}"/>
                </a:ext>
              </a:extLst>
            </p:cNvPr>
            <p:cNvSpPr txBox="1"/>
            <p:nvPr/>
          </p:nvSpPr>
          <p:spPr>
            <a:xfrm>
              <a:off x="8980259" y="4569353"/>
              <a:ext cx="21267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DE" sz="1100" strike="sngStrike" dirty="0"/>
                <a:t>Killing, Population</a:t>
              </a:r>
              <a:r>
                <a:rPr lang="en-DE" sz="1100" dirty="0"/>
                <a:t>,</a:t>
              </a:r>
            </a:p>
            <a:p>
              <a:pPr algn="ctr"/>
              <a:r>
                <a:rPr lang="en-DE" sz="1100" dirty="0"/>
                <a:t>Spatial, Loss</a:t>
              </a: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AC0172-50DD-B9FF-7C71-1ACF25C69BFE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3158320" y="2232595"/>
            <a:ext cx="727558" cy="1579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CB2F8F3-294F-C9F9-6ACF-C87751DFFAFB}"/>
              </a:ext>
            </a:extLst>
          </p:cNvPr>
          <p:cNvGrpSpPr/>
          <p:nvPr/>
        </p:nvGrpSpPr>
        <p:grpSpPr>
          <a:xfrm>
            <a:off x="274278" y="2078706"/>
            <a:ext cx="2884042" cy="1093066"/>
            <a:chOff x="691858" y="1130805"/>
            <a:chExt cx="3238825" cy="114349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1C87FD-812F-E6EA-75A1-EB434ED6248F}"/>
                </a:ext>
              </a:extLst>
            </p:cNvPr>
            <p:cNvSpPr txBox="1"/>
            <p:nvPr/>
          </p:nvSpPr>
          <p:spPr>
            <a:xfrm>
              <a:off x="691861" y="1130805"/>
              <a:ext cx="3238822" cy="32197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GB" sz="1400" b="1" dirty="0">
                  <a:latin typeface="Heiti SC Medium" pitchFamily="2" charset="-128"/>
                  <a:ea typeface="Heiti SC Medium" pitchFamily="2" charset="-128"/>
                  <a:cs typeface="+mj-cs"/>
                </a:rPr>
                <a:t>Conflict Experience - Wild boar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7BF3E26-5164-31B7-1DD5-3D343467F333}"/>
                </a:ext>
              </a:extLst>
            </p:cNvPr>
            <p:cNvSpPr txBox="1"/>
            <p:nvPr/>
          </p:nvSpPr>
          <p:spPr>
            <a:xfrm>
              <a:off x="691858" y="1469360"/>
              <a:ext cx="3238821" cy="804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arenR"/>
              </a:pPr>
              <a:r>
                <a:rPr lang="en-DE" sz="1100" strike="sngStrike" dirty="0"/>
                <a:t>Occur</a:t>
              </a:r>
              <a:r>
                <a:rPr lang="en-GB" sz="1100" strike="sngStrike" dirty="0"/>
                <a:t>r</a:t>
              </a:r>
              <a:r>
                <a:rPr lang="en-DE" sz="1100" strike="sngStrike" dirty="0"/>
                <a:t>ence </a:t>
              </a:r>
              <a:r>
                <a:rPr lang="en-GB" sz="1100" strike="sngStrike" dirty="0"/>
                <a:t>Frequency</a:t>
              </a:r>
              <a:r>
                <a:rPr lang="en-DE" sz="1100" strike="sngStrike" dirty="0"/>
                <a:t>, </a:t>
              </a:r>
            </a:p>
            <a:p>
              <a:pPr marL="228600" indent="-228600">
                <a:buAutoNum type="arabicParenR"/>
              </a:pPr>
              <a:r>
                <a:rPr lang="en-DE" sz="1100" dirty="0"/>
                <a:t>Annual Duration,</a:t>
              </a:r>
            </a:p>
            <a:p>
              <a:pPr marL="228600" indent="-228600">
                <a:buAutoNum type="arabicParenR"/>
              </a:pPr>
              <a:r>
                <a:rPr lang="en-DE" sz="1100" strike="sngStrike" dirty="0"/>
                <a:t>Conflict </a:t>
              </a:r>
              <a:r>
                <a:rPr lang="en-GB" sz="1100" strike="sngStrike" dirty="0"/>
                <a:t>Frequency</a:t>
              </a:r>
              <a:r>
                <a:rPr lang="en-DE" sz="1100" strike="sngStrike" dirty="0"/>
                <a:t>,</a:t>
              </a:r>
            </a:p>
            <a:p>
              <a:pPr marL="228600" indent="-228600">
                <a:buAutoNum type="arabicParenR"/>
              </a:pPr>
              <a:r>
                <a:rPr lang="en-DE" sz="1100" dirty="0"/>
                <a:t>Population Trend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FE4E4B0-033A-C354-622D-B4E9F813322E}"/>
              </a:ext>
            </a:extLst>
          </p:cNvPr>
          <p:cNvSpPr txBox="1"/>
          <p:nvPr/>
        </p:nvSpPr>
        <p:spPr>
          <a:xfrm>
            <a:off x="3158316" y="2756274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0.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14</a:t>
            </a:r>
            <a:endParaRPr lang="en-DE" sz="1200" u="none" strike="noStrike" kern="1200" dirty="0">
              <a:solidFill>
                <a:schemeClr val="accent1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99824387-5FB2-E71D-488B-DC07BD6F902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153789" y="-1360362"/>
            <a:ext cx="1581" cy="6876556"/>
          </a:xfrm>
          <a:prstGeom prst="bentConnector3">
            <a:avLst>
              <a:gd name="adj1" fmla="val 473466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6EAE95F7-D8A7-E34A-17F3-4D834E6A1CF5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48977" y="-653971"/>
            <a:ext cx="1924117" cy="7389470"/>
          </a:xfrm>
          <a:prstGeom prst="bentConnector4">
            <a:avLst>
              <a:gd name="adj1" fmla="val -50285"/>
              <a:gd name="adj2" fmla="val 999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734FB63-040A-6C24-125E-E075D49D9D75}"/>
              </a:ext>
            </a:extLst>
          </p:cNvPr>
          <p:cNvSpPr txBox="1"/>
          <p:nvPr/>
        </p:nvSpPr>
        <p:spPr>
          <a:xfrm>
            <a:off x="4751882" y="1095386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altLang="zh-CN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0.20</a:t>
            </a:r>
            <a:endParaRPr lang="en-DE" sz="1200" u="none" strike="noStrike" kern="1200" dirty="0">
              <a:solidFill>
                <a:schemeClr val="accent1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307366-9278-835B-6AA4-56970B432D39}"/>
              </a:ext>
            </a:extLst>
          </p:cNvPr>
          <p:cNvSpPr txBox="1"/>
          <p:nvPr/>
        </p:nvSpPr>
        <p:spPr>
          <a:xfrm>
            <a:off x="5642906" y="855847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altLang="zh-CN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-0.26</a:t>
            </a:r>
            <a:endParaRPr lang="en-DE" sz="1200" u="none" strike="noStrike" kern="1200" dirty="0">
              <a:solidFill>
                <a:schemeClr val="accent1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61C8801-AEF2-8A9D-786E-52860C46B9B8}"/>
              </a:ext>
            </a:extLst>
          </p:cNvPr>
          <p:cNvCxnSpPr>
            <a:cxnSpLocks/>
          </p:cNvCxnSpPr>
          <p:nvPr/>
        </p:nvCxnSpPr>
        <p:spPr>
          <a:xfrm flipV="1">
            <a:off x="6753568" y="3125438"/>
            <a:ext cx="739595" cy="172191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47F6270-927E-1F01-6031-D805A5EDB5F0}"/>
              </a:ext>
            </a:extLst>
          </p:cNvPr>
          <p:cNvSpPr txBox="1"/>
          <p:nvPr/>
        </p:nvSpPr>
        <p:spPr>
          <a:xfrm>
            <a:off x="6692635" y="3308756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u="none" strike="noStrike" kern="1200" dirty="0">
                <a:solidFill>
                  <a:schemeClr val="accent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0.</a:t>
            </a: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</a:rPr>
              <a:t>17</a:t>
            </a:r>
            <a:endParaRPr lang="en-DE" sz="1200" u="none" strike="noStrike" kern="1200" dirty="0">
              <a:solidFill>
                <a:schemeClr val="accent2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39E198-1EF8-B0CE-4771-486F1B7145EF}"/>
              </a:ext>
            </a:extLst>
          </p:cNvPr>
          <p:cNvSpPr txBox="1"/>
          <p:nvPr/>
        </p:nvSpPr>
        <p:spPr>
          <a:xfrm>
            <a:off x="6629877" y="1995248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u="none" strike="noStrike" kern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rPr>
              <a:t>0.</a:t>
            </a:r>
            <a:r>
              <a:rPr lang="en-US" sz="1200" u="none" strike="noStrike" kern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rPr>
              <a:t>12</a:t>
            </a:r>
            <a:endParaRPr lang="en-DE" sz="1200" u="none" strike="noStrike" kern="12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20E7D1F-C7BF-95EC-D559-84F1C35E6A4F}"/>
              </a:ext>
            </a:extLst>
          </p:cNvPr>
          <p:cNvCxnSpPr>
            <a:cxnSpLocks/>
          </p:cNvCxnSpPr>
          <p:nvPr/>
        </p:nvCxnSpPr>
        <p:spPr>
          <a:xfrm flipV="1">
            <a:off x="9692556" y="2231014"/>
            <a:ext cx="713284" cy="894424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DCEA69F-DB20-5043-8A00-25ADD8CFFC86}"/>
              </a:ext>
            </a:extLst>
          </p:cNvPr>
          <p:cNvCxnSpPr>
            <a:cxnSpLocks/>
          </p:cNvCxnSpPr>
          <p:nvPr/>
        </p:nvCxnSpPr>
        <p:spPr>
          <a:xfrm flipV="1">
            <a:off x="9692553" y="2231014"/>
            <a:ext cx="713287" cy="194046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F80C930-7AB9-7942-7AF4-76F95043931A}"/>
              </a:ext>
            </a:extLst>
          </p:cNvPr>
          <p:cNvSpPr txBox="1"/>
          <p:nvPr/>
        </p:nvSpPr>
        <p:spPr>
          <a:xfrm>
            <a:off x="9351879" y="2486857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altLang="zh-CN" sz="1200" u="none" strike="noStrike" kern="12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-0.18</a:t>
            </a:r>
            <a:endParaRPr lang="en-DE" sz="1200" u="none" strike="noStrike" kern="12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6C25A4-0949-1FDD-6E43-75E154D218BE}"/>
              </a:ext>
            </a:extLst>
          </p:cNvPr>
          <p:cNvSpPr txBox="1"/>
          <p:nvPr/>
        </p:nvSpPr>
        <p:spPr>
          <a:xfrm>
            <a:off x="9717361" y="3218696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altLang="zh-CN" sz="1200" u="none" strike="noStrike" kern="1200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0.15</a:t>
            </a:r>
            <a:endParaRPr lang="en-DE" sz="1200" u="none" strike="noStrike" kern="1200" dirty="0">
              <a:solidFill>
                <a:schemeClr val="accent6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74B97E8-915A-76F1-6B2C-EDA25A392652}"/>
              </a:ext>
            </a:extLst>
          </p:cNvPr>
          <p:cNvCxnSpPr>
            <a:cxnSpLocks/>
          </p:cNvCxnSpPr>
          <p:nvPr/>
        </p:nvCxnSpPr>
        <p:spPr>
          <a:xfrm>
            <a:off x="3158320" y="2232595"/>
            <a:ext cx="727560" cy="2614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9B1A15B-2857-1CE9-3311-C8BF0699C465}"/>
              </a:ext>
            </a:extLst>
          </p:cNvPr>
          <p:cNvSpPr txBox="1"/>
          <p:nvPr/>
        </p:nvSpPr>
        <p:spPr>
          <a:xfrm>
            <a:off x="2806095" y="3387216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en-US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0.25</a:t>
            </a:r>
            <a:endParaRPr lang="en-DE" sz="1200" u="none" strike="noStrike" kern="1200" dirty="0">
              <a:solidFill>
                <a:schemeClr val="accent1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5BDA279-31CA-4633-D804-76590B2961EE}"/>
              </a:ext>
            </a:extLst>
          </p:cNvPr>
          <p:cNvCxnSpPr>
            <a:cxnSpLocks/>
          </p:cNvCxnSpPr>
          <p:nvPr/>
        </p:nvCxnSpPr>
        <p:spPr>
          <a:xfrm flipV="1">
            <a:off x="6753569" y="2231014"/>
            <a:ext cx="739591" cy="1581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87B0C72-7B1F-B486-FDAD-444FA91E8081}"/>
              </a:ext>
            </a:extLst>
          </p:cNvPr>
          <p:cNvCxnSpPr>
            <a:cxnSpLocks/>
          </p:cNvCxnSpPr>
          <p:nvPr/>
        </p:nvCxnSpPr>
        <p:spPr>
          <a:xfrm>
            <a:off x="6753569" y="2232595"/>
            <a:ext cx="739594" cy="892843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7F9E979-84EA-3A48-F693-B9D4D6BD525C}"/>
              </a:ext>
            </a:extLst>
          </p:cNvPr>
          <p:cNvSpPr txBox="1"/>
          <p:nvPr/>
        </p:nvSpPr>
        <p:spPr>
          <a:xfrm>
            <a:off x="6494153" y="3625508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u="none" strike="noStrike" kern="120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-0.</a:t>
            </a:r>
            <a:r>
              <a:rPr lang="en-US" sz="1200" u="none" strike="noStrike" kern="120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07</a:t>
            </a:r>
            <a:endParaRPr lang="en-DE" sz="1200" u="none" strike="noStrike" kern="1200" dirty="0">
              <a:solidFill>
                <a:schemeClr val="accent2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F19D19-78FF-342C-ED34-13CA9DC191BA}"/>
              </a:ext>
            </a:extLst>
          </p:cNvPr>
          <p:cNvSpPr txBox="1"/>
          <p:nvPr/>
        </p:nvSpPr>
        <p:spPr>
          <a:xfrm>
            <a:off x="6439202" y="2582413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-0.21</a:t>
            </a:r>
            <a:endParaRPr lang="en-DE" sz="1200" u="none" strike="noStrike" kern="12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6F3AC15-6DF3-261A-DC2C-19349F92A4B0}"/>
              </a:ext>
            </a:extLst>
          </p:cNvPr>
          <p:cNvCxnSpPr>
            <a:cxnSpLocks/>
          </p:cNvCxnSpPr>
          <p:nvPr/>
        </p:nvCxnSpPr>
        <p:spPr>
          <a:xfrm>
            <a:off x="6753566" y="3811940"/>
            <a:ext cx="739594" cy="35953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2340A67-B3F2-EEDB-79BE-1F94F4135792}"/>
              </a:ext>
            </a:extLst>
          </p:cNvPr>
          <p:cNvCxnSpPr>
            <a:cxnSpLocks/>
          </p:cNvCxnSpPr>
          <p:nvPr/>
        </p:nvCxnSpPr>
        <p:spPr>
          <a:xfrm flipV="1">
            <a:off x="6753568" y="4171477"/>
            <a:ext cx="739592" cy="67587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1E99C22-A08B-9431-5C5D-56FDE1153D67}"/>
              </a:ext>
            </a:extLst>
          </p:cNvPr>
          <p:cNvSpPr txBox="1"/>
          <p:nvPr/>
        </p:nvSpPr>
        <p:spPr>
          <a:xfrm>
            <a:off x="6778813" y="4488658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u="none" strike="noStrike" kern="1200" dirty="0">
                <a:solidFill>
                  <a:schemeClr val="accent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0.</a:t>
            </a: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</a:rPr>
              <a:t>19</a:t>
            </a:r>
            <a:endParaRPr lang="en-DE" sz="1200" u="none" strike="noStrike" kern="1200" dirty="0">
              <a:solidFill>
                <a:schemeClr val="accent2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22C45EAE-3DD6-2D7A-694C-8B5F4E052D0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04186" y="474405"/>
            <a:ext cx="2616336" cy="5835688"/>
          </a:xfrm>
          <a:prstGeom prst="bentConnector3">
            <a:avLst>
              <a:gd name="adj1" fmla="val 121446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4FD2C43-F181-5E6F-7015-809496A129C6}"/>
              </a:ext>
            </a:extLst>
          </p:cNvPr>
          <p:cNvSpPr txBox="1"/>
          <p:nvPr/>
        </p:nvSpPr>
        <p:spPr>
          <a:xfrm>
            <a:off x="9351879" y="1262843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dirty="0">
                <a:solidFill>
                  <a:schemeClr val="accent2">
                    <a:lumMod val="50000"/>
                  </a:schemeClr>
                </a:solidFill>
              </a:rPr>
              <a:t>-0.35</a:t>
            </a:r>
            <a:endParaRPr lang="en-DE" sz="1200" u="none" strike="noStrike" kern="1200" dirty="0">
              <a:solidFill>
                <a:schemeClr val="accent2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497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B26FC-B6AC-B259-1484-ED7114AD9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AB4DDB-3DC4-EE79-30B1-893C18DA35CA}"/>
              </a:ext>
            </a:extLst>
          </p:cNvPr>
          <p:cNvSpPr txBox="1"/>
          <p:nvPr/>
        </p:nvSpPr>
        <p:spPr>
          <a:xfrm>
            <a:off x="717976" y="1270162"/>
            <a:ext cx="10071943" cy="4340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400" b="1" dirty="0">
                <a:ea typeface="HEITI TC MEDIUM" pitchFamily="2" charset="-128"/>
                <a:cs typeface="+mj-cs"/>
              </a:rPr>
              <a:t>Conclusion:</a:t>
            </a:r>
          </a:p>
          <a:p>
            <a:pPr>
              <a:lnSpc>
                <a:spcPct val="200000"/>
              </a:lnSpc>
            </a:pPr>
            <a:r>
              <a:rPr lang="en-GB" sz="1400" b="1" dirty="0">
                <a:ea typeface="HEITI TC MEDIUM" pitchFamily="2" charset="-128"/>
              </a:rPr>
              <a:t>1.     </a:t>
            </a:r>
            <a:r>
              <a:rPr lang="en-GB" sz="1400" b="1" dirty="0">
                <a:ea typeface="Heiti TC Medium" pitchFamily="2" charset="-128"/>
              </a:rPr>
              <a:t>Conflict Experience - Wild boar </a:t>
            </a:r>
            <a:r>
              <a:rPr lang="en-GB" sz="1400" b="1" dirty="0">
                <a:ea typeface="HEITI TC MEDIUM" pitchFamily="2" charset="-128"/>
              </a:rPr>
              <a:t>→ Policy Support (</a:t>
            </a:r>
            <a:r>
              <a:rPr lang="el-GR" sz="1400" b="1" dirty="0">
                <a:ea typeface="HEITI TC MEDIUM" pitchFamily="2" charset="-128"/>
              </a:rPr>
              <a:t>β = -0.246，</a:t>
            </a:r>
            <a:r>
              <a:rPr lang="en-GB" sz="1400" b="1" dirty="0">
                <a:ea typeface="HEITI TC MEDIUM" pitchFamily="2" charset="-128"/>
              </a:rPr>
              <a:t>t = -4.023)</a:t>
            </a:r>
          </a:p>
          <a:p>
            <a:pPr marL="355600">
              <a:lnSpc>
                <a:spcPct val="200000"/>
              </a:lnSpc>
            </a:pPr>
            <a:r>
              <a:rPr lang="en-US" altLang="zh-CN" sz="1400" dirty="0">
                <a:ea typeface="Heiti TC Medium" pitchFamily="2" charset="-128"/>
              </a:rPr>
              <a:t>Repeated exposure to conflict under a compensation regime may erode confidence in governance rather than reinforcing it.</a:t>
            </a:r>
          </a:p>
          <a:p>
            <a:pPr marL="342900" indent="-342900">
              <a:lnSpc>
                <a:spcPct val="200000"/>
              </a:lnSpc>
              <a:buFontTx/>
              <a:buAutoNum type="arabicPeriod" startAt="2"/>
            </a:pPr>
            <a:r>
              <a:rPr lang="en-GB" sz="1400" b="1" dirty="0">
                <a:ea typeface="Heiti TC Medium" pitchFamily="2" charset="-128"/>
              </a:rPr>
              <a:t>Policy Support → Tolerance (</a:t>
            </a:r>
            <a:r>
              <a:rPr lang="el-GR" sz="1400" b="1" dirty="0">
                <a:ea typeface="Heiti TC Medium" pitchFamily="2" charset="-128"/>
              </a:rPr>
              <a:t>β = </a:t>
            </a:r>
            <a:r>
              <a:rPr lang="en-US" sz="1400" b="1" dirty="0">
                <a:ea typeface="Heiti TC Medium" pitchFamily="2" charset="-128"/>
              </a:rPr>
              <a:t>-0.349</a:t>
            </a:r>
            <a:r>
              <a:rPr lang="el-GR" sz="1400" b="1" dirty="0">
                <a:ea typeface="Heiti TC Medium" pitchFamily="2" charset="-128"/>
              </a:rPr>
              <a:t>，</a:t>
            </a:r>
            <a:r>
              <a:rPr lang="en-GB" sz="1400" b="1" dirty="0">
                <a:ea typeface="Heiti TC Medium" pitchFamily="2" charset="-128"/>
              </a:rPr>
              <a:t>t = -5.892)</a:t>
            </a:r>
          </a:p>
          <a:p>
            <a:pPr marL="355600">
              <a:lnSpc>
                <a:spcPct val="200000"/>
              </a:lnSpc>
            </a:pPr>
            <a:r>
              <a:rPr lang="en-GB" sz="1400" dirty="0">
                <a:ea typeface="Heiti TC Medium" pitchFamily="2" charset="-128"/>
              </a:rPr>
              <a:t>Among people who have experienced compensation, those who rely on policy support are actually less tolerant of wild boars.</a:t>
            </a:r>
          </a:p>
          <a:p>
            <a:pPr marL="355600">
              <a:lnSpc>
                <a:spcPct val="200000"/>
              </a:lnSpc>
            </a:pPr>
            <a:r>
              <a:rPr lang="en-US" altLang="zh-CN" sz="1400" b="1" dirty="0">
                <a:highlight>
                  <a:srgbClr val="FFFF00"/>
                </a:highlight>
                <a:ea typeface="HEITI TC MEDIUM" pitchFamily="2" charset="-128"/>
              </a:rPr>
              <a:t>(Against the hypothesis, policy support is the most important factor.)</a:t>
            </a:r>
            <a:endParaRPr lang="en-GB" altLang="zh-CN" sz="1400" b="1" dirty="0">
              <a:highlight>
                <a:srgbClr val="FFFF00"/>
              </a:highlight>
              <a:ea typeface="HEITI TC MEDIUM" pitchFamily="2" charset="-128"/>
            </a:endParaRPr>
          </a:p>
          <a:p>
            <a:pPr marL="342900" indent="-342900">
              <a:lnSpc>
                <a:spcPct val="200000"/>
              </a:lnSpc>
              <a:buFontTx/>
              <a:buAutoNum type="arabicPeriod" startAt="3"/>
            </a:pPr>
            <a:r>
              <a:rPr lang="en-GB" sz="1400" b="1" dirty="0">
                <a:ea typeface="Heiti TC Medium" pitchFamily="2" charset="-128"/>
              </a:rPr>
              <a:t>Compensation Anticipation → Intangible Benefits (</a:t>
            </a:r>
            <a:r>
              <a:rPr lang="el-GR" sz="1400" b="1" dirty="0"/>
              <a:t>β = -0.071，</a:t>
            </a:r>
            <a:r>
              <a:rPr lang="en-GB" sz="1400" b="1" dirty="0"/>
              <a:t>t = -2.277)</a:t>
            </a:r>
            <a:endParaRPr lang="en-GB" sz="1400" b="1" dirty="0">
              <a:ea typeface="HEITI TC MEDIUM" pitchFamily="2" charset="-128"/>
            </a:endParaRPr>
          </a:p>
          <a:p>
            <a:pPr marL="355600">
              <a:lnSpc>
                <a:spcPct val="200000"/>
              </a:lnSpc>
            </a:pPr>
            <a:r>
              <a:rPr lang="en-GB" sz="1400" dirty="0">
                <a:ea typeface="Heiti TC Medium" pitchFamily="2" charset="-128"/>
              </a:rPr>
              <a:t>The more compensation is expected, the harder it is to maintain the recognition of the positive ecological value of wild boars. </a:t>
            </a:r>
          </a:p>
          <a:p>
            <a:pPr marL="342900" indent="-342900">
              <a:lnSpc>
                <a:spcPct val="200000"/>
              </a:lnSpc>
              <a:buAutoNum type="arabicPeriod" startAt="4"/>
            </a:pPr>
            <a:r>
              <a:rPr lang="en-GB" sz="1400" b="1" dirty="0">
                <a:ea typeface="Heiti TC Medium" pitchFamily="2" charset="-128"/>
              </a:rPr>
              <a:t>Intangible Benefits </a:t>
            </a:r>
            <a:r>
              <a:rPr lang="en-GB" sz="1400" b="1" dirty="0">
                <a:ea typeface="HEITI TC MEDIUM" pitchFamily="2" charset="-128"/>
              </a:rPr>
              <a:t>→ Tolerance (</a:t>
            </a:r>
            <a:r>
              <a:rPr lang="el-GR" sz="1400" b="1" dirty="0">
                <a:ea typeface="Heiti TC Medium" pitchFamily="2" charset="-128"/>
              </a:rPr>
              <a:t>β = 0.</a:t>
            </a:r>
            <a:r>
              <a:rPr lang="en-US" sz="1400" b="1" dirty="0">
                <a:ea typeface="Heiti TC Medium" pitchFamily="2" charset="-128"/>
              </a:rPr>
              <a:t>147</a:t>
            </a:r>
            <a:r>
              <a:rPr lang="el-GR" sz="1400" b="1" dirty="0">
                <a:ea typeface="Heiti TC Medium" pitchFamily="2" charset="-128"/>
              </a:rPr>
              <a:t>，</a:t>
            </a:r>
            <a:r>
              <a:rPr lang="en-GB" sz="1400" b="1" dirty="0">
                <a:ea typeface="HEITI TC MEDIUM" pitchFamily="2" charset="-128"/>
              </a:rPr>
              <a:t>t = 2.450)</a:t>
            </a:r>
            <a:r>
              <a:rPr lang="zh-CN" altLang="en-US" sz="1400" b="1" dirty="0">
                <a:ea typeface="HEITI TC MEDIUM" pitchFamily="2" charset="-128"/>
              </a:rPr>
              <a:t> </a:t>
            </a:r>
            <a:r>
              <a:rPr lang="en-US" altLang="zh-CN" sz="1400" b="1" dirty="0">
                <a:ea typeface="HEITI TC MEDIUM" pitchFamily="2" charset="-128"/>
              </a:rPr>
              <a:t>&amp;</a:t>
            </a:r>
            <a:r>
              <a:rPr lang="zh-CN" altLang="en-US" sz="1400" b="1" dirty="0">
                <a:ea typeface="Heiti TC Medium" pitchFamily="2" charset="-128"/>
              </a:rPr>
              <a:t> </a:t>
            </a:r>
            <a:r>
              <a:rPr lang="en-GB" sz="1400" b="1" dirty="0">
                <a:ea typeface="Heiti TC Medium" pitchFamily="2" charset="-128"/>
              </a:rPr>
              <a:t>Intangible </a:t>
            </a:r>
            <a:r>
              <a:rPr lang="en-GB" sz="1400" b="1" dirty="0">
                <a:ea typeface="HEITI TC MEDIUM" pitchFamily="2" charset="-128"/>
              </a:rPr>
              <a:t>Costs → Tolerance (</a:t>
            </a:r>
            <a:r>
              <a:rPr lang="el-GR" sz="1400" b="1" dirty="0">
                <a:ea typeface="HEITI TC MEDIUM" pitchFamily="2" charset="-128"/>
              </a:rPr>
              <a:t>β = -0.</a:t>
            </a:r>
            <a:r>
              <a:rPr lang="en-US" sz="1400" b="1" dirty="0">
                <a:ea typeface="HEITI TC MEDIUM" pitchFamily="2" charset="-128"/>
              </a:rPr>
              <a:t>178</a:t>
            </a:r>
            <a:r>
              <a:rPr lang="el-GR" sz="1400" b="1" dirty="0">
                <a:ea typeface="HEITI TC MEDIUM" pitchFamily="2" charset="-128"/>
              </a:rPr>
              <a:t>，</a:t>
            </a:r>
            <a:r>
              <a:rPr lang="en-GB" sz="1400" b="1" dirty="0">
                <a:ea typeface="Heiti TC Medium" pitchFamily="2" charset="-128"/>
              </a:rPr>
              <a:t>t = </a:t>
            </a:r>
            <a:r>
              <a:rPr lang="en-GB" sz="1400" b="1" dirty="0">
                <a:ea typeface="HEITI TC MEDIUM" pitchFamily="2" charset="-128"/>
              </a:rPr>
              <a:t>-3.101)</a:t>
            </a:r>
          </a:p>
          <a:p>
            <a:pPr marL="355600">
              <a:lnSpc>
                <a:spcPct val="200000"/>
              </a:lnSpc>
            </a:pPr>
            <a:r>
              <a:rPr lang="en-GB" sz="1400" dirty="0">
                <a:ea typeface="Heiti TC Medium" pitchFamily="2" charset="-128"/>
              </a:rPr>
              <a:t>Compensation does not remove the role of meanings, but it weakens their autonomy.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1A71E6-B309-AF58-A1A3-6504BD096A33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1 - with compensation (n=277)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1493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059D-2535-8993-E8ED-1705A9F6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E01A-C022-7C74-77FD-29EA6739D5DB}"/>
              </a:ext>
            </a:extLst>
          </p:cNvPr>
          <p:cNvSpPr txBox="1">
            <a:spLocks/>
          </p:cNvSpPr>
          <p:nvPr/>
        </p:nvSpPr>
        <p:spPr>
          <a:xfrm>
            <a:off x="3356658" y="1558858"/>
            <a:ext cx="8835342" cy="353565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800" b="1" dirty="0">
                <a:latin typeface="Heiti SC Medium" pitchFamily="2" charset="-128"/>
                <a:ea typeface="Heiti SC Medium" pitchFamily="2" charset="-128"/>
              </a:rPr>
              <a:t>Question 3: When people have no compensation experience, is intangible cost the most important factor of tolerance?</a:t>
            </a:r>
            <a:endParaRPr lang="en-US" altLang="zh-CN" sz="1800" b="1" dirty="0">
              <a:latin typeface="Heiti SC Medium" pitchFamily="2" charset="-128"/>
              <a:ea typeface="Heiti SC Medium" pitchFamily="2" charset="-128"/>
            </a:endParaRPr>
          </a:p>
          <a:p>
            <a:pPr marL="1295400" indent="-2778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Heiti SC Medium" pitchFamily="2" charset="-128"/>
                <a:ea typeface="Heiti SC Medium" pitchFamily="2" charset="-128"/>
              </a:rPr>
              <a:t>Excluded the variables having no significant paths in the model (Conflict Experience – All, Gender, Age, Education, Income and Household Assessment)</a:t>
            </a:r>
          </a:p>
          <a:p>
            <a:pPr marL="95250">
              <a:lnSpc>
                <a:spcPct val="200000"/>
              </a:lnSpc>
            </a:pPr>
            <a:r>
              <a:rPr lang="en-US" sz="1800" b="1" dirty="0">
                <a:latin typeface="Heiti SC Medium" pitchFamily="2" charset="-128"/>
                <a:ea typeface="Heiti SC Medium" pitchFamily="2" charset="-128"/>
              </a:rPr>
              <a:t>Hypothesis 2: Yes, intangible cost is the most important factor of tolerance.</a:t>
            </a:r>
          </a:p>
          <a:p>
            <a:pPr marL="1295400" indent="-28733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Heiti SC Medium" pitchFamily="2" charset="-128"/>
                <a:ea typeface="Heiti SC Medium" pitchFamily="2" charset="-128"/>
              </a:rPr>
              <a:t>Based on the result of the first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A51FA9-C475-1606-C370-673E1A04E7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6" r="30464"/>
          <a:stretch/>
        </p:blipFill>
        <p:spPr>
          <a:xfrm>
            <a:off x="0" y="0"/>
            <a:ext cx="3356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973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10297-335C-8E2A-D1DE-EEED7A4B3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EB10E4E3-0509-CCC3-A374-7438B199C1AC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2 - without compensation (n=348) 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745FA430-ECA0-7DAB-BEEC-66F634CDE2D2}"/>
              </a:ext>
            </a:extLst>
          </p:cNvPr>
          <p:cNvGrpSpPr/>
          <p:nvPr/>
        </p:nvGrpSpPr>
        <p:grpSpPr>
          <a:xfrm>
            <a:off x="134578" y="1872354"/>
            <a:ext cx="3176182" cy="2453003"/>
            <a:chOff x="710614" y="990285"/>
            <a:chExt cx="3566902" cy="2566171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38DF4E4-F960-5D6E-C3AE-A8949125A261}"/>
                </a:ext>
              </a:extLst>
            </p:cNvPr>
            <p:cNvGrpSpPr/>
            <p:nvPr/>
          </p:nvGrpSpPr>
          <p:grpSpPr>
            <a:xfrm>
              <a:off x="867499" y="1206157"/>
              <a:ext cx="3238824" cy="1143494"/>
              <a:chOff x="691858" y="1130805"/>
              <a:chExt cx="3238825" cy="114349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8EFAA7-A63D-CA57-E0A8-5B284B38DC31}"/>
                  </a:ext>
                </a:extLst>
              </p:cNvPr>
              <p:cNvSpPr txBox="1"/>
              <p:nvPr/>
            </p:nvSpPr>
            <p:spPr>
              <a:xfrm>
                <a:off x="691861" y="1130805"/>
                <a:ext cx="3238822" cy="3219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GB" sz="1400" b="1" dirty="0">
                    <a:latin typeface="Heiti SC Medium" pitchFamily="2" charset="-128"/>
                    <a:ea typeface="Heiti SC Medium" pitchFamily="2" charset="-128"/>
                    <a:cs typeface="+mj-cs"/>
                  </a:rPr>
                  <a:t>Conflict Experience - Wild boar</a:t>
                </a: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DF1A06-6369-DB2D-DF2C-EC706578CBED}"/>
                  </a:ext>
                </a:extLst>
              </p:cNvPr>
              <p:cNvSpPr txBox="1"/>
              <p:nvPr/>
            </p:nvSpPr>
            <p:spPr>
              <a:xfrm>
                <a:off x="691858" y="1469360"/>
                <a:ext cx="3238821" cy="804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dirty="0"/>
                  <a:t>Occur</a:t>
                </a:r>
                <a:r>
                  <a:rPr lang="en-GB" sz="1100" dirty="0"/>
                  <a:t>r</a:t>
                </a:r>
                <a:r>
                  <a:rPr lang="en-DE" sz="1100" dirty="0"/>
                  <a:t>ence </a:t>
                </a:r>
                <a:r>
                  <a:rPr lang="en-GB" sz="1100" dirty="0"/>
                  <a:t>Frequency</a:t>
                </a:r>
                <a:r>
                  <a:rPr lang="en-DE" sz="1100" dirty="0"/>
                  <a:t>, 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Annual Duration,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Conflict </a:t>
                </a:r>
                <a:r>
                  <a:rPr lang="en-GB" sz="1100" dirty="0"/>
                  <a:t>Frequency</a:t>
                </a:r>
                <a:r>
                  <a:rPr lang="en-DE" sz="1100" dirty="0"/>
                  <a:t>,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Population Trend</a:t>
                </a:r>
              </a:p>
            </p:txBody>
          </p:sp>
        </p:grpSp>
        <p:sp>
          <p:nvSpPr>
            <p:cNvPr id="254" name="Rounded Rectangle 253">
              <a:extLst>
                <a:ext uri="{FF2B5EF4-FFF2-40B4-BE49-F238E27FC236}">
                  <a16:creationId xmlns:a16="http://schemas.microsoft.com/office/drawing/2014/main" id="{8C4A122B-9C18-BFEC-B6EF-43F2CA9E0704}"/>
                </a:ext>
              </a:extLst>
            </p:cNvPr>
            <p:cNvSpPr/>
            <p:nvPr/>
          </p:nvSpPr>
          <p:spPr>
            <a:xfrm>
              <a:off x="710614" y="990285"/>
              <a:ext cx="3566902" cy="2566171"/>
            </a:xfrm>
            <a:prstGeom prst="roundRect">
              <a:avLst>
                <a:gd name="adj" fmla="val 11337"/>
              </a:avLst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 sz="1600"/>
            </a:p>
          </p:txBody>
        </p:sp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DD5E6E60-E713-ABE1-8547-50382D5C5698}"/>
              </a:ext>
            </a:extLst>
          </p:cNvPr>
          <p:cNvGrpSpPr/>
          <p:nvPr/>
        </p:nvGrpSpPr>
        <p:grpSpPr>
          <a:xfrm>
            <a:off x="3664728" y="1872355"/>
            <a:ext cx="3288014" cy="3674597"/>
            <a:chOff x="2198386" y="3054211"/>
            <a:chExt cx="3288014" cy="3674597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D9A7FB92-526A-FB4E-EF04-CA85F7A23CB4}"/>
                </a:ext>
              </a:extLst>
            </p:cNvPr>
            <p:cNvGrpSpPr/>
            <p:nvPr/>
          </p:nvGrpSpPr>
          <p:grpSpPr>
            <a:xfrm>
              <a:off x="2419536" y="3260562"/>
              <a:ext cx="2867691" cy="3367339"/>
              <a:chOff x="2517157" y="3186676"/>
              <a:chExt cx="2983133" cy="3367339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FB45256-AF9E-58E7-485C-A48FE8B3413B}"/>
                  </a:ext>
                </a:extLst>
              </p:cNvPr>
              <p:cNvGrpSpPr/>
              <p:nvPr/>
            </p:nvGrpSpPr>
            <p:grpSpPr>
              <a:xfrm>
                <a:off x="2517159" y="3186676"/>
                <a:ext cx="2983131" cy="598315"/>
                <a:chOff x="1620560" y="3614915"/>
                <a:chExt cx="2983131" cy="598315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94D09C4-4FDB-F5A9-DCC1-4D18E78DD9A3}"/>
                    </a:ext>
                  </a:extLst>
                </p:cNvPr>
                <p:cNvSpPr txBox="1"/>
                <p:nvPr/>
              </p:nvSpPr>
              <p:spPr>
                <a:xfrm>
                  <a:off x="1620561" y="3614915"/>
                  <a:ext cx="298313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Prevention Effectiveness</a:t>
                  </a: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C171E99E-F6ED-B61A-5D0C-E20E8AC84D68}"/>
                    </a:ext>
                  </a:extLst>
                </p:cNvPr>
                <p:cNvSpPr txBox="1"/>
                <p:nvPr/>
              </p:nvSpPr>
              <p:spPr>
                <a:xfrm>
                  <a:off x="1620560" y="3951620"/>
                  <a:ext cx="298313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DE" sz="1100" dirty="0"/>
                    <a:t>Average Effectiveness</a:t>
                  </a:r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1FCDAB97-8C40-4C07-EA72-E250428B8E01}"/>
                  </a:ext>
                </a:extLst>
              </p:cNvPr>
              <p:cNvGrpSpPr/>
              <p:nvPr/>
            </p:nvGrpSpPr>
            <p:grpSpPr>
              <a:xfrm>
                <a:off x="2517157" y="4766021"/>
                <a:ext cx="2983130" cy="940136"/>
                <a:chOff x="1620556" y="4734443"/>
                <a:chExt cx="2983130" cy="940136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5667FCB-1A81-1C0E-DE79-9D2A0D6BD85D}"/>
                    </a:ext>
                  </a:extLst>
                </p:cNvPr>
                <p:cNvSpPr txBox="1"/>
                <p:nvPr/>
              </p:nvSpPr>
              <p:spPr>
                <a:xfrm>
                  <a:off x="1620556" y="4734443"/>
                  <a:ext cx="298313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Compensation Anticipation 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4AF8D5C-6029-B8F1-38CE-9210D06501D1}"/>
                    </a:ext>
                  </a:extLst>
                </p:cNvPr>
                <p:cNvSpPr txBox="1"/>
                <p:nvPr/>
              </p:nvSpPr>
              <p:spPr>
                <a:xfrm>
                  <a:off x="1620556" y="5074415"/>
                  <a:ext cx="2983130" cy="600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28600" indent="-228600">
                    <a:buAutoNum type="arabicParenR"/>
                  </a:pPr>
                  <a:r>
                    <a:rPr lang="en-DE" sz="1100" dirty="0"/>
                    <a:t>Lowest Accepted Percentage, </a:t>
                  </a:r>
                </a:p>
                <a:p>
                  <a:pPr marL="228600" indent="-228600">
                    <a:buAutoNum type="arabicParenR"/>
                  </a:pPr>
                  <a:r>
                    <a:rPr lang="en-GB" sz="1100" dirty="0"/>
                    <a:t>Expected Percentage,</a:t>
                  </a:r>
                </a:p>
                <a:p>
                  <a:pPr marL="228600" indent="-228600">
                    <a:buAutoNum type="arabicParenR"/>
                  </a:pPr>
                  <a:r>
                    <a:rPr lang="en-GB" sz="1100" dirty="0"/>
                    <a:t>Annual Insurance Payment</a:t>
                  </a:r>
                  <a:endParaRPr lang="en-DE" sz="1100" dirty="0"/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7AE0E8AF-8F78-13FC-AC98-D84F994194E6}"/>
                  </a:ext>
                </a:extLst>
              </p:cNvPr>
              <p:cNvGrpSpPr/>
              <p:nvPr/>
            </p:nvGrpSpPr>
            <p:grpSpPr>
              <a:xfrm>
                <a:off x="2517157" y="5801431"/>
                <a:ext cx="2983132" cy="752584"/>
                <a:chOff x="1620559" y="5985951"/>
                <a:chExt cx="2983132" cy="752584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93C1790-A599-3529-25C0-4D00E7267155}"/>
                    </a:ext>
                  </a:extLst>
                </p:cNvPr>
                <p:cNvSpPr txBox="1"/>
                <p:nvPr/>
              </p:nvSpPr>
              <p:spPr>
                <a:xfrm>
                  <a:off x="1620561" y="5985951"/>
                  <a:ext cx="298313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Policy Support</a:t>
                  </a: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9E915EB-BC43-FA53-1D93-7F7F1E7FDBC2}"/>
                    </a:ext>
                  </a:extLst>
                </p:cNvPr>
                <p:cNvSpPr txBox="1"/>
                <p:nvPr/>
              </p:nvSpPr>
              <p:spPr>
                <a:xfrm>
                  <a:off x="1620559" y="6307648"/>
                  <a:ext cx="298313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28600" indent="-228600">
                    <a:buAutoNum type="arabicParenR"/>
                  </a:pPr>
                  <a:r>
                    <a:rPr lang="en-US" sz="1100" dirty="0"/>
                    <a:t>Supportive Institute, </a:t>
                  </a:r>
                </a:p>
                <a:p>
                  <a:pPr marL="228600" indent="-228600">
                    <a:buAutoNum type="arabicParenR"/>
                  </a:pPr>
                  <a:r>
                    <a:rPr lang="en-US" sz="1100" dirty="0"/>
                    <a:t>Knowledge Obtained Method</a:t>
                  </a:r>
                  <a:endParaRPr lang="en-DE" sz="1100" dirty="0"/>
                </a:p>
              </p:txBody>
            </p:sp>
          </p:grpSp>
        </p:grpSp>
        <p:sp>
          <p:nvSpPr>
            <p:cNvPr id="255" name="Rounded Rectangle 254">
              <a:extLst>
                <a:ext uri="{FF2B5EF4-FFF2-40B4-BE49-F238E27FC236}">
                  <a16:creationId xmlns:a16="http://schemas.microsoft.com/office/drawing/2014/main" id="{E32FECBC-5D8A-E725-9045-D0E6A184B4A4}"/>
                </a:ext>
              </a:extLst>
            </p:cNvPr>
            <p:cNvSpPr/>
            <p:nvPr/>
          </p:nvSpPr>
          <p:spPr>
            <a:xfrm>
              <a:off x="2198386" y="3054211"/>
              <a:ext cx="3288014" cy="3674597"/>
            </a:xfrm>
            <a:prstGeom prst="roundRect">
              <a:avLst>
                <a:gd name="adj" fmla="val 11337"/>
              </a:avLst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 sz="1600"/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E1C0812E-9CFC-E2C0-E568-0559F99E66E0}"/>
              </a:ext>
            </a:extLst>
          </p:cNvPr>
          <p:cNvGrpSpPr/>
          <p:nvPr/>
        </p:nvGrpSpPr>
        <p:grpSpPr>
          <a:xfrm>
            <a:off x="7306710" y="1872355"/>
            <a:ext cx="2606567" cy="2785645"/>
            <a:chOff x="7785731" y="1850044"/>
            <a:chExt cx="2606567" cy="2785645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278BF4D3-E9CF-059F-C6A6-ADED335DCEA0}"/>
                </a:ext>
              </a:extLst>
            </p:cNvPr>
            <p:cNvGrpSpPr/>
            <p:nvPr/>
          </p:nvGrpSpPr>
          <p:grpSpPr>
            <a:xfrm>
              <a:off x="7972180" y="2054814"/>
              <a:ext cx="2199398" cy="2513238"/>
              <a:chOff x="6525785" y="1076519"/>
              <a:chExt cx="2386305" cy="2513238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43B5B4A3-B2C1-BAF7-B760-ED6E889EA23A}"/>
                  </a:ext>
                </a:extLst>
              </p:cNvPr>
              <p:cNvGrpSpPr/>
              <p:nvPr/>
            </p:nvGrpSpPr>
            <p:grpSpPr>
              <a:xfrm>
                <a:off x="6525786" y="1076519"/>
                <a:ext cx="2386304" cy="740358"/>
                <a:chOff x="6142215" y="3162292"/>
                <a:chExt cx="2386304" cy="740358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91A4BEF-206A-EFEB-61F7-ABD506EB8540}"/>
                    </a:ext>
                  </a:extLst>
                </p:cNvPr>
                <p:cNvSpPr txBox="1"/>
                <p:nvPr/>
              </p:nvSpPr>
              <p:spPr>
                <a:xfrm>
                  <a:off x="6142215" y="3162292"/>
                  <a:ext cx="238630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Tangible Cost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964BAB0-380D-6EF6-0935-64D5E233E2B4}"/>
                    </a:ext>
                  </a:extLst>
                </p:cNvPr>
                <p:cNvSpPr txBox="1"/>
                <p:nvPr/>
              </p:nvSpPr>
              <p:spPr>
                <a:xfrm>
                  <a:off x="6142218" y="3471763"/>
                  <a:ext cx="238630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28600" indent="-228600">
                    <a:buAutoNum type="arabicParenR"/>
                  </a:pPr>
                  <a:r>
                    <a:rPr lang="en-DE" sz="1100" dirty="0"/>
                    <a:t>Damage Area, </a:t>
                  </a:r>
                </a:p>
                <a:p>
                  <a:pPr marL="228600" indent="-228600">
                    <a:buAutoNum type="arabicParenR"/>
                  </a:pPr>
                  <a:r>
                    <a:rPr lang="en-GB" sz="1100" dirty="0"/>
                    <a:t>Perceived</a:t>
                  </a:r>
                  <a:r>
                    <a:rPr lang="en-DE" sz="1100" dirty="0"/>
                    <a:t> economic loss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9CDAB506-D356-17E9-D654-2AB22364B201}"/>
                  </a:ext>
                </a:extLst>
              </p:cNvPr>
              <p:cNvGrpSpPr/>
              <p:nvPr/>
            </p:nvGrpSpPr>
            <p:grpSpPr>
              <a:xfrm>
                <a:off x="6525787" y="1970943"/>
                <a:ext cx="2386302" cy="932427"/>
                <a:chOff x="6142216" y="4056716"/>
                <a:chExt cx="2386302" cy="932427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65CA2F0-59E8-0682-F386-BB75E0403D91}"/>
                    </a:ext>
                  </a:extLst>
                </p:cNvPr>
                <p:cNvSpPr txBox="1"/>
                <p:nvPr/>
              </p:nvSpPr>
              <p:spPr>
                <a:xfrm>
                  <a:off x="6142218" y="4056716"/>
                  <a:ext cx="238630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Intangible Cost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F28B90-12E9-FF74-B7E8-E013843F5DF7}"/>
                    </a:ext>
                  </a:extLst>
                </p:cNvPr>
                <p:cNvSpPr txBox="1"/>
                <p:nvPr/>
              </p:nvSpPr>
              <p:spPr>
                <a:xfrm>
                  <a:off x="6142216" y="4388979"/>
                  <a:ext cx="2386301" cy="600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28600" indent="-228600">
                    <a:buAutoNum type="arabicParenR"/>
                  </a:pPr>
                  <a:r>
                    <a:rPr lang="en-US" sz="1100" dirty="0"/>
                    <a:t>General</a:t>
                  </a:r>
                  <a:r>
                    <a:rPr lang="en-DE" sz="1100" dirty="0"/>
                    <a:t> Attitude, </a:t>
                  </a:r>
                </a:p>
                <a:p>
                  <a:pPr marL="228600" indent="-228600">
                    <a:buAutoNum type="arabicParenR"/>
                  </a:pPr>
                  <a:r>
                    <a:rPr lang="en-DE" sz="1100" dirty="0"/>
                    <a:t>Descriptive Attitude: First, Second, Third.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8AF7DC41-D2F5-B515-4846-28ABBF755829}"/>
                  </a:ext>
                </a:extLst>
              </p:cNvPr>
              <p:cNvGrpSpPr/>
              <p:nvPr/>
            </p:nvGrpSpPr>
            <p:grpSpPr>
              <a:xfrm>
                <a:off x="6525785" y="3016982"/>
                <a:ext cx="2386301" cy="572775"/>
                <a:chOff x="6142214" y="5102755"/>
                <a:chExt cx="2386301" cy="572775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8CF1B7D-0AEB-42F8-E7B8-E3D0FFE61239}"/>
                    </a:ext>
                  </a:extLst>
                </p:cNvPr>
                <p:cNvSpPr txBox="1"/>
                <p:nvPr/>
              </p:nvSpPr>
              <p:spPr>
                <a:xfrm>
                  <a:off x="6142215" y="5102755"/>
                  <a:ext cx="238630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DE"/>
                  </a:defPPr>
                  <a:lvl1pPr algn="ctr">
                    <a:buNone/>
                    <a:defRPr sz="1600" b="1">
                      <a:latin typeface="Heiti SC Medium" pitchFamily="2" charset="-128"/>
                      <a:ea typeface="Heiti SC Medium" pitchFamily="2" charset="-128"/>
                      <a:cs typeface="+mj-cs"/>
                    </a:defRPr>
                  </a:lvl1pPr>
                </a:lstStyle>
                <a:p>
                  <a:r>
                    <a:rPr lang="en-GB" sz="1400" dirty="0"/>
                    <a:t>Intangible Benefit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F9E52E6-0B8A-1D11-7E60-A74CB8A5A715}"/>
                    </a:ext>
                  </a:extLst>
                </p:cNvPr>
                <p:cNvSpPr txBox="1"/>
                <p:nvPr/>
              </p:nvSpPr>
              <p:spPr>
                <a:xfrm>
                  <a:off x="6142214" y="5413920"/>
                  <a:ext cx="238630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fontAlgn="b"/>
                  <a:r>
                    <a:rPr lang="en-GB" sz="1100" dirty="0"/>
                    <a:t>Ecological Value</a:t>
                  </a:r>
                  <a:endParaRPr lang="en-DE" sz="1100" dirty="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264" name="Rounded Rectangle 263">
              <a:extLst>
                <a:ext uri="{FF2B5EF4-FFF2-40B4-BE49-F238E27FC236}">
                  <a16:creationId xmlns:a16="http://schemas.microsoft.com/office/drawing/2014/main" id="{966024C4-69B8-4DDB-3125-D29764E6636A}"/>
                </a:ext>
              </a:extLst>
            </p:cNvPr>
            <p:cNvSpPr/>
            <p:nvPr/>
          </p:nvSpPr>
          <p:spPr>
            <a:xfrm>
              <a:off x="7785731" y="1850044"/>
              <a:ext cx="2606567" cy="2785645"/>
            </a:xfrm>
            <a:prstGeom prst="roundRect">
              <a:avLst>
                <a:gd name="adj" fmla="val 11337"/>
              </a:avLst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F07F5B6A-A7CD-E927-A9B3-408C6EF5CF5F}"/>
              </a:ext>
            </a:extLst>
          </p:cNvPr>
          <p:cNvGrpSpPr/>
          <p:nvPr/>
        </p:nvGrpSpPr>
        <p:grpSpPr>
          <a:xfrm>
            <a:off x="10267245" y="1878048"/>
            <a:ext cx="1790177" cy="1046277"/>
            <a:chOff x="10267244" y="1925272"/>
            <a:chExt cx="1790177" cy="104627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5C02457-F7E5-BE0A-823A-F441210733AA}"/>
                </a:ext>
              </a:extLst>
            </p:cNvPr>
            <p:cNvGrpSpPr/>
            <p:nvPr/>
          </p:nvGrpSpPr>
          <p:grpSpPr>
            <a:xfrm>
              <a:off x="10405839" y="2124349"/>
              <a:ext cx="1499143" cy="736052"/>
              <a:chOff x="8980259" y="4264188"/>
              <a:chExt cx="2126800" cy="736052"/>
            </a:xfrm>
          </p:grpSpPr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49239BC-B90B-6955-0FDC-A8AD5A878E34}"/>
                  </a:ext>
                </a:extLst>
              </p:cNvPr>
              <p:cNvSpPr txBox="1"/>
              <p:nvPr/>
            </p:nvSpPr>
            <p:spPr>
              <a:xfrm>
                <a:off x="8980259" y="4264188"/>
                <a:ext cx="21268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Tolerance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8D48FC-2F8A-AF24-0930-09AD20D32BC1}"/>
                  </a:ext>
                </a:extLst>
              </p:cNvPr>
              <p:cNvSpPr txBox="1"/>
              <p:nvPr/>
            </p:nvSpPr>
            <p:spPr>
              <a:xfrm>
                <a:off x="8980259" y="4569353"/>
                <a:ext cx="21267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sz="1100" dirty="0"/>
                  <a:t>Killing, Population,</a:t>
                </a:r>
              </a:p>
              <a:p>
                <a:pPr algn="ctr"/>
                <a:r>
                  <a:rPr lang="en-DE" sz="1100" dirty="0"/>
                  <a:t>Spatial, Loss</a:t>
                </a:r>
              </a:p>
            </p:txBody>
          </p:sp>
        </p:grpSp>
        <p:sp>
          <p:nvSpPr>
            <p:cNvPr id="303" name="Rounded Rectangle 302">
              <a:extLst>
                <a:ext uri="{FF2B5EF4-FFF2-40B4-BE49-F238E27FC236}">
                  <a16:creationId xmlns:a16="http://schemas.microsoft.com/office/drawing/2014/main" id="{973732CF-F5D4-78FE-F3D8-58D44D13C79F}"/>
                </a:ext>
              </a:extLst>
            </p:cNvPr>
            <p:cNvSpPr/>
            <p:nvPr/>
          </p:nvSpPr>
          <p:spPr>
            <a:xfrm>
              <a:off x="10267244" y="1925272"/>
              <a:ext cx="1790177" cy="1046277"/>
            </a:xfrm>
            <a:prstGeom prst="roundRect">
              <a:avLst>
                <a:gd name="adj" fmla="val 11337"/>
              </a:avLst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5EE17934-7BE8-04D4-71C4-4FF0D279D958}"/>
              </a:ext>
            </a:extLst>
          </p:cNvPr>
          <p:cNvCxnSpPr>
            <a:cxnSpLocks/>
          </p:cNvCxnSpPr>
          <p:nvPr/>
        </p:nvCxnSpPr>
        <p:spPr>
          <a:xfrm>
            <a:off x="3310760" y="2221485"/>
            <a:ext cx="3539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92460D2A-EF95-2436-83AF-504A92BE1467}"/>
              </a:ext>
            </a:extLst>
          </p:cNvPr>
          <p:cNvCxnSpPr/>
          <p:nvPr/>
        </p:nvCxnSpPr>
        <p:spPr>
          <a:xfrm>
            <a:off x="6952742" y="2221485"/>
            <a:ext cx="3539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0CC642BC-40B4-0C07-602D-3724364E2D01}"/>
              </a:ext>
            </a:extLst>
          </p:cNvPr>
          <p:cNvCxnSpPr/>
          <p:nvPr/>
        </p:nvCxnSpPr>
        <p:spPr>
          <a:xfrm>
            <a:off x="9913277" y="2221485"/>
            <a:ext cx="3539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0" name="Elbow Connector 319">
            <a:extLst>
              <a:ext uri="{FF2B5EF4-FFF2-40B4-BE49-F238E27FC236}">
                <a16:creationId xmlns:a16="http://schemas.microsoft.com/office/drawing/2014/main" id="{66924047-DADE-CCFE-4B11-82AEB2A4037E}"/>
              </a:ext>
            </a:extLst>
          </p:cNvPr>
          <p:cNvCxnSpPr>
            <a:cxnSpLocks/>
            <a:stCxn id="254" idx="2"/>
            <a:endCxn id="264" idx="2"/>
          </p:cNvCxnSpPr>
          <p:nvPr/>
        </p:nvCxnSpPr>
        <p:spPr>
          <a:xfrm rot="16200000" flipH="1">
            <a:off x="5000010" y="1048015"/>
            <a:ext cx="332643" cy="6887325"/>
          </a:xfrm>
          <a:prstGeom prst="bentConnector3">
            <a:avLst>
              <a:gd name="adj1" fmla="val 4417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Elbow Connector 323">
            <a:extLst>
              <a:ext uri="{FF2B5EF4-FFF2-40B4-BE49-F238E27FC236}">
                <a16:creationId xmlns:a16="http://schemas.microsoft.com/office/drawing/2014/main" id="{733FB0A6-A34A-8E26-4269-0EE6512F73A1}"/>
              </a:ext>
            </a:extLst>
          </p:cNvPr>
          <p:cNvCxnSpPr>
            <a:cxnSpLocks/>
            <a:stCxn id="254" idx="2"/>
            <a:endCxn id="303" idx="2"/>
          </p:cNvCxnSpPr>
          <p:nvPr/>
        </p:nvCxnSpPr>
        <p:spPr>
          <a:xfrm rot="5400000" flipH="1" flipV="1">
            <a:off x="5741985" y="-1094992"/>
            <a:ext cx="1401032" cy="9439665"/>
          </a:xfrm>
          <a:prstGeom prst="bentConnector3">
            <a:avLst>
              <a:gd name="adj1" fmla="val -11745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Elbow Connector 330">
            <a:extLst>
              <a:ext uri="{FF2B5EF4-FFF2-40B4-BE49-F238E27FC236}">
                <a16:creationId xmlns:a16="http://schemas.microsoft.com/office/drawing/2014/main" id="{26FD4701-CF34-C720-C3B1-F6BC24A889CC}"/>
              </a:ext>
            </a:extLst>
          </p:cNvPr>
          <p:cNvCxnSpPr>
            <a:cxnSpLocks/>
            <a:stCxn id="255" idx="2"/>
          </p:cNvCxnSpPr>
          <p:nvPr/>
        </p:nvCxnSpPr>
        <p:spPr>
          <a:xfrm rot="5400000" flipH="1" flipV="1">
            <a:off x="7012711" y="1220349"/>
            <a:ext cx="2622626" cy="6030579"/>
          </a:xfrm>
          <a:prstGeom prst="bentConnector4">
            <a:avLst>
              <a:gd name="adj1" fmla="val -22802"/>
              <a:gd name="adj2" fmla="val 99981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7" name="TextBox 346">
            <a:extLst>
              <a:ext uri="{FF2B5EF4-FFF2-40B4-BE49-F238E27FC236}">
                <a16:creationId xmlns:a16="http://schemas.microsoft.com/office/drawing/2014/main" id="{B7D99BFE-819E-D284-D5AF-A2DE8245C319}"/>
              </a:ext>
            </a:extLst>
          </p:cNvPr>
          <p:cNvSpPr txBox="1"/>
          <p:nvPr/>
        </p:nvSpPr>
        <p:spPr>
          <a:xfrm>
            <a:off x="134578" y="1393690"/>
            <a:ext cx="3176182" cy="400050"/>
          </a:xfrm>
          <a:prstGeom prst="roundRect">
            <a:avLst>
              <a:gd name="adj" fmla="val 39766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400" b="1" dirty="0">
                <a:latin typeface="Heiti SC Medium" pitchFamily="2" charset="-128"/>
                <a:ea typeface="Heiti SC Medium" pitchFamily="2" charset="-128"/>
                <a:cs typeface="+mj-cs"/>
              </a:rPr>
              <a:t>Conflict Experience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059118D-F59A-4D95-F4EE-4286D488CD54}"/>
              </a:ext>
            </a:extLst>
          </p:cNvPr>
          <p:cNvSpPr txBox="1"/>
          <p:nvPr/>
        </p:nvSpPr>
        <p:spPr>
          <a:xfrm>
            <a:off x="3664728" y="1390596"/>
            <a:ext cx="3288014" cy="400050"/>
          </a:xfrm>
          <a:prstGeom prst="roundRect">
            <a:avLst>
              <a:gd name="adj" fmla="val 39766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400" b="1" dirty="0">
                <a:latin typeface="Heiti SC Medium" pitchFamily="2" charset="-128"/>
                <a:ea typeface="Heiti SC Medium" pitchFamily="2" charset="-128"/>
                <a:cs typeface="+mj-cs"/>
              </a:rPr>
              <a:t>Mitigation Strategy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9180F0C0-C60D-62BC-B638-3281E5A16A53}"/>
              </a:ext>
            </a:extLst>
          </p:cNvPr>
          <p:cNvSpPr txBox="1"/>
          <p:nvPr/>
        </p:nvSpPr>
        <p:spPr>
          <a:xfrm>
            <a:off x="7306710" y="1396174"/>
            <a:ext cx="2606567" cy="400050"/>
          </a:xfrm>
          <a:prstGeom prst="roundRect">
            <a:avLst>
              <a:gd name="adj" fmla="val 39766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400" b="1" dirty="0">
                <a:latin typeface="Heiti SC Medium" pitchFamily="2" charset="-128"/>
                <a:ea typeface="Heiti SC Medium" pitchFamily="2" charset="-128"/>
                <a:cs typeface="+mj-cs"/>
              </a:rPr>
              <a:t>Cost &amp; Benefit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8E7D4E69-C815-04B7-1651-C0EF9FD75DB9}"/>
              </a:ext>
            </a:extLst>
          </p:cNvPr>
          <p:cNvSpPr txBox="1"/>
          <p:nvPr/>
        </p:nvSpPr>
        <p:spPr>
          <a:xfrm>
            <a:off x="10267245" y="1390596"/>
            <a:ext cx="1790177" cy="400050"/>
          </a:xfrm>
          <a:prstGeom prst="roundRect">
            <a:avLst>
              <a:gd name="adj" fmla="val 39766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400" b="1" dirty="0">
                <a:latin typeface="Heiti SC Medium" pitchFamily="2" charset="-128"/>
                <a:ea typeface="Heiti SC Medium" pitchFamily="2" charset="-128"/>
                <a:cs typeface="+mj-cs"/>
              </a:rPr>
              <a:t>Tolerance</a:t>
            </a:r>
          </a:p>
        </p:txBody>
      </p:sp>
    </p:spTree>
    <p:extLst>
      <p:ext uri="{BB962C8B-B14F-4D97-AF65-F5344CB8AC3E}">
        <p14:creationId xmlns:p14="http://schemas.microsoft.com/office/powerpoint/2010/main" val="3376195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B1E4F-66C4-1B09-3275-E86376FC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3DFFC34F-65F5-02D6-6C69-A9AAF9B876E6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2 - without compensation (n=348) 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D0F5A30-7C39-50CD-901F-4BA0AF1D43ED}"/>
              </a:ext>
            </a:extLst>
          </p:cNvPr>
          <p:cNvGrpSpPr/>
          <p:nvPr/>
        </p:nvGrpSpPr>
        <p:grpSpPr>
          <a:xfrm>
            <a:off x="3885878" y="2078706"/>
            <a:ext cx="2867691" cy="3367339"/>
            <a:chOff x="2517157" y="3186676"/>
            <a:chExt cx="2983133" cy="336733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40529E2-689E-F4AA-7E03-E35321A9B9E3}"/>
                </a:ext>
              </a:extLst>
            </p:cNvPr>
            <p:cNvGrpSpPr/>
            <p:nvPr/>
          </p:nvGrpSpPr>
          <p:grpSpPr>
            <a:xfrm>
              <a:off x="2517159" y="3186676"/>
              <a:ext cx="2983131" cy="598315"/>
              <a:chOff x="1620560" y="3614915"/>
              <a:chExt cx="2983131" cy="598315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A2EAF4-7918-9D8F-2B40-F72B581A9C9A}"/>
                  </a:ext>
                </a:extLst>
              </p:cNvPr>
              <p:cNvSpPr txBox="1"/>
              <p:nvPr/>
            </p:nvSpPr>
            <p:spPr>
              <a:xfrm>
                <a:off x="1620561" y="3614915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Prevention Effectiveness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CD2D87-0952-0C50-AE13-D4EC3864D229}"/>
                  </a:ext>
                </a:extLst>
              </p:cNvPr>
              <p:cNvSpPr txBox="1"/>
              <p:nvPr/>
            </p:nvSpPr>
            <p:spPr>
              <a:xfrm>
                <a:off x="1620560" y="3951620"/>
                <a:ext cx="298313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sz="1100" dirty="0"/>
                  <a:t>Average Effectiveness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841089DE-579A-DAB3-B0E6-B94ABBE38722}"/>
                </a:ext>
              </a:extLst>
            </p:cNvPr>
            <p:cNvGrpSpPr/>
            <p:nvPr/>
          </p:nvGrpSpPr>
          <p:grpSpPr>
            <a:xfrm>
              <a:off x="2517157" y="4766021"/>
              <a:ext cx="2983130" cy="940136"/>
              <a:chOff x="1620556" y="4734443"/>
              <a:chExt cx="2983130" cy="94013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F27F43-72EC-8BAF-B035-6F1BD0374846}"/>
                  </a:ext>
                </a:extLst>
              </p:cNvPr>
              <p:cNvSpPr txBox="1"/>
              <p:nvPr/>
            </p:nvSpPr>
            <p:spPr>
              <a:xfrm>
                <a:off x="1620556" y="4734443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Compensation Anticipation 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0508A4-D8B7-BD12-D73D-E3F21EA2C528}"/>
                  </a:ext>
                </a:extLst>
              </p:cNvPr>
              <p:cNvSpPr txBox="1"/>
              <p:nvPr/>
            </p:nvSpPr>
            <p:spPr>
              <a:xfrm>
                <a:off x="1620556" y="5074415"/>
                <a:ext cx="2983130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dirty="0"/>
                  <a:t>Lowest Accepted Percentage, </a:t>
                </a:r>
              </a:p>
              <a:p>
                <a:pPr marL="228600" indent="-228600">
                  <a:buAutoNum type="arabicParenR"/>
                </a:pPr>
                <a:r>
                  <a:rPr lang="en-GB" sz="1100" dirty="0"/>
                  <a:t>Expected Percentage,</a:t>
                </a:r>
              </a:p>
              <a:p>
                <a:pPr marL="228600" indent="-228600">
                  <a:buAutoNum type="arabicParenR"/>
                </a:pPr>
                <a:r>
                  <a:rPr lang="en-GB" sz="1100" dirty="0"/>
                  <a:t>Annual Insurance Payment</a:t>
                </a:r>
                <a:endParaRPr lang="en-DE" sz="1100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85FD828E-A88C-6C0F-9FC2-10F45B64251B}"/>
                </a:ext>
              </a:extLst>
            </p:cNvPr>
            <p:cNvGrpSpPr/>
            <p:nvPr/>
          </p:nvGrpSpPr>
          <p:grpSpPr>
            <a:xfrm>
              <a:off x="2517157" y="5801431"/>
              <a:ext cx="2983132" cy="752584"/>
              <a:chOff x="1620559" y="5985951"/>
              <a:chExt cx="2983132" cy="75258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C11994-A3A0-43A1-E882-54C170F8CCC2}"/>
                  </a:ext>
                </a:extLst>
              </p:cNvPr>
              <p:cNvSpPr txBox="1"/>
              <p:nvPr/>
            </p:nvSpPr>
            <p:spPr>
              <a:xfrm>
                <a:off x="1620561" y="5985951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Policy Support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114A2E-A973-2716-0108-1B596963C081}"/>
                  </a:ext>
                </a:extLst>
              </p:cNvPr>
              <p:cNvSpPr txBox="1"/>
              <p:nvPr/>
            </p:nvSpPr>
            <p:spPr>
              <a:xfrm>
                <a:off x="1620559" y="6307648"/>
                <a:ext cx="298313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US" sz="1100" dirty="0"/>
                  <a:t>Supportive Institute, </a:t>
                </a:r>
              </a:p>
              <a:p>
                <a:pPr marL="228600" indent="-228600">
                  <a:buAutoNum type="arabicParenR"/>
                </a:pPr>
                <a:r>
                  <a:rPr lang="en-US" sz="1100" dirty="0"/>
                  <a:t>Knowledge Obtained Method</a:t>
                </a:r>
                <a:endParaRPr lang="en-DE" sz="1100" dirty="0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122069D-1B0A-C425-4DDF-FA493639B922}"/>
              </a:ext>
            </a:extLst>
          </p:cNvPr>
          <p:cNvGrpSpPr/>
          <p:nvPr/>
        </p:nvGrpSpPr>
        <p:grpSpPr>
          <a:xfrm>
            <a:off x="7493159" y="2077125"/>
            <a:ext cx="2199398" cy="2513238"/>
            <a:chOff x="6525785" y="1076519"/>
            <a:chExt cx="2386305" cy="251323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07606DD-1BB5-DCA9-AA32-D6F4224B25FE}"/>
                </a:ext>
              </a:extLst>
            </p:cNvPr>
            <p:cNvGrpSpPr/>
            <p:nvPr/>
          </p:nvGrpSpPr>
          <p:grpSpPr>
            <a:xfrm>
              <a:off x="6525786" y="1076519"/>
              <a:ext cx="2386304" cy="740358"/>
              <a:chOff x="6142215" y="3162292"/>
              <a:chExt cx="2386304" cy="74035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A56196-2323-9295-CE48-62B2F3D57D67}"/>
                  </a:ext>
                </a:extLst>
              </p:cNvPr>
              <p:cNvSpPr txBox="1"/>
              <p:nvPr/>
            </p:nvSpPr>
            <p:spPr>
              <a:xfrm>
                <a:off x="6142215" y="3162292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Tangible Cost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096D65-9BCE-66F0-AC89-BCAC76B218EE}"/>
                  </a:ext>
                </a:extLst>
              </p:cNvPr>
              <p:cNvSpPr txBox="1"/>
              <p:nvPr/>
            </p:nvSpPr>
            <p:spPr>
              <a:xfrm>
                <a:off x="6142218" y="3471763"/>
                <a:ext cx="238630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dirty="0"/>
                  <a:t>Damage Area, </a:t>
                </a:r>
              </a:p>
              <a:p>
                <a:pPr marL="228600" indent="-228600">
                  <a:buAutoNum type="arabicParenR"/>
                </a:pPr>
                <a:r>
                  <a:rPr lang="en-GB" sz="1100" dirty="0"/>
                  <a:t>Perceived</a:t>
                </a:r>
                <a:r>
                  <a:rPr lang="en-DE" sz="1100" dirty="0"/>
                  <a:t> economic loss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87B7FB8-C89D-D304-B4A5-132DD0D9D4A2}"/>
                </a:ext>
              </a:extLst>
            </p:cNvPr>
            <p:cNvGrpSpPr/>
            <p:nvPr/>
          </p:nvGrpSpPr>
          <p:grpSpPr>
            <a:xfrm>
              <a:off x="6525787" y="1970943"/>
              <a:ext cx="2386302" cy="932427"/>
              <a:chOff x="6142216" y="4056716"/>
              <a:chExt cx="2386302" cy="93242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C994C33-51CF-4641-3174-7214C18D4CB9}"/>
                  </a:ext>
                </a:extLst>
              </p:cNvPr>
              <p:cNvSpPr txBox="1"/>
              <p:nvPr/>
            </p:nvSpPr>
            <p:spPr>
              <a:xfrm>
                <a:off x="6142218" y="4056716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Intangible Cost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20A1800-AC05-2528-A732-0C1CC6B9E8C2}"/>
                  </a:ext>
                </a:extLst>
              </p:cNvPr>
              <p:cNvSpPr txBox="1"/>
              <p:nvPr/>
            </p:nvSpPr>
            <p:spPr>
              <a:xfrm>
                <a:off x="6142216" y="4388979"/>
                <a:ext cx="2386301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US" sz="1100" dirty="0"/>
                  <a:t>General</a:t>
                </a:r>
                <a:r>
                  <a:rPr lang="en-DE" sz="1100" dirty="0"/>
                  <a:t> Attitude, </a:t>
                </a:r>
              </a:p>
              <a:p>
                <a:pPr marL="228600" indent="-228600">
                  <a:buAutoNum type="arabicParenR"/>
                </a:pPr>
                <a:r>
                  <a:rPr lang="en-DE" sz="1100" dirty="0"/>
                  <a:t>Descriptive Attitude: First, Second, Third.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A774E60-8E6D-A51B-F039-DC8BDE14BE9B}"/>
                </a:ext>
              </a:extLst>
            </p:cNvPr>
            <p:cNvGrpSpPr/>
            <p:nvPr/>
          </p:nvGrpSpPr>
          <p:grpSpPr>
            <a:xfrm>
              <a:off x="6525785" y="3016982"/>
              <a:ext cx="2386301" cy="572775"/>
              <a:chOff x="6142214" y="5102755"/>
              <a:chExt cx="2386301" cy="572775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3ACD8F-37F5-8BAA-AEC1-DC35A6439168}"/>
                  </a:ext>
                </a:extLst>
              </p:cNvPr>
              <p:cNvSpPr txBox="1"/>
              <p:nvPr/>
            </p:nvSpPr>
            <p:spPr>
              <a:xfrm>
                <a:off x="6142215" y="5102755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Intangible Benefit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8BA908F-A535-E6F5-C769-34119BD90C24}"/>
                  </a:ext>
                </a:extLst>
              </p:cNvPr>
              <p:cNvSpPr txBox="1"/>
              <p:nvPr/>
            </p:nvSpPr>
            <p:spPr>
              <a:xfrm>
                <a:off x="6142214" y="5413920"/>
                <a:ext cx="238630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"/>
                <a:r>
                  <a:rPr lang="en-GB" sz="1100" dirty="0"/>
                  <a:t>Ecological Value</a:t>
                </a:r>
                <a:endParaRPr lang="en-DE" sz="11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85E5DBE-E685-9635-3957-FF067B90F5FE}"/>
              </a:ext>
            </a:extLst>
          </p:cNvPr>
          <p:cNvGrpSpPr/>
          <p:nvPr/>
        </p:nvGrpSpPr>
        <p:grpSpPr>
          <a:xfrm>
            <a:off x="10405840" y="2077125"/>
            <a:ext cx="1499143" cy="736052"/>
            <a:chOff x="8980259" y="4264188"/>
            <a:chExt cx="2126800" cy="73605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20E20FB-7F05-53DF-CC70-4839DBC79F17}"/>
                </a:ext>
              </a:extLst>
            </p:cNvPr>
            <p:cNvSpPr txBox="1"/>
            <p:nvPr/>
          </p:nvSpPr>
          <p:spPr>
            <a:xfrm>
              <a:off x="8980259" y="4264188"/>
              <a:ext cx="21268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en-DE"/>
              </a:defPPr>
              <a:lvl1pPr algn="ctr">
                <a:buNone/>
                <a:defRPr sz="1600" b="1">
                  <a:latin typeface="Heiti SC Medium" pitchFamily="2" charset="-128"/>
                  <a:ea typeface="Heiti SC Medium" pitchFamily="2" charset="-128"/>
                  <a:cs typeface="+mj-cs"/>
                </a:defRPr>
              </a:lvl1pPr>
            </a:lstStyle>
            <a:p>
              <a:r>
                <a:rPr lang="en-GB" sz="1400" dirty="0"/>
                <a:t>Tolerance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AAFB48A-3495-6EEF-C3CB-F36C359DB754}"/>
                </a:ext>
              </a:extLst>
            </p:cNvPr>
            <p:cNvSpPr txBox="1"/>
            <p:nvPr/>
          </p:nvSpPr>
          <p:spPr>
            <a:xfrm>
              <a:off x="8980259" y="4569353"/>
              <a:ext cx="21267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DE" sz="1100" dirty="0"/>
                <a:t>Killing, Population,</a:t>
              </a:r>
            </a:p>
            <a:p>
              <a:pPr algn="ctr"/>
              <a:r>
                <a:rPr lang="en-DE" sz="1100" dirty="0"/>
                <a:t>Spatial, Loss</a:t>
              </a: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AD7AF4B9-38E2-3478-B2E1-BE507833AFD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158320" y="2232595"/>
            <a:ext cx="7275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F405BCD0-4F38-B01A-8DB9-C9C5F8FBCEFC}"/>
              </a:ext>
            </a:extLst>
          </p:cNvPr>
          <p:cNvCxnSpPr>
            <a:cxnSpLocks/>
            <a:stCxn id="17" idx="3"/>
            <a:endCxn id="73" idx="1"/>
          </p:cNvCxnSpPr>
          <p:nvPr/>
        </p:nvCxnSpPr>
        <p:spPr>
          <a:xfrm>
            <a:off x="9692553" y="2231014"/>
            <a:ext cx="713287" cy="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A58FC5-02E9-780B-E6F0-7CC41230841B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3158320" y="2232595"/>
            <a:ext cx="727558" cy="1579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957253-BCBF-D05F-ADA5-0437EBF05AFF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3158320" y="2232595"/>
            <a:ext cx="727560" cy="2614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BB767C6E-D8D4-187F-623A-A9487A87C1F1}"/>
              </a:ext>
            </a:extLst>
          </p:cNvPr>
          <p:cNvCxnSpPr>
            <a:cxnSpLocks/>
            <a:stCxn id="13" idx="0"/>
            <a:endCxn id="17" idx="0"/>
          </p:cNvCxnSpPr>
          <p:nvPr/>
        </p:nvCxnSpPr>
        <p:spPr>
          <a:xfrm rot="5400000" flipH="1" flipV="1">
            <a:off x="5153789" y="-1360362"/>
            <a:ext cx="1581" cy="6876556"/>
          </a:xfrm>
          <a:prstGeom prst="bentConnector3">
            <a:avLst>
              <a:gd name="adj1" fmla="val 473466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B8D3E6FD-AF57-0FE7-5EC3-E650B3DB8B4D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4819642" y="-1024635"/>
            <a:ext cx="918246" cy="7124928"/>
          </a:xfrm>
          <a:prstGeom prst="bentConnector4">
            <a:avLst>
              <a:gd name="adj1" fmla="val -97275"/>
              <a:gd name="adj2" fmla="val 999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532C11-C243-EF17-A1AA-382DD653026D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4448977" y="-653971"/>
            <a:ext cx="1924117" cy="7389470"/>
          </a:xfrm>
          <a:prstGeom prst="bentConnector4">
            <a:avLst>
              <a:gd name="adj1" fmla="val -52679"/>
              <a:gd name="adj2" fmla="val 999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A0542576-3AD5-F1E6-98F1-8C870F286E10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 flipV="1">
            <a:off x="6753569" y="2231014"/>
            <a:ext cx="739591" cy="1581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75B24EC9-744E-7712-9917-F3AF77A31247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6753569" y="2232595"/>
            <a:ext cx="739594" cy="892843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95688782-2B06-138B-8F7E-27FE06EAD035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6753569" y="2232595"/>
            <a:ext cx="739591" cy="1938882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124EE463-B28A-9DE4-A1C7-CE21E31EC2F3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 flipV="1">
            <a:off x="6753566" y="2231014"/>
            <a:ext cx="739594" cy="158092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6B74BB0C-488E-8032-4A5E-2E2082B6000C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 flipV="1">
            <a:off x="6753566" y="3125438"/>
            <a:ext cx="739597" cy="68650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5BB96A81-2DE2-5020-C404-08BEC74F8E56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6753566" y="3811940"/>
            <a:ext cx="739594" cy="35953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F1E1DFDB-B987-BA06-113D-8CBA212D0D33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753568" y="2231014"/>
            <a:ext cx="739592" cy="261633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32B77FF1-58E9-28BF-B878-226DF5CDF64F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 flipV="1">
            <a:off x="6753568" y="3125438"/>
            <a:ext cx="739595" cy="172191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E4115F55-846A-1096-447A-67CAD0AE0554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 flipV="1">
            <a:off x="6753568" y="4171477"/>
            <a:ext cx="739592" cy="67587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E2504697-5DEC-3D0B-676E-66DC551E83FD}"/>
              </a:ext>
            </a:extLst>
          </p:cNvPr>
          <p:cNvCxnSpPr>
            <a:cxnSpLocks/>
            <a:stCxn id="18" idx="3"/>
            <a:endCxn id="73" idx="1"/>
          </p:cNvCxnSpPr>
          <p:nvPr/>
        </p:nvCxnSpPr>
        <p:spPr>
          <a:xfrm flipV="1">
            <a:off x="9692556" y="2231014"/>
            <a:ext cx="713284" cy="894424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D50576FE-8960-D3FB-611F-70B2CFEB0BDA}"/>
              </a:ext>
            </a:extLst>
          </p:cNvPr>
          <p:cNvCxnSpPr>
            <a:cxnSpLocks/>
            <a:stCxn id="19" idx="3"/>
            <a:endCxn id="73" idx="1"/>
          </p:cNvCxnSpPr>
          <p:nvPr/>
        </p:nvCxnSpPr>
        <p:spPr>
          <a:xfrm flipV="1">
            <a:off x="9692553" y="2231014"/>
            <a:ext cx="713287" cy="194046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3" name="Elbow Connector 252">
            <a:extLst>
              <a:ext uri="{FF2B5EF4-FFF2-40B4-BE49-F238E27FC236}">
                <a16:creationId xmlns:a16="http://schemas.microsoft.com/office/drawing/2014/main" id="{D2D1B36B-2E2F-7DA7-8492-66AED4DCF6B1}"/>
              </a:ext>
            </a:extLst>
          </p:cNvPr>
          <p:cNvCxnSpPr>
            <a:cxnSpLocks/>
            <a:stCxn id="14" idx="0"/>
            <a:endCxn id="73" idx="0"/>
          </p:cNvCxnSpPr>
          <p:nvPr/>
        </p:nvCxnSpPr>
        <p:spPr>
          <a:xfrm rot="5400000" flipH="1" flipV="1">
            <a:off x="8236778" y="-839927"/>
            <a:ext cx="1581" cy="5835687"/>
          </a:xfrm>
          <a:prstGeom prst="bentConnector3">
            <a:avLst>
              <a:gd name="adj1" fmla="val 14559203"/>
            </a:avLst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5" name="Elbow Connector 264">
            <a:extLst>
              <a:ext uri="{FF2B5EF4-FFF2-40B4-BE49-F238E27FC236}">
                <a16:creationId xmlns:a16="http://schemas.microsoft.com/office/drawing/2014/main" id="{97E38262-2142-0CC4-A95C-BF4D3C8CF10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696488" y="-39804"/>
            <a:ext cx="1580926" cy="5835690"/>
          </a:xfrm>
          <a:prstGeom prst="bentConnector3">
            <a:avLst>
              <a:gd name="adj1" fmla="val 128920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9" name="Elbow Connector 268">
            <a:extLst>
              <a:ext uri="{FF2B5EF4-FFF2-40B4-BE49-F238E27FC236}">
                <a16:creationId xmlns:a16="http://schemas.microsoft.com/office/drawing/2014/main" id="{05D9B027-9228-9899-F231-18215E02FB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04186" y="474405"/>
            <a:ext cx="2616336" cy="5835688"/>
          </a:xfrm>
          <a:prstGeom prst="bentConnector3">
            <a:avLst>
              <a:gd name="adj1" fmla="val 121446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Elbow Connector 272">
            <a:extLst>
              <a:ext uri="{FF2B5EF4-FFF2-40B4-BE49-F238E27FC236}">
                <a16:creationId xmlns:a16="http://schemas.microsoft.com/office/drawing/2014/main" id="{42849DCA-82D3-B4E8-CB17-3195B5FE9DD7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6363449" y="-2568443"/>
            <a:ext cx="9729" cy="9304026"/>
          </a:xfrm>
          <a:prstGeom prst="bentConnector4">
            <a:avLst>
              <a:gd name="adj1" fmla="val -11962010"/>
              <a:gd name="adj2" fmla="val 999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A2A959E-4DC2-4CCB-3AA2-1379F18692DD}"/>
              </a:ext>
            </a:extLst>
          </p:cNvPr>
          <p:cNvGrpSpPr/>
          <p:nvPr/>
        </p:nvGrpSpPr>
        <p:grpSpPr>
          <a:xfrm>
            <a:off x="274278" y="2078706"/>
            <a:ext cx="2884042" cy="1093066"/>
            <a:chOff x="691858" y="1130805"/>
            <a:chExt cx="3238825" cy="114349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E232530-378D-A9E1-86FA-D5524266902F}"/>
                </a:ext>
              </a:extLst>
            </p:cNvPr>
            <p:cNvSpPr txBox="1"/>
            <p:nvPr/>
          </p:nvSpPr>
          <p:spPr>
            <a:xfrm>
              <a:off x="691861" y="1130805"/>
              <a:ext cx="3238822" cy="32197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GB" sz="1400" b="1" dirty="0">
                  <a:latin typeface="Heiti SC Medium" pitchFamily="2" charset="-128"/>
                  <a:ea typeface="Heiti SC Medium" pitchFamily="2" charset="-128"/>
                  <a:cs typeface="+mj-cs"/>
                </a:rPr>
                <a:t>Conflict Experience - Wild boar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50903E9-48F9-54DB-1783-D205BAE02E17}"/>
                </a:ext>
              </a:extLst>
            </p:cNvPr>
            <p:cNvSpPr txBox="1"/>
            <p:nvPr/>
          </p:nvSpPr>
          <p:spPr>
            <a:xfrm>
              <a:off x="691858" y="1469360"/>
              <a:ext cx="3238821" cy="804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arenR"/>
              </a:pPr>
              <a:r>
                <a:rPr lang="en-DE" sz="1100" dirty="0"/>
                <a:t>Occur</a:t>
              </a:r>
              <a:r>
                <a:rPr lang="en-GB" sz="1100" dirty="0"/>
                <a:t>r</a:t>
              </a:r>
              <a:r>
                <a:rPr lang="en-DE" sz="1100" dirty="0"/>
                <a:t>ence </a:t>
              </a:r>
              <a:r>
                <a:rPr lang="en-GB" sz="1100" dirty="0"/>
                <a:t>Frequency</a:t>
              </a:r>
              <a:r>
                <a:rPr lang="en-DE" sz="1100" dirty="0"/>
                <a:t>, </a:t>
              </a:r>
            </a:p>
            <a:p>
              <a:pPr marL="228600" indent="-228600">
                <a:buAutoNum type="arabicParenR"/>
              </a:pPr>
              <a:r>
                <a:rPr lang="en-DE" sz="1100" dirty="0"/>
                <a:t>Annual Duration,</a:t>
              </a:r>
            </a:p>
            <a:p>
              <a:pPr marL="228600" indent="-228600">
                <a:buAutoNum type="arabicParenR"/>
              </a:pPr>
              <a:r>
                <a:rPr lang="en-DE" sz="1100" dirty="0"/>
                <a:t>Conflict </a:t>
              </a:r>
              <a:r>
                <a:rPr lang="en-GB" sz="1100" dirty="0"/>
                <a:t>Frequency</a:t>
              </a:r>
              <a:r>
                <a:rPr lang="en-DE" sz="1100" dirty="0"/>
                <a:t>,</a:t>
              </a:r>
            </a:p>
            <a:p>
              <a:pPr marL="228600" indent="-228600">
                <a:buAutoNum type="arabicParenR"/>
              </a:pPr>
              <a:r>
                <a:rPr lang="en-DE" sz="1100" dirty="0"/>
                <a:t>Population Trend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9989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C68D1-87CA-75B4-AAAA-3C2FDC087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9BFE6B-1B38-3329-5B28-D9BDB3561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486214"/>
              </p:ext>
            </p:extLst>
          </p:nvPr>
        </p:nvGraphicFramePr>
        <p:xfrm>
          <a:off x="360828" y="806288"/>
          <a:ext cx="11470347" cy="5628428"/>
        </p:xfrm>
        <a:graphic>
          <a:graphicData uri="http://schemas.openxmlformats.org/drawingml/2006/table">
            <a:tbl>
              <a:tblPr firstRow="1" firstCol="1">
                <a:tableStyleId>{793D81CF-94F2-401A-BA57-92F5A7B2D0C5}</a:tableStyleId>
              </a:tblPr>
              <a:tblGrid>
                <a:gridCol w="878445">
                  <a:extLst>
                    <a:ext uri="{9D8B030D-6E8A-4147-A177-3AD203B41FA5}">
                      <a16:colId xmlns:a16="http://schemas.microsoft.com/office/drawing/2014/main" val="4187685912"/>
                    </a:ext>
                  </a:extLst>
                </a:gridCol>
                <a:gridCol w="548584">
                  <a:extLst>
                    <a:ext uri="{9D8B030D-6E8A-4147-A177-3AD203B41FA5}">
                      <a16:colId xmlns:a16="http://schemas.microsoft.com/office/drawing/2014/main" val="464818759"/>
                    </a:ext>
                  </a:extLst>
                </a:gridCol>
                <a:gridCol w="1701247">
                  <a:extLst>
                    <a:ext uri="{9D8B030D-6E8A-4147-A177-3AD203B41FA5}">
                      <a16:colId xmlns:a16="http://schemas.microsoft.com/office/drawing/2014/main" val="3705544634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461465563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2705932792"/>
                    </a:ext>
                  </a:extLst>
                </a:gridCol>
                <a:gridCol w="963443">
                  <a:extLst>
                    <a:ext uri="{9D8B030D-6E8A-4147-A177-3AD203B41FA5}">
                      <a16:colId xmlns:a16="http://schemas.microsoft.com/office/drawing/2014/main" val="3112367060"/>
                    </a:ext>
                  </a:extLst>
                </a:gridCol>
                <a:gridCol w="1015831">
                  <a:extLst>
                    <a:ext uri="{9D8B030D-6E8A-4147-A177-3AD203B41FA5}">
                      <a16:colId xmlns:a16="http://schemas.microsoft.com/office/drawing/2014/main" val="2074996668"/>
                    </a:ext>
                  </a:extLst>
                </a:gridCol>
                <a:gridCol w="1149002">
                  <a:extLst>
                    <a:ext uri="{9D8B030D-6E8A-4147-A177-3AD203B41FA5}">
                      <a16:colId xmlns:a16="http://schemas.microsoft.com/office/drawing/2014/main" val="3920882787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630609569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3208346022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558437363"/>
                    </a:ext>
                  </a:extLst>
                </a:gridCol>
              </a:tblGrid>
              <a:tr h="159356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Latent variable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Indicators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Indicator Significance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 dirty="0">
                        <a:solidFill>
                          <a:schemeClr val="tx1"/>
                        </a:solidFill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Collinearity Check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Convergent validity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Internal consistency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Discriminant validity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Significance Testing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561350"/>
                  </a:ext>
                </a:extLst>
              </a:tr>
              <a:tr h="30932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Weights </a:t>
                      </a:r>
                      <a:r>
                        <a:rPr lang="en-DE" sz="800" dirty="0"/>
                        <a:t>≥ 0.2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Loadings</a:t>
                      </a:r>
                      <a:r>
                        <a:rPr lang="en-DE" sz="800" dirty="0"/>
                        <a:t>≥ 0.5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VIF  &lt; 3.3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 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Composite reliability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Cross-Loadings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Weights &gt; 1.96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Loadings &gt; 1.96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356081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_Wild boar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CP_WB1: Occur</a:t>
                      </a:r>
                      <a:r>
                        <a:rPr lang="en-GB" sz="800" u="none" strike="noStrike" dirty="0">
                          <a:effectLst/>
                        </a:rPr>
                        <a:t>r</a:t>
                      </a:r>
                      <a:r>
                        <a:rPr lang="en-DE" sz="800" u="none" strike="noStrike" dirty="0">
                          <a:effectLst/>
                        </a:rPr>
                        <a:t>ence </a:t>
                      </a:r>
                      <a:r>
                        <a:rPr lang="en-GB" sz="800" dirty="0"/>
                        <a:t>Frequency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0.407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0.711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1.355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2.593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6.403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83739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CP_WB2: Annual Duration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0.340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1.178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2.152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240838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CP_WB3: Conflict Frequency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0.526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1.174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3.172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3.759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23231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dirty="0"/>
                        <a:t>CP_WB4: Population Trend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0.494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0.647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1.210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2.433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3.216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744874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_All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Formative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CP_A1: </a:t>
                      </a:r>
                      <a:r>
                        <a:rPr lang="en-DE" sz="800" strike="sngStrike" dirty="0"/>
                        <a:t>Conflict-causing Species Number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06314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CP_A2: </a:t>
                      </a:r>
                      <a:r>
                        <a:rPr lang="en-DE" sz="800" strike="sngStrike" dirty="0"/>
                        <a:t>Percieved Conflict Severity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229135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CP_A3: </a:t>
                      </a:r>
                      <a:r>
                        <a:rPr lang="en-DE" sz="800" strike="sngStrike" dirty="0"/>
                        <a:t>Conflict Duration 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428510"/>
                  </a:ext>
                </a:extLst>
              </a:tr>
              <a:tr h="30932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Prevention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PE: Average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1.103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656512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r>
                        <a:rPr lang="en-GB" sz="800" strike="sngStrike" dirty="0"/>
                        <a:t>Compensation Experience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Formative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CE1: Timeliness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669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CE2: Satisfaction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032467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Compensation Anticipation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CA1: Lowest Accepted Percentage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-0.013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-0.017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1.085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-0.050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-0.068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609511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strike="noStrike" dirty="0"/>
                        <a:t>CA2: Expected Percentage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-0.241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0.134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1.298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-1.090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0.731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8428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dirty="0"/>
                        <a:t>CA3:Annual Insurance Payment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1.060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0.974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1.478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4.044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1.604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563986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Policy Support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PS1: Reported Institute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0.129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0.062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1.066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0.331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0.202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8180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PS2: Knowledge Obtained Method</a:t>
                      </a:r>
                      <a:endParaRPr lang="en-DE" sz="800" dirty="0"/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0.992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1.150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4.369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1.113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686729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TC1: Damage Area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1.080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0.987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1.714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3.225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4.368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99445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u="none" strike="noStrike" dirty="0">
                          <a:effectLst/>
                        </a:rPr>
                        <a:t>TC2: Perceived economic loss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-0.185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0.359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1.463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-0.389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1.304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015728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IC1: General Attitude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0.942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1.518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14.113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3.501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89036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IC2_1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0.215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0.330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1.104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2.148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2.248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05118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IC2_2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0.166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0.265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1.257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1.324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1.977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70570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IC2_3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0.140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0.189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1.295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1.235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09482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Benifit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IB: Ecological Value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1.192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797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Q4_Gender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736378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Q5_Age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4875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Q6_Education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2576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AnnualIncome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Q8_AnnualIncome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345190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HouseholdAsset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sngStrike" dirty="0">
                          <a:solidFill>
                            <a:srgbClr val="C00000"/>
                          </a:solidFill>
                          <a:effectLst/>
                        </a:rPr>
                        <a:t>Q14_CropAsset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521082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Tolerance</a:t>
                      </a:r>
                    </a:p>
                    <a:p>
                      <a:pPr algn="l" fontAlgn="b"/>
                      <a:r>
                        <a:rPr lang="en-DE" sz="8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0.2597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Reflective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Tol1: Killing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0.413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0.747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1.493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0.428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0.704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8.929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13.755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7168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Tol2: Population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0.470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0.832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1.640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13.280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27.723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88448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Tol3: </a:t>
                      </a: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Spatial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0.114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0.136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1.193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1.172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0.968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7238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Tol4: Loss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0.427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0.667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1.365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6.574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9.322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85761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DBF7E06-FCD1-7FB8-2973-7CAEF7CC9F16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2 - without compensation (n=348) - Measurement Model (GOODNESS-OF-FIT 0.1950)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FD051-B389-434B-AA2C-03476F358AC5}"/>
              </a:ext>
            </a:extLst>
          </p:cNvPr>
          <p:cNvSpPr txBox="1"/>
          <p:nvPr/>
        </p:nvSpPr>
        <p:spPr>
          <a:xfrm>
            <a:off x="360828" y="6596390"/>
            <a:ext cx="114703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>
                <a:solidFill>
                  <a:srgbClr val="C00000"/>
                </a:solidFill>
              </a:rPr>
              <a:t>Deleted variables: 1) Reflective</a:t>
            </a:r>
            <a:r>
              <a:rPr lang="en-US" sz="1050" dirty="0">
                <a:solidFill>
                  <a:srgbClr val="C00000"/>
                </a:solidFill>
              </a:rPr>
              <a:t>: </a:t>
            </a:r>
            <a:r>
              <a:rPr lang="en-GB" sz="1050" dirty="0">
                <a:solidFill>
                  <a:srgbClr val="C00000"/>
                </a:solidFill>
              </a:rPr>
              <a:t>outer loading &lt; 0.5 &amp;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1.96; 2) Formative: outer weights &lt; 0.2 or VIF &gt; 3.3 &amp;</a:t>
            </a:r>
            <a:r>
              <a:rPr lang="en-GB" sz="1050" dirty="0">
                <a:solidFill>
                  <a:srgbClr val="C00000"/>
                </a:solidFill>
              </a:rPr>
              <a:t>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  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8017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3A6C-DA7D-E9FF-5E0B-2947E062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6C25A1-CAA0-CE95-0466-B10B57A13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9499"/>
              </p:ext>
            </p:extLst>
          </p:nvPr>
        </p:nvGraphicFramePr>
        <p:xfrm>
          <a:off x="360828" y="806288"/>
          <a:ext cx="11470347" cy="5628428"/>
        </p:xfrm>
        <a:graphic>
          <a:graphicData uri="http://schemas.openxmlformats.org/drawingml/2006/table">
            <a:tbl>
              <a:tblPr firstRow="1" firstCol="1">
                <a:tableStyleId>{793D81CF-94F2-401A-BA57-92F5A7B2D0C5}</a:tableStyleId>
              </a:tblPr>
              <a:tblGrid>
                <a:gridCol w="878445">
                  <a:extLst>
                    <a:ext uri="{9D8B030D-6E8A-4147-A177-3AD203B41FA5}">
                      <a16:colId xmlns:a16="http://schemas.microsoft.com/office/drawing/2014/main" val="4187685912"/>
                    </a:ext>
                  </a:extLst>
                </a:gridCol>
                <a:gridCol w="548584">
                  <a:extLst>
                    <a:ext uri="{9D8B030D-6E8A-4147-A177-3AD203B41FA5}">
                      <a16:colId xmlns:a16="http://schemas.microsoft.com/office/drawing/2014/main" val="464818759"/>
                    </a:ext>
                  </a:extLst>
                </a:gridCol>
                <a:gridCol w="1701247">
                  <a:extLst>
                    <a:ext uri="{9D8B030D-6E8A-4147-A177-3AD203B41FA5}">
                      <a16:colId xmlns:a16="http://schemas.microsoft.com/office/drawing/2014/main" val="3705544634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461465563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2705932792"/>
                    </a:ext>
                  </a:extLst>
                </a:gridCol>
                <a:gridCol w="963443">
                  <a:extLst>
                    <a:ext uri="{9D8B030D-6E8A-4147-A177-3AD203B41FA5}">
                      <a16:colId xmlns:a16="http://schemas.microsoft.com/office/drawing/2014/main" val="3112367060"/>
                    </a:ext>
                  </a:extLst>
                </a:gridCol>
                <a:gridCol w="1015831">
                  <a:extLst>
                    <a:ext uri="{9D8B030D-6E8A-4147-A177-3AD203B41FA5}">
                      <a16:colId xmlns:a16="http://schemas.microsoft.com/office/drawing/2014/main" val="2074996668"/>
                    </a:ext>
                  </a:extLst>
                </a:gridCol>
                <a:gridCol w="1149002">
                  <a:extLst>
                    <a:ext uri="{9D8B030D-6E8A-4147-A177-3AD203B41FA5}">
                      <a16:colId xmlns:a16="http://schemas.microsoft.com/office/drawing/2014/main" val="3920882787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630609569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3208346022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558437363"/>
                    </a:ext>
                  </a:extLst>
                </a:gridCol>
              </a:tblGrid>
              <a:tr h="159356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Latent variable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Indicators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Indicator Significance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 dirty="0">
                        <a:solidFill>
                          <a:schemeClr val="tx1"/>
                        </a:solidFill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Collinearity Check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Convergent validity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Internal consistency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Discriminant validity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Significance Testing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561350"/>
                  </a:ext>
                </a:extLst>
              </a:tr>
              <a:tr h="30932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Weights </a:t>
                      </a:r>
                      <a:r>
                        <a:rPr lang="en-DE" sz="800" dirty="0"/>
                        <a:t>≥ 0.2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Loadings</a:t>
                      </a:r>
                      <a:r>
                        <a:rPr lang="en-DE" sz="800" dirty="0"/>
                        <a:t>≥ 0.5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VIF  &lt; 3.3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 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Composite reliability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Cross-Loadings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Weights &gt; 1.96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Loadings &gt; 1.96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356081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_Wild boar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CP_WB1: Occur</a:t>
                      </a:r>
                      <a:r>
                        <a:rPr lang="en-GB" sz="800" u="none" strike="noStrike" dirty="0">
                          <a:effectLst/>
                        </a:rPr>
                        <a:t>r</a:t>
                      </a:r>
                      <a:r>
                        <a:rPr lang="en-DE" sz="800" u="none" strike="noStrike" dirty="0">
                          <a:effectLst/>
                        </a:rPr>
                        <a:t>ence </a:t>
                      </a:r>
                      <a:r>
                        <a:rPr lang="en-GB" sz="800" dirty="0"/>
                        <a:t>Frequency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0.457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0.750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1.307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2.968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6.882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83739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CP_WB2: Annual Duration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0.368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0.548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1.240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1.410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2.525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240838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CP_WB3: Conflict Frequency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0.520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1.135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3.704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4.368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23231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dirty="0"/>
                        <a:t>CP_WB4: Population Trend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0.422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0.588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1.155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2.233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3.142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744874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_All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Formative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CP_A1: </a:t>
                      </a:r>
                      <a:r>
                        <a:rPr lang="en-DE" sz="800" strike="sngStrike" dirty="0"/>
                        <a:t>Conflict-causing Species Number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06314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CP_A2: </a:t>
                      </a:r>
                      <a:r>
                        <a:rPr lang="en-DE" sz="800" strike="sngStrike" dirty="0"/>
                        <a:t>Percieved Conflict Severity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229135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CP_A3: </a:t>
                      </a:r>
                      <a:r>
                        <a:rPr lang="en-DE" sz="800" strike="sngStrike" dirty="0"/>
                        <a:t>Conflict Duration 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428510"/>
                  </a:ext>
                </a:extLst>
              </a:tr>
              <a:tr h="30932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Prevention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PE: Average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1.094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656512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r>
                        <a:rPr lang="en-GB" sz="800" strike="sngStrike" dirty="0"/>
                        <a:t>Compensation Experience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Formative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CE1: Timeliness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669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CE2: Satisfaction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032467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Compensation Anticipation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CA1: Lowest Accepted Percentage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609511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strike="noStrike" dirty="0"/>
                        <a:t>CA2: Expected Percentage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-0.283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0.095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1.223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-1.258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0.606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8428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dirty="0"/>
                        <a:t>CA3:Annual Insurance Payment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1.065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0.964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1.449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6.574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1.172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563986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Policy Support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PS1: Reported Institute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58180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PS2: Knowledge Obtained Method</a:t>
                      </a:r>
                      <a:endParaRPr lang="en-DE" sz="800" dirty="0"/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1.073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686729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TC1: Damage Area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1.344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99445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u="none" strike="noStrike" dirty="0">
                          <a:effectLst/>
                        </a:rPr>
                        <a:t>TC2: Perceived economic loss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015728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IC1: General Attitude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0.946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0.974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1.502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23.591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34.403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89036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IC2_1</a:t>
                      </a: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0.230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0.344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1.102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2.21</a:t>
                      </a:r>
                      <a:r>
                        <a:rPr kumimoji="0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3.103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05118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IC2_2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70570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IC2_3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09482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Benifit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IB: Ecological Value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1.170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797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Q4_Gender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736378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Q5_Age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4875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Q6_Education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2576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AnnualIncome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Q8_AnnualIncome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345190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HouseholdAsset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sngStrike" dirty="0">
                          <a:solidFill>
                            <a:srgbClr val="C00000"/>
                          </a:solidFill>
                          <a:effectLst/>
                        </a:rPr>
                        <a:t>Q14_CropAsset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521082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Tolerance</a:t>
                      </a:r>
                    </a:p>
                    <a:p>
                      <a:pPr algn="l" fontAlgn="b"/>
                      <a:r>
                        <a:rPr lang="en-DE" sz="8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0.2493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Reflective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Tol1: Killing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0.404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0.728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1.453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0.570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0.798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8.84</a:t>
                      </a:r>
                      <a:r>
                        <a:rPr kumimoji="0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12.815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7168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Tol2: Population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0.466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0.830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1.609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13.4</a:t>
                      </a:r>
                      <a:r>
                        <a:rPr kumimoji="0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26.672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88448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Tol3: </a:t>
                      </a: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Spatial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7238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Tol4: Loss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0.455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0.702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1.321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7.362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13.784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85761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8C6EB34D-867F-D5D7-71C2-3AD9234CD688}"/>
              </a:ext>
            </a:extLst>
          </p:cNvPr>
          <p:cNvSpPr txBox="1">
            <a:spLocks/>
          </p:cNvSpPr>
          <p:nvPr/>
        </p:nvSpPr>
        <p:spPr>
          <a:xfrm>
            <a:off x="360828" y="240218"/>
            <a:ext cx="11648292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2.1 - without compensation (n=348) - Measurement Model (GOODNESS-OF-FIT 0.2117)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BE2EF-C378-8F58-BE31-D6BBC78659A2}"/>
              </a:ext>
            </a:extLst>
          </p:cNvPr>
          <p:cNvSpPr txBox="1"/>
          <p:nvPr/>
        </p:nvSpPr>
        <p:spPr>
          <a:xfrm>
            <a:off x="360828" y="6596390"/>
            <a:ext cx="114703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>
                <a:solidFill>
                  <a:srgbClr val="C00000"/>
                </a:solidFill>
              </a:rPr>
              <a:t>Deleted variables: 1) Reflective</a:t>
            </a:r>
            <a:r>
              <a:rPr lang="en-US" sz="1050" dirty="0">
                <a:solidFill>
                  <a:srgbClr val="C00000"/>
                </a:solidFill>
              </a:rPr>
              <a:t>: </a:t>
            </a:r>
            <a:r>
              <a:rPr lang="en-GB" sz="1050" dirty="0">
                <a:solidFill>
                  <a:srgbClr val="C00000"/>
                </a:solidFill>
              </a:rPr>
              <a:t>outer loading &lt; 0.5 &amp;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1.96; 2) Formative: outer weights &lt; 0.2 or VIF &gt; 3.3 &amp;</a:t>
            </a:r>
            <a:r>
              <a:rPr lang="en-GB" sz="1050" dirty="0">
                <a:solidFill>
                  <a:srgbClr val="C00000"/>
                </a:solidFill>
              </a:rPr>
              <a:t>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  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3025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9CD3C-68F4-1F60-D0ED-0A5A6D392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C84A47-35C9-DCF2-A5C1-1FDBF0303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971295"/>
              </p:ext>
            </p:extLst>
          </p:nvPr>
        </p:nvGraphicFramePr>
        <p:xfrm>
          <a:off x="360828" y="806288"/>
          <a:ext cx="11470347" cy="5628428"/>
        </p:xfrm>
        <a:graphic>
          <a:graphicData uri="http://schemas.openxmlformats.org/drawingml/2006/table">
            <a:tbl>
              <a:tblPr firstRow="1" firstCol="1">
                <a:tableStyleId>{793D81CF-94F2-401A-BA57-92F5A7B2D0C5}</a:tableStyleId>
              </a:tblPr>
              <a:tblGrid>
                <a:gridCol w="878445">
                  <a:extLst>
                    <a:ext uri="{9D8B030D-6E8A-4147-A177-3AD203B41FA5}">
                      <a16:colId xmlns:a16="http://schemas.microsoft.com/office/drawing/2014/main" val="4187685912"/>
                    </a:ext>
                  </a:extLst>
                </a:gridCol>
                <a:gridCol w="548584">
                  <a:extLst>
                    <a:ext uri="{9D8B030D-6E8A-4147-A177-3AD203B41FA5}">
                      <a16:colId xmlns:a16="http://schemas.microsoft.com/office/drawing/2014/main" val="464818759"/>
                    </a:ext>
                  </a:extLst>
                </a:gridCol>
                <a:gridCol w="1701247">
                  <a:extLst>
                    <a:ext uri="{9D8B030D-6E8A-4147-A177-3AD203B41FA5}">
                      <a16:colId xmlns:a16="http://schemas.microsoft.com/office/drawing/2014/main" val="3705544634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461465563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2705932792"/>
                    </a:ext>
                  </a:extLst>
                </a:gridCol>
                <a:gridCol w="963443">
                  <a:extLst>
                    <a:ext uri="{9D8B030D-6E8A-4147-A177-3AD203B41FA5}">
                      <a16:colId xmlns:a16="http://schemas.microsoft.com/office/drawing/2014/main" val="3112367060"/>
                    </a:ext>
                  </a:extLst>
                </a:gridCol>
                <a:gridCol w="1015831">
                  <a:extLst>
                    <a:ext uri="{9D8B030D-6E8A-4147-A177-3AD203B41FA5}">
                      <a16:colId xmlns:a16="http://schemas.microsoft.com/office/drawing/2014/main" val="2074996668"/>
                    </a:ext>
                  </a:extLst>
                </a:gridCol>
                <a:gridCol w="1149002">
                  <a:extLst>
                    <a:ext uri="{9D8B030D-6E8A-4147-A177-3AD203B41FA5}">
                      <a16:colId xmlns:a16="http://schemas.microsoft.com/office/drawing/2014/main" val="3920882787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630609569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3208346022"/>
                    </a:ext>
                  </a:extLst>
                </a:gridCol>
                <a:gridCol w="1042759">
                  <a:extLst>
                    <a:ext uri="{9D8B030D-6E8A-4147-A177-3AD203B41FA5}">
                      <a16:colId xmlns:a16="http://schemas.microsoft.com/office/drawing/2014/main" val="1558437363"/>
                    </a:ext>
                  </a:extLst>
                </a:gridCol>
              </a:tblGrid>
              <a:tr h="159356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Latent variable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Indicators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Indicator Significance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 dirty="0">
                        <a:solidFill>
                          <a:schemeClr val="tx1"/>
                        </a:solidFill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Collinearity Check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Convergent validity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Internal consistency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Discriminant validity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Significance Testing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561350"/>
                  </a:ext>
                </a:extLst>
              </a:tr>
              <a:tr h="30932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Weights </a:t>
                      </a:r>
                      <a:r>
                        <a:rPr lang="en-DE" sz="800" dirty="0"/>
                        <a:t>≥ 0.2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Loadings</a:t>
                      </a:r>
                      <a:r>
                        <a:rPr lang="en-DE" sz="800" dirty="0"/>
                        <a:t>≥ 0.5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Outer VIF  &lt; 3.3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 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altLang="zh-CN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Composite reliability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Cross-Loadings</a:t>
                      </a:r>
                      <a:endParaRPr lang="en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Weights &gt; 1.96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values of Outer Loadings &gt; 1.96</a:t>
                      </a:r>
                    </a:p>
                  </a:txBody>
                  <a:tcPr marL="7635" marR="7635" marT="763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356081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_Wild boar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Formative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CP_WB1: Occur</a:t>
                      </a:r>
                      <a:r>
                        <a:rPr lang="en-GB" sz="800" u="none" strike="noStrike" dirty="0">
                          <a:effectLst/>
                        </a:rPr>
                        <a:t>r</a:t>
                      </a:r>
                      <a:r>
                        <a:rPr lang="en-DE" sz="800" u="none" strike="noStrike" dirty="0">
                          <a:effectLst/>
                        </a:rPr>
                        <a:t>ence </a:t>
                      </a:r>
                      <a:r>
                        <a:rPr lang="en-GB" sz="800" dirty="0"/>
                        <a:t>Frequency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0.441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0.739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1.290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3.24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7.828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83739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CP_WB2: Annual Duration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0.370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0.546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1.236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1.535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2.690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240838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CP_WB3: Conflict Frequency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0.419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0.535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1.133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4.029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4.777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23231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dirty="0"/>
                        <a:t>CP_WB4: Population Trend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0.423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0.587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1.145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2.518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3.558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744874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Conflict Experience</a:t>
                      </a:r>
                    </a:p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_All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Formative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CP_A1: </a:t>
                      </a:r>
                      <a:r>
                        <a:rPr lang="en-DE" sz="800" strike="sngStrike" dirty="0"/>
                        <a:t>Conflict-causing Species Number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06314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CP_A2: </a:t>
                      </a:r>
                      <a:r>
                        <a:rPr lang="en-DE" sz="800" strike="sngStrike" dirty="0"/>
                        <a:t>Percieved Conflict Severity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229135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CP_A3: </a:t>
                      </a:r>
                      <a:r>
                        <a:rPr lang="en-DE" sz="800" strike="sngStrike" dirty="0"/>
                        <a:t>Conflict Duration 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428510"/>
                  </a:ext>
                </a:extLst>
              </a:tr>
              <a:tr h="30932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Prevention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PE: Average Effectiveness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1.085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656512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r>
                        <a:rPr lang="en-GB" sz="800" strike="sngStrike" dirty="0"/>
                        <a:t>Compensation Experience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sngStrike" dirty="0">
                          <a:effectLst/>
                        </a:rPr>
                        <a:t>Formative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CE1: Timeliness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669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CE2: Satisfaction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032467"/>
                  </a:ext>
                </a:extLst>
              </a:tr>
              <a:tr h="161681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Compensation Anticipation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CA1: Lowest Accepted Percentage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609511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strike="noStrike" dirty="0"/>
                        <a:t>CA2: Expected Percentage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84281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dirty="0"/>
                        <a:t>CA3:Annual Insurance Payment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1.266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563986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Policy Support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PS1: Reported Institute 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58180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PS2: Knowledge Obtained Method</a:t>
                      </a:r>
                      <a:endParaRPr lang="en-DE" sz="800" dirty="0"/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1.069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686729"/>
                  </a:ext>
                </a:extLst>
              </a:tr>
              <a:tr h="161681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TC1: Damage Area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1.342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99445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u="none" strike="noStrike" dirty="0">
                          <a:effectLst/>
                        </a:rPr>
                        <a:t>TC2: Perceived economic loss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015728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Cost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IC1: General Attitude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1.462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89036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IC2_1</a:t>
                      </a:r>
                    </a:p>
                  </a:txBody>
                  <a:tcPr marL="7635" marR="7635" marT="763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05118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IC2_2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705700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IC2_3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09482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Intangible Benifit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>
                          <a:effectLst/>
                        </a:rPr>
                        <a:t>IB: Ecological Value</a:t>
                      </a: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1.135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797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Q4_Gender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736378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Q5_Age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487549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Q6_Education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2576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AnnualIncome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u="none" strike="sng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Q8_AnnualIncome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345190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b="1" strike="sng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HouseholdAsset</a:t>
                      </a: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DE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Manifest</a:t>
                      </a:r>
                      <a:endParaRPr lang="en-DE" sz="8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sngStrike" dirty="0">
                          <a:solidFill>
                            <a:srgbClr val="C00000"/>
                          </a:solidFill>
                          <a:effectLst/>
                        </a:rPr>
                        <a:t>Q14_CropAsset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521082"/>
                  </a:ext>
                </a:extLst>
              </a:tr>
              <a:tr h="161681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Tolerance</a:t>
                      </a:r>
                    </a:p>
                    <a:p>
                      <a:pPr algn="l" fontAlgn="b"/>
                      <a:r>
                        <a:rPr lang="en-DE" sz="8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0.234</a:t>
                      </a:r>
                      <a:r>
                        <a:rPr lang="en-US" altLang="zh-CN" sz="8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DE" sz="800" b="1" i="0" u="none" strike="noStrike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Reflective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Tol1: Killing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0.394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0.719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1.435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0.5</a:t>
                      </a:r>
                      <a:r>
                        <a:rPr kumimoji="0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69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0.798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7.462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11.748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71682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Tol2: Population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0.465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0.828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1.601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12.917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28.356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884486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r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Tol3: </a:t>
                      </a:r>
                      <a:r>
                        <a:rPr lang="en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Spatial</a:t>
                      </a:r>
                    </a:p>
                  </a:txBody>
                  <a:tcPr marL="7635" marR="7635" marT="763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72387"/>
                  </a:ext>
                </a:extLst>
              </a:tr>
              <a:tr h="161681"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800" u="none" strike="noStrike" dirty="0">
                          <a:effectLst/>
                        </a:rPr>
                        <a:t>Tol4: Loss</a:t>
                      </a:r>
                      <a:endParaRPr lang="en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0.466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0.711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1.320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7.577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DE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13.647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kumimoji="0" lang="en-DE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85761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DDDE4AD1-A585-3915-77B0-10950FB0B11F}"/>
              </a:ext>
            </a:extLst>
          </p:cNvPr>
          <p:cNvSpPr txBox="1">
            <a:spLocks/>
          </p:cNvSpPr>
          <p:nvPr/>
        </p:nvSpPr>
        <p:spPr>
          <a:xfrm>
            <a:off x="360828" y="240218"/>
            <a:ext cx="11744085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2.2 - without compensation (n=348) - Measurement Model (GOODNESS-OF-FIT 0.2052)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6E3B3B-E5B3-BEB0-1E34-3481132FC609}"/>
              </a:ext>
            </a:extLst>
          </p:cNvPr>
          <p:cNvSpPr txBox="1"/>
          <p:nvPr/>
        </p:nvSpPr>
        <p:spPr>
          <a:xfrm>
            <a:off x="360828" y="6596390"/>
            <a:ext cx="114703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>
                <a:solidFill>
                  <a:srgbClr val="C00000"/>
                </a:solidFill>
              </a:rPr>
              <a:t>Deleted variables: 1) Reflective</a:t>
            </a:r>
            <a:r>
              <a:rPr lang="en-US" sz="1050" dirty="0">
                <a:solidFill>
                  <a:srgbClr val="C00000"/>
                </a:solidFill>
              </a:rPr>
              <a:t>: </a:t>
            </a:r>
            <a:r>
              <a:rPr lang="en-GB" sz="1050" dirty="0">
                <a:solidFill>
                  <a:srgbClr val="C00000"/>
                </a:solidFill>
              </a:rPr>
              <a:t>outer loading &lt; 0.5 &amp;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1.96; 2) Formative: outer weights &lt; 0.2 or VIF &gt; 3.3 &amp;</a:t>
            </a:r>
            <a:r>
              <a:rPr lang="en-GB" sz="1050" dirty="0">
                <a:solidFill>
                  <a:srgbClr val="C00000"/>
                </a:solidFill>
              </a:rPr>
              <a:t> t</a:t>
            </a:r>
            <a:r>
              <a:rPr lang="en-US" sz="1050" dirty="0">
                <a:solidFill>
                  <a:srgbClr val="C00000"/>
                </a:solidFill>
              </a:rPr>
              <a:t> value</a:t>
            </a:r>
            <a:r>
              <a:rPr lang="zh-CN" altLang="en-US" sz="1050" dirty="0">
                <a:solidFill>
                  <a:srgbClr val="C00000"/>
                </a:solidFill>
              </a:rPr>
              <a:t> </a:t>
            </a:r>
            <a:r>
              <a:rPr lang="en-US" altLang="zh-CN" sz="1050" dirty="0">
                <a:solidFill>
                  <a:srgbClr val="C00000"/>
                </a:solidFill>
              </a:rPr>
              <a:t>&lt; 1.96  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550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F13E2-3201-43E2-947C-AADC071B7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B5FB94-9E98-D2D9-1D14-778F3C9AD458}"/>
              </a:ext>
            </a:extLst>
          </p:cNvPr>
          <p:cNvGraphicFramePr>
            <a:graphicFrameLocks noGrp="1"/>
          </p:cNvGraphicFramePr>
          <p:nvPr/>
        </p:nvGraphicFramePr>
        <p:xfrm>
          <a:off x="360829" y="741734"/>
          <a:ext cx="11143310" cy="5069403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379036">
                  <a:extLst>
                    <a:ext uri="{9D8B030D-6E8A-4147-A177-3AD203B41FA5}">
                      <a16:colId xmlns:a16="http://schemas.microsoft.com/office/drawing/2014/main" val="749563485"/>
                    </a:ext>
                  </a:extLst>
                </a:gridCol>
                <a:gridCol w="173647">
                  <a:extLst>
                    <a:ext uri="{9D8B030D-6E8A-4147-A177-3AD203B41FA5}">
                      <a16:colId xmlns:a16="http://schemas.microsoft.com/office/drawing/2014/main" val="2031556608"/>
                    </a:ext>
                  </a:extLst>
                </a:gridCol>
                <a:gridCol w="1380163">
                  <a:extLst>
                    <a:ext uri="{9D8B030D-6E8A-4147-A177-3AD203B41FA5}">
                      <a16:colId xmlns:a16="http://schemas.microsoft.com/office/drawing/2014/main" val="3343153147"/>
                    </a:ext>
                  </a:extLst>
                </a:gridCol>
                <a:gridCol w="493612">
                  <a:extLst>
                    <a:ext uri="{9D8B030D-6E8A-4147-A177-3AD203B41FA5}">
                      <a16:colId xmlns:a16="http://schemas.microsoft.com/office/drawing/2014/main" val="2157173871"/>
                    </a:ext>
                  </a:extLst>
                </a:gridCol>
                <a:gridCol w="640935">
                  <a:extLst>
                    <a:ext uri="{9D8B030D-6E8A-4147-A177-3AD203B41FA5}">
                      <a16:colId xmlns:a16="http://schemas.microsoft.com/office/drawing/2014/main" val="2521125321"/>
                    </a:ext>
                  </a:extLst>
                </a:gridCol>
                <a:gridCol w="572568">
                  <a:extLst>
                    <a:ext uri="{9D8B030D-6E8A-4147-A177-3AD203B41FA5}">
                      <a16:colId xmlns:a16="http://schemas.microsoft.com/office/drawing/2014/main" val="1048908395"/>
                    </a:ext>
                  </a:extLst>
                </a:gridCol>
                <a:gridCol w="623843">
                  <a:extLst>
                    <a:ext uri="{9D8B030D-6E8A-4147-A177-3AD203B41FA5}">
                      <a16:colId xmlns:a16="http://schemas.microsoft.com/office/drawing/2014/main" val="1968220880"/>
                    </a:ext>
                  </a:extLst>
                </a:gridCol>
                <a:gridCol w="572568">
                  <a:extLst>
                    <a:ext uri="{9D8B030D-6E8A-4147-A177-3AD203B41FA5}">
                      <a16:colId xmlns:a16="http://schemas.microsoft.com/office/drawing/2014/main" val="775436418"/>
                    </a:ext>
                  </a:extLst>
                </a:gridCol>
                <a:gridCol w="764188">
                  <a:extLst>
                    <a:ext uri="{9D8B030D-6E8A-4147-A177-3AD203B41FA5}">
                      <a16:colId xmlns:a16="http://schemas.microsoft.com/office/drawing/2014/main" val="3571124772"/>
                    </a:ext>
                  </a:extLst>
                </a:gridCol>
                <a:gridCol w="4542750">
                  <a:extLst>
                    <a:ext uri="{9D8B030D-6E8A-4147-A177-3AD203B41FA5}">
                      <a16:colId xmlns:a16="http://schemas.microsoft.com/office/drawing/2014/main" val="2235612017"/>
                    </a:ext>
                  </a:extLst>
                </a:gridCol>
              </a:tblGrid>
              <a:tr h="215499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DE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Path</a:t>
                      </a: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D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467" marR="6467" marT="6467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effectLst/>
                        </a:rPr>
                        <a:t>Original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 err="1">
                          <a:effectLst/>
                        </a:rPr>
                        <a:t>Mean.Boot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 err="1">
                          <a:effectLst/>
                        </a:rPr>
                        <a:t>Std.Error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effectLst/>
                        </a:rPr>
                        <a:t>perc.025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u="none" strike="noStrike" dirty="0">
                          <a:effectLst/>
                        </a:rPr>
                        <a:t>perc.975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zh-CN" altLang="en-US" sz="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GB" sz="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Tips</a:t>
                      </a:r>
                    </a:p>
                  </a:txBody>
                  <a:tcPr marL="6467" marR="6467" marT="6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08055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-0.076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0.163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843086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0.212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3.283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human-wild boar conflict is more frequent, people prefer to spend more in the insurance.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547083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-0.032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1.504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03332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0.171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0.365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2.172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human-wild boar conflict is more frequent, people feel more tangible cost.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649503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0.328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4.277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human-wild boar conflict is more frequent, people feel more intangible cost.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929447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-0.120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-0.126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-0.231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-0.008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-2.105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human-wild boar conflict is more frequent, people feel less intangible benefits.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24614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ConflictExp_WB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-0.079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-0.083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-0.202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-1.255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72552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-0.027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1.408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61786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-0.019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-0.024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-0.130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-0.350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329159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-0.029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0.175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1.369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970133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Prevention_Effectiveness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1.920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prevention is more effective, people show higher tolerance to wild boars.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478026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0.361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0.329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0.161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2.248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people prefer to spend more in the insurance, they feel more tangible costs.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269630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-0.064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587038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-0.092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-0.089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-0.190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-1.620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253074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Compensation_Anticipation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-0.040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1.203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338653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-0.056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745816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2.708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people seek for more policy support, they feel more intangible costs.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730550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-0.066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40349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Policy_Support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-0.005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-0.013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-0.116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-0.102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110243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Tangible_Costs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-0.037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0.937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640345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Intangible_Costs</a:t>
                      </a:r>
                      <a:endParaRPr lang="en-GB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-0.350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-0.353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-0.462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-0.235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-5.799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people feel more intangible costs, they show lower tolerance to wild boars.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400533"/>
                  </a:ext>
                </a:extLst>
              </a:tr>
              <a:tr h="220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Intangible_Benefits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Tolerance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0.213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0.295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4.410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***</a:t>
                      </a:r>
                      <a:endParaRPr lang="en-DE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DE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people feel more intangible benefits, they show higher tolerance to wild boars.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12110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DDF6FEF-C207-6EDD-AEA4-CE4F61074145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2.2 - without compensation (n=348) : Structure Model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64584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14D2D-53AB-19C0-1BC9-6E2690176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129C7FFD-705E-1702-ED76-BC3B5EAA4D1F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2 - without compensation (n=348) 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28A2A51-ED9F-FABD-27DC-5ABAFA90C08C}"/>
              </a:ext>
            </a:extLst>
          </p:cNvPr>
          <p:cNvGrpSpPr/>
          <p:nvPr/>
        </p:nvGrpSpPr>
        <p:grpSpPr>
          <a:xfrm>
            <a:off x="3885878" y="2078706"/>
            <a:ext cx="2867691" cy="3367339"/>
            <a:chOff x="2517157" y="3186676"/>
            <a:chExt cx="2983133" cy="336733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266D3FB-CEC2-576B-AC97-E02CA2D26AEB}"/>
                </a:ext>
              </a:extLst>
            </p:cNvPr>
            <p:cNvGrpSpPr/>
            <p:nvPr/>
          </p:nvGrpSpPr>
          <p:grpSpPr>
            <a:xfrm>
              <a:off x="2517159" y="3186676"/>
              <a:ext cx="2983131" cy="598315"/>
              <a:chOff x="1620560" y="3614915"/>
              <a:chExt cx="2983131" cy="598315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306999-8F48-A432-2926-7D0F4B478BC6}"/>
                  </a:ext>
                </a:extLst>
              </p:cNvPr>
              <p:cNvSpPr txBox="1"/>
              <p:nvPr/>
            </p:nvSpPr>
            <p:spPr>
              <a:xfrm>
                <a:off x="1620561" y="3614915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Prevention Effectiveness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E017CE-4B85-0789-2F15-BFEC28799F76}"/>
                  </a:ext>
                </a:extLst>
              </p:cNvPr>
              <p:cNvSpPr txBox="1"/>
              <p:nvPr/>
            </p:nvSpPr>
            <p:spPr>
              <a:xfrm>
                <a:off x="1620560" y="3951620"/>
                <a:ext cx="298313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sz="1100" dirty="0"/>
                  <a:t>Average Effectiveness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4E72D639-7A95-C6DD-95C6-C9D273434AA7}"/>
                </a:ext>
              </a:extLst>
            </p:cNvPr>
            <p:cNvGrpSpPr/>
            <p:nvPr/>
          </p:nvGrpSpPr>
          <p:grpSpPr>
            <a:xfrm>
              <a:off x="2517157" y="4766021"/>
              <a:ext cx="2983130" cy="940136"/>
              <a:chOff x="1620556" y="4734443"/>
              <a:chExt cx="2983130" cy="94013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538923-802E-2C1C-C048-8B058D77600E}"/>
                  </a:ext>
                </a:extLst>
              </p:cNvPr>
              <p:cNvSpPr txBox="1"/>
              <p:nvPr/>
            </p:nvSpPr>
            <p:spPr>
              <a:xfrm>
                <a:off x="1620556" y="4734443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Compensation Anticipation 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2A857C-571A-A1A2-6CF5-A007F6FB7375}"/>
                  </a:ext>
                </a:extLst>
              </p:cNvPr>
              <p:cNvSpPr txBox="1"/>
              <p:nvPr/>
            </p:nvSpPr>
            <p:spPr>
              <a:xfrm>
                <a:off x="1620556" y="5074415"/>
                <a:ext cx="2983130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strike="sngStrike" dirty="0"/>
                  <a:t>Lowest Accepted Percentage, </a:t>
                </a:r>
              </a:p>
              <a:p>
                <a:pPr marL="228600" indent="-228600">
                  <a:buAutoNum type="arabicParenR"/>
                </a:pPr>
                <a:r>
                  <a:rPr lang="en-GB" sz="1100" strike="sngStrike" dirty="0"/>
                  <a:t>Expected Percentage,</a:t>
                </a:r>
              </a:p>
              <a:p>
                <a:pPr marL="228600" indent="-228600">
                  <a:buAutoNum type="arabicParenR"/>
                </a:pPr>
                <a:r>
                  <a:rPr lang="en-GB" sz="1100" dirty="0"/>
                  <a:t>Annual Insurance Payment</a:t>
                </a:r>
                <a:endParaRPr lang="en-DE" sz="1100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3437D5C-028F-43FB-5E7B-7871AACFCBA7}"/>
                </a:ext>
              </a:extLst>
            </p:cNvPr>
            <p:cNvGrpSpPr/>
            <p:nvPr/>
          </p:nvGrpSpPr>
          <p:grpSpPr>
            <a:xfrm>
              <a:off x="2517157" y="5801431"/>
              <a:ext cx="2983132" cy="752584"/>
              <a:chOff x="1620559" y="5985951"/>
              <a:chExt cx="2983132" cy="75258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243893-0A48-D19F-B2C5-24ACE0028304}"/>
                  </a:ext>
                </a:extLst>
              </p:cNvPr>
              <p:cNvSpPr txBox="1"/>
              <p:nvPr/>
            </p:nvSpPr>
            <p:spPr>
              <a:xfrm>
                <a:off x="1620561" y="5985951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Policy Dependency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E127FA-9B5A-873B-091E-5F989357DC0B}"/>
                  </a:ext>
                </a:extLst>
              </p:cNvPr>
              <p:cNvSpPr txBox="1"/>
              <p:nvPr/>
            </p:nvSpPr>
            <p:spPr>
              <a:xfrm>
                <a:off x="1620559" y="6307648"/>
                <a:ext cx="298313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US" sz="1100" strike="sngStrike" dirty="0"/>
                  <a:t>Supportive Institute, </a:t>
                </a:r>
              </a:p>
              <a:p>
                <a:pPr marL="228600" indent="-228600">
                  <a:buAutoNum type="arabicParenR"/>
                </a:pPr>
                <a:r>
                  <a:rPr lang="en-US" sz="1100" dirty="0"/>
                  <a:t>Knowledge Obtained Method</a:t>
                </a:r>
                <a:endParaRPr lang="en-DE" sz="1100" dirty="0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4D9498D-E17C-D99F-1DD2-218323C35B1D}"/>
              </a:ext>
            </a:extLst>
          </p:cNvPr>
          <p:cNvGrpSpPr/>
          <p:nvPr/>
        </p:nvGrpSpPr>
        <p:grpSpPr>
          <a:xfrm>
            <a:off x="7493159" y="2077125"/>
            <a:ext cx="2199398" cy="2513238"/>
            <a:chOff x="6525785" y="1076519"/>
            <a:chExt cx="2386305" cy="251323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B29459D-7E56-C57B-0A1E-A577E2245925}"/>
                </a:ext>
              </a:extLst>
            </p:cNvPr>
            <p:cNvGrpSpPr/>
            <p:nvPr/>
          </p:nvGrpSpPr>
          <p:grpSpPr>
            <a:xfrm>
              <a:off x="6525786" y="1076519"/>
              <a:ext cx="2386304" cy="740358"/>
              <a:chOff x="6142215" y="3162292"/>
              <a:chExt cx="2386304" cy="74035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2A3DDF3-6654-45CB-A9D1-D906C6CA4EF0}"/>
                  </a:ext>
                </a:extLst>
              </p:cNvPr>
              <p:cNvSpPr txBox="1"/>
              <p:nvPr/>
            </p:nvSpPr>
            <p:spPr>
              <a:xfrm>
                <a:off x="6142215" y="3162292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Tangible Cost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143DDC-BD23-ABDD-C256-C4FD492FE263}"/>
                  </a:ext>
                </a:extLst>
              </p:cNvPr>
              <p:cNvSpPr txBox="1"/>
              <p:nvPr/>
            </p:nvSpPr>
            <p:spPr>
              <a:xfrm>
                <a:off x="6142218" y="3471763"/>
                <a:ext cx="238630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DE" sz="1100" dirty="0"/>
                  <a:t>Damage Area, </a:t>
                </a:r>
              </a:p>
              <a:p>
                <a:pPr marL="228600" indent="-228600">
                  <a:buAutoNum type="arabicParenR"/>
                </a:pPr>
                <a:r>
                  <a:rPr lang="en-GB" sz="1100" strike="sngStrike" dirty="0"/>
                  <a:t>Perceived</a:t>
                </a:r>
                <a:r>
                  <a:rPr lang="en-DE" sz="1100" strike="sngStrike" dirty="0"/>
                  <a:t> economic loss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78C33F3-BA03-ADC9-ABC9-403FDA61E732}"/>
                </a:ext>
              </a:extLst>
            </p:cNvPr>
            <p:cNvGrpSpPr/>
            <p:nvPr/>
          </p:nvGrpSpPr>
          <p:grpSpPr>
            <a:xfrm>
              <a:off x="6525787" y="1970943"/>
              <a:ext cx="2386302" cy="932427"/>
              <a:chOff x="6142216" y="4056716"/>
              <a:chExt cx="2386302" cy="93242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7139D4-811A-4924-E901-944A342CEF3E}"/>
                  </a:ext>
                </a:extLst>
              </p:cNvPr>
              <p:cNvSpPr txBox="1"/>
              <p:nvPr/>
            </p:nvSpPr>
            <p:spPr>
              <a:xfrm>
                <a:off x="6142218" y="4056716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Intangible Cost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52A6BC9-C87A-3DC8-F14E-C89F1B6AC3E9}"/>
                  </a:ext>
                </a:extLst>
              </p:cNvPr>
              <p:cNvSpPr txBox="1"/>
              <p:nvPr/>
            </p:nvSpPr>
            <p:spPr>
              <a:xfrm>
                <a:off x="6142216" y="4388979"/>
                <a:ext cx="2386301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AutoNum type="arabicParenR"/>
                </a:pPr>
                <a:r>
                  <a:rPr lang="en-US" sz="1100" dirty="0"/>
                  <a:t>General</a:t>
                </a:r>
                <a:r>
                  <a:rPr lang="en-DE" sz="1100" dirty="0"/>
                  <a:t> Attitude, </a:t>
                </a:r>
              </a:p>
              <a:p>
                <a:pPr marL="228600" indent="-228600">
                  <a:buAutoNum type="arabicParenR"/>
                </a:pPr>
                <a:r>
                  <a:rPr lang="en-DE" sz="1100" strike="sngStrike" dirty="0"/>
                  <a:t>Descriptive Attitude: First, Second, Third</a:t>
                </a:r>
                <a:r>
                  <a:rPr lang="en-DE" sz="1100" dirty="0"/>
                  <a:t>.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9431EC53-F090-2B0C-2B31-DFECB578F39F}"/>
                </a:ext>
              </a:extLst>
            </p:cNvPr>
            <p:cNvGrpSpPr/>
            <p:nvPr/>
          </p:nvGrpSpPr>
          <p:grpSpPr>
            <a:xfrm>
              <a:off x="6525785" y="3016982"/>
              <a:ext cx="2386301" cy="572775"/>
              <a:chOff x="6142214" y="5102755"/>
              <a:chExt cx="2386301" cy="572775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666728D-B267-772B-B073-CF374CCC805F}"/>
                  </a:ext>
                </a:extLst>
              </p:cNvPr>
              <p:cNvSpPr txBox="1"/>
              <p:nvPr/>
            </p:nvSpPr>
            <p:spPr>
              <a:xfrm>
                <a:off x="6142215" y="5102755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Intangible Benefit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09DB359-8201-B7C4-F96C-B6DF340C1E0E}"/>
                  </a:ext>
                </a:extLst>
              </p:cNvPr>
              <p:cNvSpPr txBox="1"/>
              <p:nvPr/>
            </p:nvSpPr>
            <p:spPr>
              <a:xfrm>
                <a:off x="6142214" y="5413920"/>
                <a:ext cx="238630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"/>
                <a:r>
                  <a:rPr lang="en-GB" sz="1100" dirty="0"/>
                  <a:t>Ecological Value</a:t>
                </a:r>
                <a:endParaRPr lang="en-DE" sz="11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5443436-4D64-B3AF-B2AE-AEEF0E4B4F82}"/>
              </a:ext>
            </a:extLst>
          </p:cNvPr>
          <p:cNvGrpSpPr/>
          <p:nvPr/>
        </p:nvGrpSpPr>
        <p:grpSpPr>
          <a:xfrm>
            <a:off x="10405840" y="2077125"/>
            <a:ext cx="1499143" cy="736052"/>
            <a:chOff x="8980259" y="4264188"/>
            <a:chExt cx="2126800" cy="73605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B9B3358-2725-64AF-2453-A564F836B889}"/>
                </a:ext>
              </a:extLst>
            </p:cNvPr>
            <p:cNvSpPr txBox="1"/>
            <p:nvPr/>
          </p:nvSpPr>
          <p:spPr>
            <a:xfrm>
              <a:off x="8980259" y="4264188"/>
              <a:ext cx="21268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en-DE"/>
              </a:defPPr>
              <a:lvl1pPr algn="ctr">
                <a:buNone/>
                <a:defRPr sz="1600" b="1">
                  <a:latin typeface="Heiti SC Medium" pitchFamily="2" charset="-128"/>
                  <a:ea typeface="Heiti SC Medium" pitchFamily="2" charset="-128"/>
                  <a:cs typeface="+mj-cs"/>
                </a:defRPr>
              </a:lvl1pPr>
            </a:lstStyle>
            <a:p>
              <a:r>
                <a:rPr lang="en-GB" sz="1400" dirty="0"/>
                <a:t>Tolerance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D14C580-8C06-D48F-EF43-521322194F94}"/>
                </a:ext>
              </a:extLst>
            </p:cNvPr>
            <p:cNvSpPr txBox="1"/>
            <p:nvPr/>
          </p:nvSpPr>
          <p:spPr>
            <a:xfrm>
              <a:off x="8980259" y="4569353"/>
              <a:ext cx="21267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DE" sz="1100" dirty="0"/>
                <a:t>Killing, Population,</a:t>
              </a:r>
            </a:p>
            <a:p>
              <a:pPr algn="ctr"/>
              <a:r>
                <a:rPr lang="en-DE" sz="1100" strike="sngStrike" dirty="0"/>
                <a:t>Spatial</a:t>
              </a:r>
              <a:r>
                <a:rPr lang="en-DE" sz="1100" dirty="0"/>
                <a:t>, Loss</a:t>
              </a: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74255EC-B7C0-D7B0-917A-DCACAB0718E4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3158320" y="2232595"/>
            <a:ext cx="727558" cy="1579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Elbow Connector 252">
            <a:extLst>
              <a:ext uri="{FF2B5EF4-FFF2-40B4-BE49-F238E27FC236}">
                <a16:creationId xmlns:a16="http://schemas.microsoft.com/office/drawing/2014/main" id="{FA70699C-A49A-0090-4120-EEAD855627FA}"/>
              </a:ext>
            </a:extLst>
          </p:cNvPr>
          <p:cNvCxnSpPr>
            <a:cxnSpLocks/>
            <a:stCxn id="14" idx="0"/>
            <a:endCxn id="73" idx="0"/>
          </p:cNvCxnSpPr>
          <p:nvPr/>
        </p:nvCxnSpPr>
        <p:spPr>
          <a:xfrm rot="5400000" flipH="1" flipV="1">
            <a:off x="8236778" y="-839927"/>
            <a:ext cx="1581" cy="5835687"/>
          </a:xfrm>
          <a:prstGeom prst="bentConnector3">
            <a:avLst>
              <a:gd name="adj1" fmla="val 14559203"/>
            </a:avLst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5F768B1-2B4E-CDCB-64C0-924243C4F8BC}"/>
              </a:ext>
            </a:extLst>
          </p:cNvPr>
          <p:cNvGrpSpPr/>
          <p:nvPr/>
        </p:nvGrpSpPr>
        <p:grpSpPr>
          <a:xfrm>
            <a:off x="274278" y="2078706"/>
            <a:ext cx="2884042" cy="1093066"/>
            <a:chOff x="691858" y="1130805"/>
            <a:chExt cx="3238825" cy="114349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B2A72A-0EEC-2FB7-76AF-D552A9362FD8}"/>
                </a:ext>
              </a:extLst>
            </p:cNvPr>
            <p:cNvSpPr txBox="1"/>
            <p:nvPr/>
          </p:nvSpPr>
          <p:spPr>
            <a:xfrm>
              <a:off x="691861" y="1130805"/>
              <a:ext cx="3238822" cy="32197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GB" sz="1400" b="1" dirty="0">
                  <a:latin typeface="Heiti SC Medium" pitchFamily="2" charset="-128"/>
                  <a:ea typeface="Heiti SC Medium" pitchFamily="2" charset="-128"/>
                  <a:cs typeface="+mj-cs"/>
                </a:rPr>
                <a:t>Conflict Experience - Wild boar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543BBA8-8D57-BA80-63C3-33296083A6A3}"/>
                </a:ext>
              </a:extLst>
            </p:cNvPr>
            <p:cNvSpPr txBox="1"/>
            <p:nvPr/>
          </p:nvSpPr>
          <p:spPr>
            <a:xfrm>
              <a:off x="691858" y="1469360"/>
              <a:ext cx="3238821" cy="804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arenR"/>
              </a:pPr>
              <a:r>
                <a:rPr lang="en-DE" sz="1100" dirty="0"/>
                <a:t>Occur</a:t>
              </a:r>
              <a:r>
                <a:rPr lang="en-GB" sz="1100" dirty="0"/>
                <a:t>r</a:t>
              </a:r>
              <a:r>
                <a:rPr lang="en-DE" sz="1100" dirty="0"/>
                <a:t>ence </a:t>
              </a:r>
              <a:r>
                <a:rPr lang="en-GB" sz="1100" dirty="0"/>
                <a:t>Frequency</a:t>
              </a:r>
              <a:r>
                <a:rPr lang="en-DE" sz="1100" dirty="0"/>
                <a:t>, </a:t>
              </a:r>
            </a:p>
            <a:p>
              <a:pPr marL="228600" indent="-228600">
                <a:buAutoNum type="arabicParenR"/>
              </a:pPr>
              <a:r>
                <a:rPr lang="en-DE" sz="1100" dirty="0"/>
                <a:t>Annual Duration,</a:t>
              </a:r>
            </a:p>
            <a:p>
              <a:pPr marL="228600" indent="-228600">
                <a:buAutoNum type="arabicParenR"/>
              </a:pPr>
              <a:r>
                <a:rPr lang="en-DE" sz="1100" dirty="0"/>
                <a:t>Conflict </a:t>
              </a:r>
              <a:r>
                <a:rPr lang="en-GB" sz="1100" dirty="0"/>
                <a:t>Frequency</a:t>
              </a:r>
              <a:r>
                <a:rPr lang="en-DE" sz="1100" dirty="0"/>
                <a:t>,</a:t>
              </a:r>
            </a:p>
            <a:p>
              <a:pPr marL="228600" indent="-228600">
                <a:buAutoNum type="arabicParenR"/>
              </a:pPr>
              <a:r>
                <a:rPr lang="en-DE" sz="1100" dirty="0"/>
                <a:t>Population Trend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5C4ABC8-8D3E-E27D-8BE0-4B886C8C55AA}"/>
              </a:ext>
            </a:extLst>
          </p:cNvPr>
          <p:cNvSpPr txBox="1"/>
          <p:nvPr/>
        </p:nvSpPr>
        <p:spPr>
          <a:xfrm>
            <a:off x="3158316" y="2756274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0.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</a:t>
            </a:r>
            <a:endParaRPr lang="en-DE" sz="1200" u="none" strike="noStrike" kern="1200" dirty="0">
              <a:solidFill>
                <a:schemeClr val="accent1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80AD4525-BC4A-D0A8-B904-0BE6527CAA3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153789" y="-1360362"/>
            <a:ext cx="1581" cy="6876556"/>
          </a:xfrm>
          <a:prstGeom prst="bentConnector3">
            <a:avLst>
              <a:gd name="adj1" fmla="val 473466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DEE590FA-47EE-8CF3-EA7A-10E53A32E77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48977" y="-653971"/>
            <a:ext cx="1924117" cy="7389470"/>
          </a:xfrm>
          <a:prstGeom prst="bentConnector4">
            <a:avLst>
              <a:gd name="adj1" fmla="val -60944"/>
              <a:gd name="adj2" fmla="val 999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E8C6B79-189A-66B1-C668-2133F3E6E055}"/>
              </a:ext>
            </a:extLst>
          </p:cNvPr>
          <p:cNvSpPr txBox="1"/>
          <p:nvPr/>
        </p:nvSpPr>
        <p:spPr>
          <a:xfrm>
            <a:off x="4751882" y="1112478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altLang="zh-CN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0.17</a:t>
            </a:r>
            <a:endParaRPr lang="en-DE" sz="1200" u="none" strike="noStrike" kern="1200" dirty="0">
              <a:solidFill>
                <a:schemeClr val="accent1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18B0A-657D-A1F3-4EEE-233E135193C6}"/>
              </a:ext>
            </a:extLst>
          </p:cNvPr>
          <p:cNvSpPr txBox="1"/>
          <p:nvPr/>
        </p:nvSpPr>
        <p:spPr>
          <a:xfrm>
            <a:off x="6264718" y="675479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altLang="zh-CN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-0.12</a:t>
            </a:r>
            <a:endParaRPr lang="en-DE" sz="1200" u="none" strike="noStrike" kern="1200" dirty="0">
              <a:solidFill>
                <a:schemeClr val="accent1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B1BCC830-F10A-2D3C-F4EB-C37615301B9E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19642" y="-1024635"/>
            <a:ext cx="918246" cy="7124928"/>
          </a:xfrm>
          <a:prstGeom prst="bentConnector4">
            <a:avLst>
              <a:gd name="adj1" fmla="val -104491"/>
              <a:gd name="adj2" fmla="val 999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576C826-1FB4-7573-F03B-63708760B10D}"/>
              </a:ext>
            </a:extLst>
          </p:cNvPr>
          <p:cNvSpPr txBox="1"/>
          <p:nvPr/>
        </p:nvSpPr>
        <p:spPr>
          <a:xfrm>
            <a:off x="5540182" y="887136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altLang="zh-CN" sz="1200" u="none" strike="noStrike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0.33</a:t>
            </a:r>
            <a:endParaRPr lang="en-DE" sz="1200" u="none" strike="noStrike" kern="1200" dirty="0">
              <a:solidFill>
                <a:schemeClr val="accent1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593182-B4FB-ACEF-A52C-68B02372B2C2}"/>
              </a:ext>
            </a:extLst>
          </p:cNvPr>
          <p:cNvSpPr txBox="1"/>
          <p:nvPr/>
        </p:nvSpPr>
        <p:spPr>
          <a:xfrm>
            <a:off x="6629877" y="1577256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sz="12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0.11</a:t>
            </a:r>
            <a:endParaRPr lang="en-DE" sz="1200" u="none" strike="noStrike" kern="12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762E02-3977-F57B-6ABB-35D1C0233D05}"/>
              </a:ext>
            </a:extLst>
          </p:cNvPr>
          <p:cNvCxnSpPr>
            <a:cxnSpLocks/>
          </p:cNvCxnSpPr>
          <p:nvPr/>
        </p:nvCxnSpPr>
        <p:spPr>
          <a:xfrm flipV="1">
            <a:off x="6753568" y="3125438"/>
            <a:ext cx="739595" cy="172191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0D6FDBC-E5FD-11C6-5B4B-C08C258F1523}"/>
              </a:ext>
            </a:extLst>
          </p:cNvPr>
          <p:cNvSpPr txBox="1"/>
          <p:nvPr/>
        </p:nvSpPr>
        <p:spPr>
          <a:xfrm>
            <a:off x="6527153" y="3622880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u="none" strike="noStrike" kern="1200" dirty="0">
                <a:solidFill>
                  <a:schemeClr val="accent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0.</a:t>
            </a: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</a:rPr>
              <a:t>14</a:t>
            </a:r>
            <a:endParaRPr lang="en-DE" sz="1200" u="none" strike="noStrike" kern="1200" dirty="0">
              <a:solidFill>
                <a:schemeClr val="accent2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E7876E4-F579-9D2D-BF92-0C3FE0A012A4}"/>
              </a:ext>
            </a:extLst>
          </p:cNvPr>
          <p:cNvCxnSpPr>
            <a:cxnSpLocks/>
          </p:cNvCxnSpPr>
          <p:nvPr/>
        </p:nvCxnSpPr>
        <p:spPr>
          <a:xfrm flipV="1">
            <a:off x="6753566" y="2231014"/>
            <a:ext cx="739594" cy="158092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1FD19CE-B9F6-2A8C-BC46-9917B69B177D}"/>
              </a:ext>
            </a:extLst>
          </p:cNvPr>
          <p:cNvSpPr txBox="1"/>
          <p:nvPr/>
        </p:nvSpPr>
        <p:spPr>
          <a:xfrm>
            <a:off x="6527153" y="2736500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DE" sz="1200" u="none" strike="noStrike" kern="120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0.</a:t>
            </a:r>
            <a:r>
              <a:rPr lang="en-US" altLang="zh-CN" sz="1200" dirty="0">
                <a:solidFill>
                  <a:schemeClr val="accent2">
                    <a:lumMod val="75000"/>
                  </a:schemeClr>
                </a:solidFill>
              </a:rPr>
              <a:t>36</a:t>
            </a:r>
            <a:endParaRPr lang="en-DE" sz="1200" u="none" strike="noStrike" kern="1200" dirty="0">
              <a:solidFill>
                <a:schemeClr val="accent2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9BEB74-275B-7C0B-874B-F2280F337BC3}"/>
              </a:ext>
            </a:extLst>
          </p:cNvPr>
          <p:cNvCxnSpPr>
            <a:cxnSpLocks/>
          </p:cNvCxnSpPr>
          <p:nvPr/>
        </p:nvCxnSpPr>
        <p:spPr>
          <a:xfrm flipV="1">
            <a:off x="9692556" y="2231014"/>
            <a:ext cx="713284" cy="894424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D72EF51-B064-4A2B-C30F-5D4789B11E63}"/>
              </a:ext>
            </a:extLst>
          </p:cNvPr>
          <p:cNvCxnSpPr>
            <a:cxnSpLocks/>
          </p:cNvCxnSpPr>
          <p:nvPr/>
        </p:nvCxnSpPr>
        <p:spPr>
          <a:xfrm flipV="1">
            <a:off x="9692553" y="2231014"/>
            <a:ext cx="713287" cy="194046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89A231E-6FBA-1122-6992-5B14EB5E298A}"/>
              </a:ext>
            </a:extLst>
          </p:cNvPr>
          <p:cNvSpPr txBox="1"/>
          <p:nvPr/>
        </p:nvSpPr>
        <p:spPr>
          <a:xfrm>
            <a:off x="9351879" y="2486857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altLang="zh-CN" sz="1200" u="none" strike="noStrike" kern="12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-0.35</a:t>
            </a:r>
            <a:endParaRPr lang="en-DE" sz="1200" u="none" strike="noStrike" kern="12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4E5EDF-FDBD-B1F1-D93A-B8CEA0D04D64}"/>
              </a:ext>
            </a:extLst>
          </p:cNvPr>
          <p:cNvSpPr txBox="1"/>
          <p:nvPr/>
        </p:nvSpPr>
        <p:spPr>
          <a:xfrm>
            <a:off x="9717361" y="3218696"/>
            <a:ext cx="986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altLang="zh-CN" sz="1200" u="none" strike="noStrike" kern="1200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0.21</a:t>
            </a:r>
            <a:endParaRPr lang="en-DE" sz="1200" u="none" strike="noStrike" kern="1200" dirty="0">
              <a:solidFill>
                <a:schemeClr val="accent6">
                  <a:lumMod val="7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7634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823F-CAE0-DDF8-F798-C51D994F7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CBFDFF-0EAB-DF16-625D-E7210563FE11}"/>
              </a:ext>
            </a:extLst>
          </p:cNvPr>
          <p:cNvSpPr txBox="1"/>
          <p:nvPr/>
        </p:nvSpPr>
        <p:spPr>
          <a:xfrm>
            <a:off x="717976" y="1270162"/>
            <a:ext cx="10071943" cy="5202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400" b="1" dirty="0">
                <a:ea typeface="HEITI TC MEDIUM" pitchFamily="2" charset="-128"/>
                <a:cs typeface="+mj-cs"/>
              </a:rPr>
              <a:t>Conclusion:</a:t>
            </a:r>
          </a:p>
          <a:p>
            <a:pPr>
              <a:lnSpc>
                <a:spcPct val="200000"/>
              </a:lnSpc>
            </a:pPr>
            <a:r>
              <a:rPr lang="en-GB" sz="1400" b="1" dirty="0">
                <a:ea typeface="HEITI TC MEDIUM" pitchFamily="2" charset="-128"/>
              </a:rPr>
              <a:t>1.     </a:t>
            </a:r>
            <a:r>
              <a:rPr lang="en-GB" sz="1400" b="1" dirty="0">
                <a:ea typeface="Heiti TC Medium" pitchFamily="2" charset="-128"/>
              </a:rPr>
              <a:t>Conflict Experience - Wild boar </a:t>
            </a:r>
            <a:r>
              <a:rPr lang="en-GB" sz="1400" b="1" dirty="0">
                <a:ea typeface="HEITI TC MEDIUM" pitchFamily="2" charset="-128"/>
              </a:rPr>
              <a:t>→ Intangible Cost (</a:t>
            </a:r>
            <a:r>
              <a:rPr lang="el-GR" sz="1400" b="1" dirty="0">
                <a:ea typeface="HEITI TC MEDIUM" pitchFamily="2" charset="-128"/>
              </a:rPr>
              <a:t>β = </a:t>
            </a:r>
            <a:r>
              <a:rPr lang="en-US" sz="1400" b="1" dirty="0">
                <a:ea typeface="HEITI TC MEDIUM" pitchFamily="2" charset="-128"/>
              </a:rPr>
              <a:t>0.334</a:t>
            </a:r>
            <a:r>
              <a:rPr lang="el-GR" sz="1400" b="1" dirty="0">
                <a:ea typeface="HEITI TC MEDIUM" pitchFamily="2" charset="-128"/>
              </a:rPr>
              <a:t>，</a:t>
            </a:r>
            <a:r>
              <a:rPr lang="en-GB" sz="1400" b="1" dirty="0">
                <a:ea typeface="HEITI TC MEDIUM" pitchFamily="2" charset="-128"/>
              </a:rPr>
              <a:t>t = 4.277)</a:t>
            </a:r>
          </a:p>
          <a:p>
            <a:pPr marL="355600">
              <a:lnSpc>
                <a:spcPct val="200000"/>
              </a:lnSpc>
            </a:pPr>
            <a:r>
              <a:rPr lang="en-US" altLang="zh-CN" sz="1400" dirty="0">
                <a:ea typeface="Heiti TC Medium" pitchFamily="2" charset="-128"/>
              </a:rPr>
              <a:t>The more frequent the conflict, the more anxious people become.</a:t>
            </a:r>
          </a:p>
          <a:p>
            <a:pPr marL="342900" indent="-342900">
              <a:lnSpc>
                <a:spcPct val="200000"/>
              </a:lnSpc>
              <a:buFontTx/>
              <a:buAutoNum type="arabicPeriod" startAt="2"/>
            </a:pPr>
            <a:r>
              <a:rPr lang="en-GB" sz="1400" b="1" dirty="0">
                <a:ea typeface="Heiti TC Medium" pitchFamily="2" charset="-128"/>
              </a:rPr>
              <a:t>Conflict Experience - Wild boar → Intangible Benefit (</a:t>
            </a:r>
            <a:r>
              <a:rPr lang="el-GR" sz="1400" b="1" dirty="0">
                <a:ea typeface="Heiti TC Medium" pitchFamily="2" charset="-128"/>
              </a:rPr>
              <a:t>β = </a:t>
            </a:r>
            <a:r>
              <a:rPr lang="en-US" sz="1400" b="1" dirty="0">
                <a:ea typeface="Heiti TC Medium" pitchFamily="2" charset="-128"/>
              </a:rPr>
              <a:t>-0.120</a:t>
            </a:r>
            <a:r>
              <a:rPr lang="el-GR" sz="1400" b="1" dirty="0">
                <a:ea typeface="Heiti TC Medium" pitchFamily="2" charset="-128"/>
              </a:rPr>
              <a:t>，</a:t>
            </a:r>
            <a:r>
              <a:rPr lang="en-GB" sz="1400" b="1" dirty="0">
                <a:ea typeface="Heiti TC Medium" pitchFamily="2" charset="-128"/>
              </a:rPr>
              <a:t>t = -2.105)</a:t>
            </a:r>
          </a:p>
          <a:p>
            <a:pPr marL="355600">
              <a:lnSpc>
                <a:spcPct val="200000"/>
              </a:lnSpc>
            </a:pPr>
            <a:r>
              <a:rPr lang="en-US" altLang="zh-CN" sz="1400" dirty="0">
                <a:ea typeface="Heiti TC Medium" pitchFamily="2" charset="-128"/>
              </a:rPr>
              <a:t>The more frequent the conflict, the less benefits people perceive</a:t>
            </a:r>
            <a:r>
              <a:rPr lang="en-GB" sz="1400" dirty="0">
                <a:ea typeface="Heiti TC Medium" pitchFamily="2" charset="-128"/>
              </a:rPr>
              <a:t>.</a:t>
            </a:r>
          </a:p>
          <a:p>
            <a:pPr marL="7937">
              <a:lnSpc>
                <a:spcPct val="200000"/>
              </a:lnSpc>
            </a:pPr>
            <a:r>
              <a:rPr lang="en-GB" sz="1400" b="1" dirty="0">
                <a:ea typeface="Heiti TC Medium" pitchFamily="2" charset="-128"/>
              </a:rPr>
              <a:t>3.     Policy Support → </a:t>
            </a:r>
            <a:r>
              <a:rPr lang="en-GB" sz="1400" b="1" dirty="0">
                <a:ea typeface="HEITI TC MEDIUM" pitchFamily="2" charset="-128"/>
              </a:rPr>
              <a:t>Intangible Cost</a:t>
            </a:r>
            <a:r>
              <a:rPr lang="en-GB" sz="1400" b="1" dirty="0">
                <a:ea typeface="Heiti TC Medium" pitchFamily="2" charset="-128"/>
              </a:rPr>
              <a:t> (</a:t>
            </a:r>
            <a:r>
              <a:rPr lang="el-GR" sz="1400" b="1" dirty="0">
                <a:ea typeface="Heiti TC Medium" pitchFamily="2" charset="-128"/>
              </a:rPr>
              <a:t>β = </a:t>
            </a:r>
            <a:r>
              <a:rPr lang="en-US" sz="1400" b="1" dirty="0">
                <a:ea typeface="Heiti TC Medium" pitchFamily="2" charset="-128"/>
              </a:rPr>
              <a:t>0.137</a:t>
            </a:r>
            <a:r>
              <a:rPr lang="el-GR" sz="1400" b="1" dirty="0">
                <a:ea typeface="Heiti TC Medium" pitchFamily="2" charset="-128"/>
              </a:rPr>
              <a:t>，</a:t>
            </a:r>
            <a:r>
              <a:rPr lang="en-GB" sz="1400" b="1" dirty="0">
                <a:ea typeface="Heiti TC Medium" pitchFamily="2" charset="-128"/>
              </a:rPr>
              <a:t>t = 2.708)</a:t>
            </a:r>
          </a:p>
          <a:p>
            <a:pPr marL="355600">
              <a:lnSpc>
                <a:spcPct val="200000"/>
              </a:lnSpc>
            </a:pPr>
            <a:r>
              <a:rPr lang="en-GB" sz="1400" dirty="0">
                <a:ea typeface="Heiti TC Medium" pitchFamily="2" charset="-128"/>
              </a:rPr>
              <a:t>Those who seek policy support often feel more powerless, anxious, and uneasy.</a:t>
            </a:r>
          </a:p>
          <a:p>
            <a:pPr>
              <a:lnSpc>
                <a:spcPct val="200000"/>
              </a:lnSpc>
            </a:pPr>
            <a:r>
              <a:rPr lang="en-GB" sz="1400" b="1" dirty="0">
                <a:ea typeface="Heiti TC Medium" pitchFamily="2" charset="-128"/>
              </a:rPr>
              <a:t>4.     Intangible Benefits </a:t>
            </a:r>
            <a:r>
              <a:rPr lang="en-GB" sz="1400" b="1" dirty="0">
                <a:ea typeface="HEITI TC MEDIUM" pitchFamily="2" charset="-128"/>
              </a:rPr>
              <a:t>→ Tolerance (</a:t>
            </a:r>
            <a:r>
              <a:rPr lang="el-GR" sz="1400" b="1" dirty="0">
                <a:ea typeface="Heiti TC Medium" pitchFamily="2" charset="-128"/>
              </a:rPr>
              <a:t>β = 0.</a:t>
            </a:r>
            <a:r>
              <a:rPr lang="en-US" sz="1400" b="1" dirty="0">
                <a:ea typeface="Heiti TC Medium" pitchFamily="2" charset="-128"/>
              </a:rPr>
              <a:t>213</a:t>
            </a:r>
            <a:r>
              <a:rPr lang="el-GR" sz="1400" b="1" dirty="0">
                <a:ea typeface="Heiti TC Medium" pitchFamily="2" charset="-128"/>
              </a:rPr>
              <a:t>，</a:t>
            </a:r>
            <a:r>
              <a:rPr lang="en-GB" sz="1400" b="1" dirty="0">
                <a:ea typeface="HEITI TC MEDIUM" pitchFamily="2" charset="-128"/>
              </a:rPr>
              <a:t>t = 4.410)</a:t>
            </a:r>
            <a:r>
              <a:rPr lang="zh-CN" altLang="en-US" sz="1400" b="1" dirty="0">
                <a:ea typeface="HEITI TC MEDIUM" pitchFamily="2" charset="-128"/>
              </a:rPr>
              <a:t> </a:t>
            </a:r>
            <a:r>
              <a:rPr lang="en-US" altLang="zh-CN" sz="1400" b="1" dirty="0">
                <a:ea typeface="HEITI TC MEDIUM" pitchFamily="2" charset="-128"/>
              </a:rPr>
              <a:t>&amp;</a:t>
            </a:r>
            <a:r>
              <a:rPr lang="zh-CN" altLang="en-US" sz="1400" b="1" dirty="0">
                <a:ea typeface="Heiti TC Medium" pitchFamily="2" charset="-128"/>
              </a:rPr>
              <a:t> </a:t>
            </a:r>
            <a:r>
              <a:rPr lang="en-GB" sz="1400" b="1" dirty="0">
                <a:ea typeface="Heiti TC Medium" pitchFamily="2" charset="-128"/>
              </a:rPr>
              <a:t>Intangible </a:t>
            </a:r>
            <a:r>
              <a:rPr lang="en-GB" sz="1400" b="1" dirty="0">
                <a:ea typeface="HEITI TC MEDIUM" pitchFamily="2" charset="-128"/>
              </a:rPr>
              <a:t>Costs → Tolerance (</a:t>
            </a:r>
            <a:r>
              <a:rPr lang="el-GR" sz="1400" b="1" dirty="0">
                <a:ea typeface="HEITI TC MEDIUM" pitchFamily="2" charset="-128"/>
              </a:rPr>
              <a:t>β = -</a:t>
            </a:r>
            <a:r>
              <a:rPr lang="en-DE" sz="1400" b="1" dirty="0"/>
              <a:t> 0.350</a:t>
            </a:r>
            <a:r>
              <a:rPr lang="el-GR" sz="1400" b="1" dirty="0">
                <a:ea typeface="HEITI TC MEDIUM" pitchFamily="2" charset="-128"/>
              </a:rPr>
              <a:t>，</a:t>
            </a:r>
            <a:r>
              <a:rPr lang="en-GB" sz="1400" b="1" dirty="0">
                <a:ea typeface="Heiti TC Medium" pitchFamily="2" charset="-128"/>
              </a:rPr>
              <a:t>t = </a:t>
            </a:r>
            <a:r>
              <a:rPr lang="en-GB" sz="1400" b="1" dirty="0">
                <a:ea typeface="HEITI TC MEDIUM" pitchFamily="2" charset="-128"/>
              </a:rPr>
              <a:t>-5.799)</a:t>
            </a:r>
          </a:p>
          <a:p>
            <a:pPr marL="355600">
              <a:lnSpc>
                <a:spcPct val="200000"/>
              </a:lnSpc>
            </a:pPr>
            <a:r>
              <a:rPr lang="en-GB" sz="1400" dirty="0">
                <a:ea typeface="Heiti TC Medium" pitchFamily="2" charset="-128"/>
              </a:rPr>
              <a:t>Tolerance toward wild boars is primarily shaped by intangible dimensions of human–wildlife interactions, rather than by direct conflict exposure or economic considerations.</a:t>
            </a:r>
          </a:p>
          <a:p>
            <a:pPr marL="355600">
              <a:lnSpc>
                <a:spcPct val="200000"/>
              </a:lnSpc>
            </a:pPr>
            <a:r>
              <a:rPr lang="en-US" altLang="zh-CN" sz="1400" b="1" dirty="0">
                <a:highlight>
                  <a:srgbClr val="FFFF00"/>
                </a:highlight>
                <a:ea typeface="HEITI TC MEDIUM" pitchFamily="2" charset="-128"/>
              </a:rPr>
              <a:t> (Support the hypothesis, intangible cost is the most important factor.)</a:t>
            </a:r>
            <a:endParaRPr lang="en-GB" altLang="zh-CN" sz="1400" b="1" dirty="0">
              <a:highlight>
                <a:srgbClr val="FFFF00"/>
              </a:highlight>
              <a:ea typeface="HEITI TC MEDIUM" pitchFamily="2" charset="-128"/>
            </a:endParaRPr>
          </a:p>
          <a:p>
            <a:pPr marL="355600">
              <a:lnSpc>
                <a:spcPct val="200000"/>
              </a:lnSpc>
            </a:pPr>
            <a:endParaRPr lang="en-GB" sz="1400" dirty="0">
              <a:ea typeface="Heiti TC Medium" pitchFamily="2" charset="-128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AA3265-4158-0128-E284-29FC6259664C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Model 2 - without compensation (n=348) 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92183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F3471-6FC8-8C8F-9AC4-FB3C09E51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4B8FF5-D7C6-D315-1D41-725AA9A17D5D}"/>
              </a:ext>
            </a:extLst>
          </p:cNvPr>
          <p:cNvSpPr txBox="1"/>
          <p:nvPr/>
        </p:nvSpPr>
        <p:spPr>
          <a:xfrm>
            <a:off x="421885" y="878276"/>
            <a:ext cx="100719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Conceptual comparison of tolerance formation mechanisms across three analytical models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BE04450-E8DC-3C0A-32F4-80AC52F2E3EB}"/>
              </a:ext>
            </a:extLst>
          </p:cNvPr>
          <p:cNvSpPr txBox="1">
            <a:spLocks/>
          </p:cNvSpPr>
          <p:nvPr/>
        </p:nvSpPr>
        <p:spPr>
          <a:xfrm>
            <a:off x="360829" y="240218"/>
            <a:ext cx="1075604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Conclusion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2E4F0F-7525-893E-9378-35537DCDF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55701"/>
              </p:ext>
            </p:extLst>
          </p:nvPr>
        </p:nvGraphicFramePr>
        <p:xfrm>
          <a:off x="491553" y="1341120"/>
          <a:ext cx="11204060" cy="4422288"/>
        </p:xfrm>
        <a:graphic>
          <a:graphicData uri="http://schemas.openxmlformats.org/drawingml/2006/table">
            <a:tbl>
              <a:tblPr firstRow="1"/>
              <a:tblGrid>
                <a:gridCol w="2801015">
                  <a:extLst>
                    <a:ext uri="{9D8B030D-6E8A-4147-A177-3AD203B41FA5}">
                      <a16:colId xmlns:a16="http://schemas.microsoft.com/office/drawing/2014/main" val="3918274358"/>
                    </a:ext>
                  </a:extLst>
                </a:gridCol>
                <a:gridCol w="2801015">
                  <a:extLst>
                    <a:ext uri="{9D8B030D-6E8A-4147-A177-3AD203B41FA5}">
                      <a16:colId xmlns:a16="http://schemas.microsoft.com/office/drawing/2014/main" val="206636168"/>
                    </a:ext>
                  </a:extLst>
                </a:gridCol>
                <a:gridCol w="2801015">
                  <a:extLst>
                    <a:ext uri="{9D8B030D-6E8A-4147-A177-3AD203B41FA5}">
                      <a16:colId xmlns:a16="http://schemas.microsoft.com/office/drawing/2014/main" val="1681866354"/>
                    </a:ext>
                  </a:extLst>
                </a:gridCol>
                <a:gridCol w="2801015">
                  <a:extLst>
                    <a:ext uri="{9D8B030D-6E8A-4147-A177-3AD203B41FA5}">
                      <a16:colId xmlns:a16="http://schemas.microsoft.com/office/drawing/2014/main" val="2766863866"/>
                    </a:ext>
                  </a:extLst>
                </a:gridCol>
              </a:tblGrid>
              <a:tr h="340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Dimension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Full Sample Model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With Compensation Experience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Without Compensation Experience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251404"/>
                  </a:ext>
                </a:extLst>
              </a:tr>
              <a:tr h="340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Primary analytical focus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Overall tolerance formation under mixed institutional exposure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Tolerance formation under compensation-based governance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Baseline tolerance formation without institutional intervention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301249"/>
                  </a:ext>
                </a:extLst>
              </a:tr>
              <a:tr h="340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Direct effect of conflict on tolerance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Not significant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Not significant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Not significant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231297"/>
                  </a:ext>
                </a:extLst>
              </a:tr>
              <a:tr h="340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Core mediating mechanisms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Intangible costs and intangible benefits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Policy support (governance-related perceptions)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Intangible costs and intangible benefits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109184"/>
                  </a:ext>
                </a:extLst>
              </a:tr>
              <a:tr h="340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Dominant pathway to tolerance</a:t>
                      </a:r>
                      <a:endParaRPr lang="en-GB" sz="100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Mixed meaning–institution pathway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Governance-framed pathway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Meaning-driven pathway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324846"/>
                  </a:ext>
                </a:extLst>
              </a:tr>
              <a:tr h="340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Role of tangible (economic) costs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Not significant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Not significant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Not significant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839014"/>
                  </a:ext>
                </a:extLst>
              </a:tr>
              <a:tr h="340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Compensation-related variable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Compensation experience (Yes/No)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Compensation anticipation </a:t>
                      </a:r>
                    </a:p>
                    <a:p>
                      <a:pPr>
                        <a:buNone/>
                      </a:pPr>
                      <a:r>
                        <a:rPr lang="en-GB" sz="1000" dirty="0"/>
                        <a:t>(institutionalized expectation)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Compensation anticipation </a:t>
                      </a:r>
                    </a:p>
                    <a:p>
                      <a:pPr>
                        <a:buNone/>
                      </a:pPr>
                      <a:r>
                        <a:rPr lang="en-GB" sz="1000" dirty="0"/>
                        <a:t>(psychological expectation)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277441"/>
                  </a:ext>
                </a:extLst>
              </a:tr>
              <a:tr h="340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Effect of compensation on tolerance</a:t>
                      </a:r>
                      <a:endParaRPr lang="en-GB" sz="100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Negative (direct effect)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Indirectly negative via policy support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Not applicable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35344"/>
                  </a:ext>
                </a:extLst>
              </a:tr>
              <a:tr h="340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Policy support → tolerance</a:t>
                      </a:r>
                      <a:endParaRPr lang="en-GB" sz="100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Weak or inconsistent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Strong negative effect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Not significant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842439"/>
                  </a:ext>
                </a:extLst>
              </a:tr>
              <a:tr h="340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Interpretation of policy support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Mixed governance perception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Expression of governance fatigue and institutional disillusionment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Signal of vulnerability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561932"/>
                  </a:ext>
                </a:extLst>
              </a:tr>
              <a:tr h="340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Intangible benefits → tolerance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Positive and significant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Positive and significant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Positive and significant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39613"/>
                  </a:ext>
                </a:extLst>
              </a:tr>
              <a:tr h="340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Intangible costs → tolerance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Negative</a:t>
                      </a:r>
                      <a:r>
                        <a:rPr lang="zh-CN" altLang="en-US" sz="1000" dirty="0"/>
                        <a:t> </a:t>
                      </a:r>
                      <a:r>
                        <a:rPr lang="en-GB" sz="1000" dirty="0"/>
                        <a:t>and significant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Negative</a:t>
                      </a:r>
                      <a:r>
                        <a:rPr lang="zh-CN" altLang="en-US" sz="1000" dirty="0"/>
                        <a:t> </a:t>
                      </a:r>
                      <a:r>
                        <a:rPr lang="en-GB" sz="1000" dirty="0"/>
                        <a:t>and significant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Negative</a:t>
                      </a:r>
                      <a:r>
                        <a:rPr lang="zh-CN" altLang="en-US" sz="1000" dirty="0"/>
                        <a:t> </a:t>
                      </a:r>
                      <a:r>
                        <a:rPr lang="en-GB" sz="1000" dirty="0"/>
                        <a:t>and significant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550690"/>
                  </a:ext>
                </a:extLst>
              </a:tr>
              <a:tr h="340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Conceptual implication</a:t>
                      </a:r>
                      <a:endParaRPr lang="en-GB" sz="1000" dirty="0"/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Compensation modifies tolerance mechanisms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Compensation reshapes conflict narratives and responsibility attribution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Tolerance emerges from lived meanings</a:t>
                      </a:r>
                    </a:p>
                  </a:txBody>
                  <a:tcPr marL="35377" marR="35377" marT="17688" marB="1768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978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180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3144</TotalTime>
  <Words>9095</Words>
  <Application>Microsoft Macintosh PowerPoint</Application>
  <PresentationFormat>Widescreen</PresentationFormat>
  <Paragraphs>3906</Paragraphs>
  <Slides>42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Heiti SC Medium</vt:lpstr>
      <vt:lpstr>HEITI TC MEDIUM</vt:lpstr>
      <vt:lpstr>HEITI TC MEDIUM</vt:lpstr>
      <vt:lpstr>LMU CompatilFact</vt:lpstr>
      <vt:lpstr>Arial</vt:lpstr>
      <vt:lpstr>Calibri</vt:lpstr>
      <vt:lpstr>Calibri Light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Mengxi Kou</dc:creator>
  <cp:lastModifiedBy>Mengxi Kou</cp:lastModifiedBy>
  <cp:revision>8</cp:revision>
  <dcterms:created xsi:type="dcterms:W3CDTF">2026-01-19T16:37:39Z</dcterms:created>
  <dcterms:modified xsi:type="dcterms:W3CDTF">2026-03-09T17:33:04Z</dcterms:modified>
</cp:coreProperties>
</file>